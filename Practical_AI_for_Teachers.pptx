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cDAHrJV2yXzWD/mvKUN+ziNI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g3de8450f20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g3de8450f20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g3de8450f20b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683ea5a12_1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3d683ea5a12_1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ec2639e5e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dec2639e5e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dec2639e5e_0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e8450f20b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de8450f20b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e8450f20b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e9f7a870e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de9f7a870e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e9f7a870e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683ea5a12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d683ea5a12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d683ea5a12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ea38c97fa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dea38c97fa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dea38c97fa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ec2639e5e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dec2639e5e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dec2639e5e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ea38c97fa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dea38c97fa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dea38c97fa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ea38c97fa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dea38c97fa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dea38c97fa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683ea5a12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d683ea5a12_1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g3d683ea5a12_1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683ea5a12_1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d683ea5a12_1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g3d683ea5a12_1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3.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19.png"/><Relationship Id="rId5"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13.png"/><Relationship Id="rId10" Type="http://schemas.openxmlformats.org/officeDocument/2006/relationships/image" Target="../media/image20.png"/><Relationship Id="rId9"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2.png"/><Relationship Id="rId8"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27.png"/><Relationship Id="rId5" Type="http://schemas.openxmlformats.org/officeDocument/2006/relationships/image" Target="../media/image36.png"/><Relationship Id="rId6"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35"/>
        </a:solidFill>
      </p:bgPr>
    </p:bg>
    <p:spTree>
      <p:nvGrpSpPr>
        <p:cNvPr id="17" name="Shape 17"/>
        <p:cNvGrpSpPr/>
        <p:nvPr/>
      </p:nvGrpSpPr>
      <p:grpSpPr>
        <a:xfrm>
          <a:off x="0" y="0"/>
          <a:ext cx="0" cy="0"/>
          <a:chOff x="0" y="0"/>
          <a:chExt cx="0" cy="0"/>
        </a:xfrm>
      </p:grpSpPr>
      <p:sp>
        <p:nvSpPr>
          <p:cNvPr id="18" name="Google Shape;18;p1"/>
          <p:cNvSpPr/>
          <p:nvPr/>
        </p:nvSpPr>
        <p:spPr>
          <a:xfrm>
            <a:off x="0" y="0"/>
            <a:ext cx="320040" cy="51435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8046720" y="0"/>
            <a:ext cx="1097280" cy="164592"/>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685800" y="1417320"/>
            <a:ext cx="640080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Practical AI</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D1"/>
              </a:buClr>
              <a:buSzPts val="5200"/>
              <a:buFont typeface="Calibri"/>
              <a:buNone/>
            </a:pPr>
            <a:r>
              <a:rPr b="0" i="0" lang="en-US" sz="5200" u="none" cap="none" strike="noStrike">
                <a:solidFill>
                  <a:srgbClr val="A8D8D1"/>
                </a:solidFill>
                <a:latin typeface="Calibri"/>
                <a:ea typeface="Calibri"/>
                <a:cs typeface="Calibri"/>
                <a:sym typeface="Calibri"/>
              </a:rPr>
              <a:t>for Teachers</a:t>
            </a:r>
            <a:endParaRPr b="0" i="0" sz="5200" u="none" cap="none" strike="noStrike">
              <a:solidFill>
                <a:schemeClr val="dk1"/>
              </a:solidFill>
              <a:highlight>
                <a:schemeClr val="accent4"/>
              </a:highlight>
              <a:latin typeface="Calibri"/>
              <a:ea typeface="Calibri"/>
              <a:cs typeface="Calibri"/>
              <a:sym typeface="Calibri"/>
            </a:endParaRPr>
          </a:p>
        </p:txBody>
      </p:sp>
      <p:sp>
        <p:nvSpPr>
          <p:cNvPr id="21" name="Google Shape;21;p1"/>
          <p:cNvSpPr/>
          <p:nvPr/>
        </p:nvSpPr>
        <p:spPr>
          <a:xfrm>
            <a:off x="685800" y="3337560"/>
            <a:ext cx="2286000" cy="36576"/>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685800" y="3566160"/>
            <a:ext cx="6400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BDB5"/>
              </a:buClr>
              <a:buSzPts val="1300"/>
              <a:buFont typeface="Calibri"/>
              <a:buNone/>
            </a:pPr>
            <a:r>
              <a:rPr b="0" i="0" lang="en-US" sz="1800" u="none" cap="none" strike="noStrike">
                <a:solidFill>
                  <a:srgbClr val="8ABDB5"/>
                </a:solidFill>
                <a:latin typeface="Calibri"/>
                <a:ea typeface="Calibri"/>
                <a:cs typeface="Calibri"/>
                <a:sym typeface="Calibri"/>
              </a:rPr>
              <a:t>Dylan &amp; Michael </a:t>
            </a:r>
            <a:endParaRPr b="0" i="0" sz="1800" u="none" cap="none" strike="noStrike">
              <a:solidFill>
                <a:schemeClr val="dk1"/>
              </a:solidFill>
              <a:latin typeface="Calibri"/>
              <a:ea typeface="Calibri"/>
              <a:cs typeface="Calibri"/>
              <a:sym typeface="Calibri"/>
            </a:endParaRPr>
          </a:p>
        </p:txBody>
      </p:sp>
      <p:sp>
        <p:nvSpPr>
          <p:cNvPr id="23" name="Google Shape;23;p1"/>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28" name="Shape 28"/>
        <p:cNvGrpSpPr/>
        <p:nvPr/>
      </p:nvGrpSpPr>
      <p:grpSpPr>
        <a:xfrm>
          <a:off x="0" y="0"/>
          <a:ext cx="0" cy="0"/>
          <a:chOff x="0" y="0"/>
          <a:chExt cx="0" cy="0"/>
        </a:xfrm>
      </p:grpSpPr>
      <p:sp>
        <p:nvSpPr>
          <p:cNvPr id="29" name="Google Shape;29;g3de8450f20b_0_12"/>
          <p:cNvSpPr/>
          <p:nvPr/>
        </p:nvSpPr>
        <p:spPr>
          <a:xfrm>
            <a:off x="0" y="0"/>
            <a:ext cx="9144000" cy="7773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g3de8450f20b_0_12"/>
          <p:cNvSpPr/>
          <p:nvPr/>
        </p:nvSpPr>
        <p:spPr>
          <a:xfrm>
            <a:off x="45720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2000">
                <a:solidFill>
                  <a:srgbClr val="FFFFFF"/>
                </a:solidFill>
                <a:latin typeface="Calibri"/>
                <a:ea typeface="Calibri"/>
                <a:cs typeface="Calibri"/>
                <a:sym typeface="Calibri"/>
              </a:rPr>
              <a:t>OBJECTIVES</a:t>
            </a:r>
            <a:endParaRPr b="0" i="0" sz="2000" u="none" cap="none" strike="noStrike">
              <a:solidFill>
                <a:schemeClr val="dk1"/>
              </a:solidFill>
              <a:latin typeface="Calibri"/>
              <a:ea typeface="Calibri"/>
              <a:cs typeface="Calibri"/>
              <a:sym typeface="Calibri"/>
            </a:endParaRPr>
          </a:p>
        </p:txBody>
      </p:sp>
      <p:sp>
        <p:nvSpPr>
          <p:cNvPr id="31" name="Google Shape;31;g3de8450f20b_0_12"/>
          <p:cNvSpPr/>
          <p:nvPr/>
        </p:nvSpPr>
        <p:spPr>
          <a:xfrm>
            <a:off x="457200" y="1016575"/>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2000"/>
              <a:buFont typeface="Calibri"/>
              <a:buNone/>
            </a:pPr>
            <a:r>
              <a:rPr b="1" lang="en-US" sz="2000">
                <a:solidFill>
                  <a:srgbClr val="1A2E35"/>
                </a:solidFill>
                <a:latin typeface="Calibri"/>
                <a:ea typeface="Calibri"/>
                <a:cs typeface="Calibri"/>
                <a:sym typeface="Calibri"/>
              </a:rPr>
              <a:t>Attendees should leave the session with:</a:t>
            </a:r>
            <a:endParaRPr b="0" i="0" sz="2000" u="none" cap="none" strike="noStrike">
              <a:solidFill>
                <a:schemeClr val="dk1"/>
              </a:solidFill>
              <a:latin typeface="Calibri"/>
              <a:ea typeface="Calibri"/>
              <a:cs typeface="Calibri"/>
              <a:sym typeface="Calibri"/>
            </a:endParaRPr>
          </a:p>
        </p:txBody>
      </p:sp>
      <p:sp>
        <p:nvSpPr>
          <p:cNvPr id="32" name="Google Shape;32;g3de8450f20b_0_12"/>
          <p:cNvSpPr/>
          <p:nvPr/>
        </p:nvSpPr>
        <p:spPr>
          <a:xfrm>
            <a:off x="311985" y="1665550"/>
            <a:ext cx="4137900" cy="1465800"/>
          </a:xfrm>
          <a:prstGeom prst="rect">
            <a:avLst/>
          </a:prstGeom>
          <a:solidFill>
            <a:srgbClr val="E0F2EF"/>
          </a:solidFill>
          <a:ln>
            <a:noFill/>
          </a:ln>
          <a:effectLst>
            <a:outerShdw blurRad="108587" rotWithShape="0" algn="bl" dir="8100000" dist="27147">
              <a:srgbClr val="000000">
                <a:alpha val="7840"/>
              </a:srgbClr>
            </a:outerShdw>
          </a:effectLst>
        </p:spPr>
        <p:txBody>
          <a:bodyPr anchorCtr="0" anchor="ctr" bIns="97725" lIns="97725" spcFirstLastPara="1" rIns="97725" wrap="square" tIns="97725">
            <a:noAutofit/>
          </a:bodyPr>
          <a:lstStyle/>
          <a:p>
            <a:pPr indent="0" lvl="0" marL="0" rtl="0" algn="l">
              <a:spcBef>
                <a:spcPts val="0"/>
              </a:spcBef>
              <a:spcAft>
                <a:spcPts val="0"/>
              </a:spcAft>
              <a:buNone/>
            </a:pPr>
            <a:r>
              <a:t/>
            </a:r>
            <a:endParaRPr/>
          </a:p>
        </p:txBody>
      </p:sp>
      <p:sp>
        <p:nvSpPr>
          <p:cNvPr id="33" name="Google Shape;33;g3de8450f20b_0_12"/>
          <p:cNvSpPr/>
          <p:nvPr/>
        </p:nvSpPr>
        <p:spPr>
          <a:xfrm>
            <a:off x="311985" y="1665550"/>
            <a:ext cx="507900" cy="1465800"/>
          </a:xfrm>
          <a:prstGeom prst="rect">
            <a:avLst/>
          </a:prstGeom>
          <a:solidFill>
            <a:srgbClr val="0D7A6B"/>
          </a:solidFill>
          <a:ln>
            <a:noFill/>
          </a:ln>
        </p:spPr>
        <p:txBody>
          <a:bodyPr anchorCtr="0" anchor="ctr" bIns="97725" lIns="97725" spcFirstLastPara="1" rIns="97725" wrap="square" tIns="97725">
            <a:noAutofit/>
          </a:bodyPr>
          <a:lstStyle/>
          <a:p>
            <a:pPr indent="0" lvl="0" marL="0" rtl="0" algn="l">
              <a:spcBef>
                <a:spcPts val="0"/>
              </a:spcBef>
              <a:spcAft>
                <a:spcPts val="0"/>
              </a:spcAft>
              <a:buNone/>
            </a:pPr>
            <a:r>
              <a:t/>
            </a:r>
            <a:endParaRPr/>
          </a:p>
        </p:txBody>
      </p:sp>
      <p:sp>
        <p:nvSpPr>
          <p:cNvPr id="34" name="Google Shape;34;g3de8450f20b_0_12"/>
          <p:cNvSpPr/>
          <p:nvPr/>
        </p:nvSpPr>
        <p:spPr>
          <a:xfrm>
            <a:off x="311985" y="1665550"/>
            <a:ext cx="507900" cy="1465800"/>
          </a:xfrm>
          <a:prstGeom prst="rect">
            <a:avLst/>
          </a:prstGeom>
          <a:noFill/>
          <a:ln>
            <a:noFill/>
          </a:ln>
        </p:spPr>
        <p:txBody>
          <a:bodyPr anchorCtr="0" anchor="ctr" bIns="48850" lIns="97725" spcFirstLastPara="1" rIns="97725" wrap="square" tIns="48850">
            <a:noAutofit/>
          </a:bodyPr>
          <a:lstStyle/>
          <a:p>
            <a:pPr indent="0" lvl="0" marL="0" marR="0" rtl="0" algn="ctr">
              <a:spcBef>
                <a:spcPts val="0"/>
              </a:spcBef>
              <a:spcAft>
                <a:spcPts val="0"/>
              </a:spcAft>
              <a:buClr>
                <a:srgbClr val="FFFFFF"/>
              </a:buClr>
              <a:buSzPts val="1496"/>
              <a:buFont typeface="Calibri"/>
              <a:buNone/>
            </a:pPr>
            <a:r>
              <a:rPr b="1" i="0" lang="en-US" sz="1496" u="none" cap="none" strike="noStrike">
                <a:solidFill>
                  <a:srgbClr val="FFFFFF"/>
                </a:solidFill>
                <a:latin typeface="Calibri"/>
                <a:ea typeface="Calibri"/>
                <a:cs typeface="Calibri"/>
                <a:sym typeface="Calibri"/>
              </a:rPr>
              <a:t>1</a:t>
            </a:r>
            <a:endParaRPr b="0" i="0" sz="1496" u="none" cap="none" strike="noStrike">
              <a:solidFill>
                <a:schemeClr val="dk1"/>
              </a:solidFill>
              <a:latin typeface="Calibri"/>
              <a:ea typeface="Calibri"/>
              <a:cs typeface="Calibri"/>
              <a:sym typeface="Calibri"/>
            </a:endParaRPr>
          </a:p>
        </p:txBody>
      </p:sp>
      <p:sp>
        <p:nvSpPr>
          <p:cNvPr id="35" name="Google Shape;35;g3de8450f20b_0_12"/>
          <p:cNvSpPr/>
          <p:nvPr/>
        </p:nvSpPr>
        <p:spPr>
          <a:xfrm>
            <a:off x="965298" y="2007664"/>
            <a:ext cx="3339000" cy="781800"/>
          </a:xfrm>
          <a:prstGeom prst="rect">
            <a:avLst/>
          </a:prstGeom>
          <a:noFill/>
          <a:ln>
            <a:noFill/>
          </a:ln>
        </p:spPr>
        <p:txBody>
          <a:bodyPr anchorCtr="0" anchor="ctr" bIns="48850" lIns="97725" spcFirstLastPara="1" rIns="97725" wrap="square" tIns="48850">
            <a:noAutofit/>
          </a:bodyPr>
          <a:lstStyle/>
          <a:p>
            <a:pPr indent="0" lvl="0" marL="0" marR="0" rtl="0" algn="l">
              <a:spcBef>
                <a:spcPts val="0"/>
              </a:spcBef>
              <a:spcAft>
                <a:spcPts val="0"/>
              </a:spcAft>
              <a:buClr>
                <a:srgbClr val="1A2E35"/>
              </a:buClr>
              <a:buSzPts val="1176"/>
              <a:buFont typeface="Calibri"/>
              <a:buNone/>
            </a:pPr>
            <a:r>
              <a:rPr b="1" lang="en-US" sz="1676">
                <a:solidFill>
                  <a:srgbClr val="1A2E35"/>
                </a:solidFill>
                <a:latin typeface="Calibri"/>
                <a:ea typeface="Calibri"/>
                <a:cs typeface="Calibri"/>
                <a:sym typeface="Calibri"/>
              </a:rPr>
              <a:t>At least ONE practical way to use AI next week.</a:t>
            </a:r>
            <a:endParaRPr b="0" i="0" sz="1676" u="none" cap="none" strike="noStrike">
              <a:solidFill>
                <a:schemeClr val="dk1"/>
              </a:solidFill>
              <a:latin typeface="Calibri"/>
              <a:ea typeface="Calibri"/>
              <a:cs typeface="Calibri"/>
              <a:sym typeface="Calibri"/>
            </a:endParaRPr>
          </a:p>
        </p:txBody>
      </p:sp>
      <p:sp>
        <p:nvSpPr>
          <p:cNvPr id="36" name="Google Shape;36;g3de8450f20b_0_12"/>
          <p:cNvSpPr/>
          <p:nvPr/>
        </p:nvSpPr>
        <p:spPr>
          <a:xfrm>
            <a:off x="4796185" y="1665550"/>
            <a:ext cx="4137900" cy="1465800"/>
          </a:xfrm>
          <a:prstGeom prst="rect">
            <a:avLst/>
          </a:prstGeom>
          <a:solidFill>
            <a:srgbClr val="E0F2EF"/>
          </a:solidFill>
          <a:ln>
            <a:noFill/>
          </a:ln>
          <a:effectLst>
            <a:outerShdw blurRad="108587" rotWithShape="0" algn="bl" dir="8100000" dist="27147">
              <a:srgbClr val="000000">
                <a:alpha val="7840"/>
              </a:srgbClr>
            </a:outerShdw>
          </a:effectLst>
        </p:spPr>
        <p:txBody>
          <a:bodyPr anchorCtr="0" anchor="ctr" bIns="97725" lIns="97725" spcFirstLastPara="1" rIns="97725" wrap="square" tIns="97725">
            <a:noAutofit/>
          </a:bodyPr>
          <a:lstStyle/>
          <a:p>
            <a:pPr indent="0" lvl="0" marL="0" rtl="0" algn="l">
              <a:spcBef>
                <a:spcPts val="0"/>
              </a:spcBef>
              <a:spcAft>
                <a:spcPts val="0"/>
              </a:spcAft>
              <a:buNone/>
            </a:pPr>
            <a:r>
              <a:t/>
            </a:r>
            <a:endParaRPr/>
          </a:p>
        </p:txBody>
      </p:sp>
      <p:sp>
        <p:nvSpPr>
          <p:cNvPr id="37" name="Google Shape;37;g3de8450f20b_0_12"/>
          <p:cNvSpPr/>
          <p:nvPr/>
        </p:nvSpPr>
        <p:spPr>
          <a:xfrm>
            <a:off x="4796185" y="1665550"/>
            <a:ext cx="508200" cy="1465800"/>
          </a:xfrm>
          <a:prstGeom prst="rect">
            <a:avLst/>
          </a:prstGeom>
          <a:solidFill>
            <a:srgbClr val="0D7A6B"/>
          </a:solidFill>
          <a:ln>
            <a:noFill/>
          </a:ln>
        </p:spPr>
        <p:txBody>
          <a:bodyPr anchorCtr="0" anchor="ctr" bIns="97725" lIns="97725" spcFirstLastPara="1" rIns="97725" wrap="square" tIns="97725">
            <a:noAutofit/>
          </a:bodyPr>
          <a:lstStyle/>
          <a:p>
            <a:pPr indent="0" lvl="0" marL="0" rtl="0" algn="l">
              <a:spcBef>
                <a:spcPts val="0"/>
              </a:spcBef>
              <a:spcAft>
                <a:spcPts val="0"/>
              </a:spcAft>
              <a:buNone/>
            </a:pPr>
            <a:r>
              <a:t/>
            </a:r>
            <a:endParaRPr/>
          </a:p>
        </p:txBody>
      </p:sp>
      <p:sp>
        <p:nvSpPr>
          <p:cNvPr id="38" name="Google Shape;38;g3de8450f20b_0_12"/>
          <p:cNvSpPr/>
          <p:nvPr/>
        </p:nvSpPr>
        <p:spPr>
          <a:xfrm>
            <a:off x="4796185" y="1665550"/>
            <a:ext cx="508200" cy="1465800"/>
          </a:xfrm>
          <a:prstGeom prst="rect">
            <a:avLst/>
          </a:prstGeom>
          <a:noFill/>
          <a:ln>
            <a:noFill/>
          </a:ln>
        </p:spPr>
        <p:txBody>
          <a:bodyPr anchorCtr="0" anchor="ctr" bIns="48850" lIns="97725" spcFirstLastPara="1" rIns="97725" wrap="square" tIns="48850">
            <a:noAutofit/>
          </a:bodyPr>
          <a:lstStyle/>
          <a:p>
            <a:pPr indent="0" lvl="0" marL="0" marR="0" rtl="0" algn="ctr">
              <a:spcBef>
                <a:spcPts val="0"/>
              </a:spcBef>
              <a:spcAft>
                <a:spcPts val="0"/>
              </a:spcAft>
              <a:buClr>
                <a:srgbClr val="FFFFFF"/>
              </a:buClr>
              <a:buSzPts val="1496"/>
              <a:buFont typeface="Calibri"/>
              <a:buNone/>
            </a:pPr>
            <a:r>
              <a:rPr b="1" i="0" lang="en-US" sz="1496" u="none" cap="none" strike="noStrike">
                <a:solidFill>
                  <a:srgbClr val="FFFFFF"/>
                </a:solidFill>
                <a:latin typeface="Calibri"/>
                <a:ea typeface="Calibri"/>
                <a:cs typeface="Calibri"/>
                <a:sym typeface="Calibri"/>
              </a:rPr>
              <a:t>2</a:t>
            </a:r>
            <a:endParaRPr b="0" i="0" sz="1496" u="none" cap="none" strike="noStrike">
              <a:solidFill>
                <a:schemeClr val="dk1"/>
              </a:solidFill>
              <a:latin typeface="Calibri"/>
              <a:ea typeface="Calibri"/>
              <a:cs typeface="Calibri"/>
              <a:sym typeface="Calibri"/>
            </a:endParaRPr>
          </a:p>
        </p:txBody>
      </p:sp>
      <p:sp>
        <p:nvSpPr>
          <p:cNvPr id="39" name="Google Shape;39;g3de8450f20b_0_12"/>
          <p:cNvSpPr/>
          <p:nvPr/>
        </p:nvSpPr>
        <p:spPr>
          <a:xfrm>
            <a:off x="5449556" y="2007665"/>
            <a:ext cx="3339300" cy="781800"/>
          </a:xfrm>
          <a:prstGeom prst="rect">
            <a:avLst/>
          </a:prstGeom>
          <a:noFill/>
          <a:ln>
            <a:noFill/>
          </a:ln>
        </p:spPr>
        <p:txBody>
          <a:bodyPr anchorCtr="0" anchor="ctr" bIns="48850" lIns="97725" spcFirstLastPara="1" rIns="97725" wrap="square" tIns="48850">
            <a:noAutofit/>
          </a:bodyPr>
          <a:lstStyle/>
          <a:p>
            <a:pPr indent="0" lvl="0" marL="0" marR="0" rtl="0" algn="l">
              <a:spcBef>
                <a:spcPts val="0"/>
              </a:spcBef>
              <a:spcAft>
                <a:spcPts val="0"/>
              </a:spcAft>
              <a:buClr>
                <a:srgbClr val="1A2E35"/>
              </a:buClr>
              <a:buSzPts val="1176"/>
              <a:buFont typeface="Calibri"/>
              <a:buNone/>
            </a:pPr>
            <a:r>
              <a:rPr b="1" lang="en-US" sz="1676">
                <a:solidFill>
                  <a:srgbClr val="1A2E35"/>
                </a:solidFill>
                <a:latin typeface="Calibri"/>
                <a:ea typeface="Calibri"/>
                <a:cs typeface="Calibri"/>
                <a:sym typeface="Calibri"/>
              </a:rPr>
              <a:t>Confidence in using AI responsibly: knowing when it helps and when it doesn't.</a:t>
            </a:r>
            <a:endParaRPr b="0" i="0" sz="1676" u="none" cap="none" strike="noStrike">
              <a:solidFill>
                <a:schemeClr val="dk1"/>
              </a:solidFill>
              <a:latin typeface="Calibri"/>
              <a:ea typeface="Calibri"/>
              <a:cs typeface="Calibri"/>
              <a:sym typeface="Calibri"/>
            </a:endParaRPr>
          </a:p>
        </p:txBody>
      </p:sp>
      <p:sp>
        <p:nvSpPr>
          <p:cNvPr id="40" name="Google Shape;40;g3de8450f20b_0_12"/>
          <p:cNvSpPr/>
          <p:nvPr/>
        </p:nvSpPr>
        <p:spPr>
          <a:xfrm>
            <a:off x="311909" y="3386801"/>
            <a:ext cx="4137900" cy="878100"/>
          </a:xfrm>
          <a:prstGeom prst="rect">
            <a:avLst/>
          </a:prstGeom>
          <a:solidFill>
            <a:srgbClr val="E0F2EF"/>
          </a:solidFill>
          <a:ln>
            <a:noFill/>
          </a:ln>
          <a:effectLst>
            <a:outerShdw blurRad="108585" rotWithShape="0" algn="bl" dir="8100000" dist="27146">
              <a:srgbClr val="000000">
                <a:alpha val="7840"/>
              </a:srgbClr>
            </a:outerShdw>
          </a:effectLst>
        </p:spPr>
        <p:txBody>
          <a:bodyPr anchorCtr="0" anchor="ctr" bIns="97700" lIns="97700" spcFirstLastPara="1" rIns="97700" wrap="square" tIns="97700">
            <a:noAutofit/>
          </a:bodyPr>
          <a:lstStyle/>
          <a:p>
            <a:pPr indent="0" lvl="0" marL="0" rtl="0" algn="l">
              <a:spcBef>
                <a:spcPts val="0"/>
              </a:spcBef>
              <a:spcAft>
                <a:spcPts val="0"/>
              </a:spcAft>
              <a:buNone/>
            </a:pPr>
            <a:r>
              <a:t/>
            </a:r>
            <a:endParaRPr/>
          </a:p>
        </p:txBody>
      </p:sp>
      <p:sp>
        <p:nvSpPr>
          <p:cNvPr id="41" name="Google Shape;41;g3de8450f20b_0_12"/>
          <p:cNvSpPr/>
          <p:nvPr/>
        </p:nvSpPr>
        <p:spPr>
          <a:xfrm>
            <a:off x="312000" y="3386800"/>
            <a:ext cx="4137900" cy="878100"/>
          </a:xfrm>
          <a:prstGeom prst="rect">
            <a:avLst/>
          </a:prstGeom>
          <a:noFill/>
          <a:ln>
            <a:noFill/>
          </a:ln>
        </p:spPr>
        <p:txBody>
          <a:bodyPr anchorCtr="0" anchor="ctr" bIns="48850" lIns="97700" spcFirstLastPara="1" rIns="97700" wrap="square" tIns="48850">
            <a:noAutofit/>
          </a:bodyPr>
          <a:lstStyle/>
          <a:p>
            <a:pPr indent="-322303" lvl="0" marL="457200" marR="0" rtl="0" algn="l">
              <a:spcBef>
                <a:spcPts val="0"/>
              </a:spcBef>
              <a:spcAft>
                <a:spcPts val="0"/>
              </a:spcAft>
              <a:buClr>
                <a:srgbClr val="1A2E35"/>
              </a:buClr>
              <a:buSzPts val="1476"/>
              <a:buFont typeface="Calibri"/>
              <a:buChar char="●"/>
            </a:pPr>
            <a:r>
              <a:rPr i="0" lang="en-US" sz="1476" u="none" cap="none" strike="noStrike">
                <a:solidFill>
                  <a:srgbClr val="1A2E35"/>
                </a:solidFill>
                <a:latin typeface="Calibri"/>
                <a:ea typeface="Calibri"/>
                <a:cs typeface="Calibri"/>
                <a:sym typeface="Calibri"/>
              </a:rPr>
              <a:t>Save time on admin &amp; everyday tasks</a:t>
            </a:r>
            <a:endParaRPr i="0" sz="1476" u="none" cap="none" strike="noStrike">
              <a:solidFill>
                <a:srgbClr val="1A2E35"/>
              </a:solidFill>
              <a:latin typeface="Calibri"/>
              <a:ea typeface="Calibri"/>
              <a:cs typeface="Calibri"/>
              <a:sym typeface="Calibri"/>
            </a:endParaRPr>
          </a:p>
          <a:p>
            <a:pPr indent="-322303" lvl="0" marL="457200" marR="0" rtl="0" algn="l">
              <a:spcBef>
                <a:spcPts val="0"/>
              </a:spcBef>
              <a:spcAft>
                <a:spcPts val="0"/>
              </a:spcAft>
              <a:buClr>
                <a:srgbClr val="1A2E35"/>
              </a:buClr>
              <a:buSzPts val="1476"/>
              <a:buFont typeface="Calibri"/>
              <a:buChar char="●"/>
            </a:pPr>
            <a:r>
              <a:rPr lang="en-US" sz="1476">
                <a:solidFill>
                  <a:srgbClr val="1A2E35"/>
                </a:solidFill>
                <a:latin typeface="Calibri"/>
                <a:ea typeface="Calibri"/>
                <a:cs typeface="Calibri"/>
                <a:sym typeface="Calibri"/>
              </a:rPr>
              <a:t>Create materials quickly</a:t>
            </a:r>
            <a:endParaRPr sz="1476">
              <a:solidFill>
                <a:srgbClr val="1A2E35"/>
              </a:solidFill>
              <a:latin typeface="Calibri"/>
              <a:ea typeface="Calibri"/>
              <a:cs typeface="Calibri"/>
              <a:sym typeface="Calibri"/>
            </a:endParaRPr>
          </a:p>
          <a:p>
            <a:pPr indent="-322303" lvl="0" marL="457200" marR="0" rtl="0" algn="l">
              <a:spcBef>
                <a:spcPts val="0"/>
              </a:spcBef>
              <a:spcAft>
                <a:spcPts val="0"/>
              </a:spcAft>
              <a:buClr>
                <a:srgbClr val="1A2E35"/>
              </a:buClr>
              <a:buSzPts val="1476"/>
              <a:buFont typeface="Calibri"/>
              <a:buChar char="●"/>
            </a:pPr>
            <a:r>
              <a:rPr lang="en-US" sz="1476">
                <a:solidFill>
                  <a:srgbClr val="1A2E35"/>
                </a:solidFill>
                <a:latin typeface="Calibri"/>
                <a:ea typeface="Calibri"/>
                <a:cs typeface="Calibri"/>
                <a:sym typeface="Calibri"/>
              </a:rPr>
              <a:t>Write better prompts</a:t>
            </a:r>
            <a:endParaRPr sz="1476">
              <a:solidFill>
                <a:srgbClr val="1A2E35"/>
              </a:solidFill>
              <a:latin typeface="Calibri"/>
              <a:ea typeface="Calibri"/>
              <a:cs typeface="Calibri"/>
              <a:sym typeface="Calibri"/>
            </a:endParaRPr>
          </a:p>
        </p:txBody>
      </p:sp>
      <p:sp>
        <p:nvSpPr>
          <p:cNvPr id="42" name="Google Shape;42;g3de8450f20b_0_12"/>
          <p:cNvSpPr/>
          <p:nvPr/>
        </p:nvSpPr>
        <p:spPr>
          <a:xfrm>
            <a:off x="4796118" y="3386804"/>
            <a:ext cx="4137900" cy="878100"/>
          </a:xfrm>
          <a:prstGeom prst="rect">
            <a:avLst/>
          </a:prstGeom>
          <a:solidFill>
            <a:srgbClr val="E0F2EF"/>
          </a:solidFill>
          <a:ln>
            <a:noFill/>
          </a:ln>
          <a:effectLst>
            <a:outerShdw blurRad="108585" rotWithShape="0" algn="bl" dir="8100000" dist="27146">
              <a:srgbClr val="000000">
                <a:alpha val="7840"/>
              </a:srgbClr>
            </a:outerShdw>
          </a:effectLst>
        </p:spPr>
        <p:txBody>
          <a:bodyPr anchorCtr="0" anchor="ctr" bIns="97700" lIns="97700" spcFirstLastPara="1" rIns="97700" wrap="square" tIns="97700">
            <a:noAutofit/>
          </a:bodyPr>
          <a:lstStyle/>
          <a:p>
            <a:pPr indent="0" lvl="0" marL="0" rtl="0" algn="l">
              <a:spcBef>
                <a:spcPts val="0"/>
              </a:spcBef>
              <a:spcAft>
                <a:spcPts val="0"/>
              </a:spcAft>
              <a:buNone/>
            </a:pPr>
            <a:r>
              <a:t/>
            </a:r>
            <a:endParaRPr/>
          </a:p>
        </p:txBody>
      </p:sp>
      <p:sp>
        <p:nvSpPr>
          <p:cNvPr id="43" name="Google Shape;43;g3de8450f20b_0_12"/>
          <p:cNvSpPr/>
          <p:nvPr/>
        </p:nvSpPr>
        <p:spPr>
          <a:xfrm>
            <a:off x="4796200" y="3386800"/>
            <a:ext cx="4137900" cy="878100"/>
          </a:xfrm>
          <a:prstGeom prst="rect">
            <a:avLst/>
          </a:prstGeom>
          <a:noFill/>
          <a:ln>
            <a:noFill/>
          </a:ln>
        </p:spPr>
        <p:txBody>
          <a:bodyPr anchorCtr="0" anchor="ctr" bIns="48850" lIns="97700" spcFirstLastPara="1" rIns="97700" wrap="square" tIns="48850">
            <a:noAutofit/>
          </a:bodyPr>
          <a:lstStyle/>
          <a:p>
            <a:pPr indent="-322303" lvl="0" marL="457200" marR="0" rtl="0" algn="l">
              <a:spcBef>
                <a:spcPts val="0"/>
              </a:spcBef>
              <a:spcAft>
                <a:spcPts val="0"/>
              </a:spcAft>
              <a:buClr>
                <a:srgbClr val="1A2E35"/>
              </a:buClr>
              <a:buSzPts val="1476"/>
              <a:buFont typeface="Calibri"/>
              <a:buChar char="●"/>
            </a:pPr>
            <a:r>
              <a:rPr lang="en-US" sz="1476">
                <a:solidFill>
                  <a:srgbClr val="1A2E35"/>
                </a:solidFill>
                <a:latin typeface="Calibri"/>
                <a:ea typeface="Calibri"/>
                <a:cs typeface="Calibri"/>
                <a:sym typeface="Calibri"/>
              </a:rPr>
              <a:t>Understanding AI limitations</a:t>
            </a:r>
            <a:endParaRPr sz="1476">
              <a:solidFill>
                <a:srgbClr val="1A2E35"/>
              </a:solidFill>
              <a:latin typeface="Calibri"/>
              <a:ea typeface="Calibri"/>
              <a:cs typeface="Calibri"/>
              <a:sym typeface="Calibri"/>
            </a:endParaRPr>
          </a:p>
          <a:p>
            <a:pPr indent="-322303" lvl="0" marL="457200" marR="0" rtl="0" algn="l">
              <a:spcBef>
                <a:spcPts val="0"/>
              </a:spcBef>
              <a:spcAft>
                <a:spcPts val="0"/>
              </a:spcAft>
              <a:buClr>
                <a:srgbClr val="1A2E35"/>
              </a:buClr>
              <a:buSzPts val="1476"/>
              <a:buFont typeface="Calibri"/>
              <a:buChar char="●"/>
            </a:pPr>
            <a:r>
              <a:rPr lang="en-US" sz="1476">
                <a:solidFill>
                  <a:srgbClr val="1A2E35"/>
                </a:solidFill>
                <a:latin typeface="Calibri"/>
                <a:ea typeface="Calibri"/>
                <a:cs typeface="Calibri"/>
                <a:sym typeface="Calibri"/>
              </a:rPr>
              <a:t>Understanding responsible use</a:t>
            </a:r>
            <a:endParaRPr sz="1476">
              <a:solidFill>
                <a:srgbClr val="1A2E35"/>
              </a:solidFill>
              <a:latin typeface="Calibri"/>
              <a:ea typeface="Calibri"/>
              <a:cs typeface="Calibri"/>
              <a:sym typeface="Calibri"/>
            </a:endParaRPr>
          </a:p>
        </p:txBody>
      </p:sp>
      <p:sp>
        <p:nvSpPr>
          <p:cNvPr id="44" name="Google Shape;44;g3de8450f20b_0_12"/>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49" name="Shape 49"/>
        <p:cNvGrpSpPr/>
        <p:nvPr/>
      </p:nvGrpSpPr>
      <p:grpSpPr>
        <a:xfrm>
          <a:off x="0" y="0"/>
          <a:ext cx="0" cy="0"/>
          <a:chOff x="0" y="0"/>
          <a:chExt cx="0" cy="0"/>
        </a:xfrm>
      </p:grpSpPr>
      <p:sp>
        <p:nvSpPr>
          <p:cNvPr id="50" name="Google Shape;50;p3"/>
          <p:cNvSpPr/>
          <p:nvPr/>
        </p:nvSpPr>
        <p:spPr>
          <a:xfrm>
            <a:off x="0" y="0"/>
            <a:ext cx="9144000" cy="77724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45720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2000" u="none" cap="none" strike="noStrike">
                <a:solidFill>
                  <a:srgbClr val="FFFFFF"/>
                </a:solidFill>
                <a:latin typeface="Calibri"/>
                <a:ea typeface="Calibri"/>
                <a:cs typeface="Calibri"/>
                <a:sym typeface="Calibri"/>
              </a:rPr>
              <a:t>AGENDA</a:t>
            </a:r>
            <a:endParaRPr b="0" i="0" sz="2000" u="none" cap="none" strike="noStrike">
              <a:solidFill>
                <a:schemeClr val="dk1"/>
              </a:solidFill>
              <a:latin typeface="Calibri"/>
              <a:ea typeface="Calibri"/>
              <a:cs typeface="Calibri"/>
              <a:sym typeface="Calibri"/>
            </a:endParaRPr>
          </a:p>
        </p:txBody>
      </p:sp>
      <p:sp>
        <p:nvSpPr>
          <p:cNvPr id="52" name="Google Shape;52;p3"/>
          <p:cNvSpPr/>
          <p:nvPr/>
        </p:nvSpPr>
        <p:spPr>
          <a:xfrm>
            <a:off x="228600" y="960120"/>
            <a:ext cx="2743200" cy="173736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3" name="Google Shape;53;p3"/>
          <p:cNvSpPr/>
          <p:nvPr/>
        </p:nvSpPr>
        <p:spPr>
          <a:xfrm>
            <a:off x="365760" y="1069848"/>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000"/>
              <a:buFont typeface="Calibri"/>
              <a:buNone/>
            </a:pPr>
            <a:r>
              <a:rPr b="1" i="0" lang="en-US" sz="1500" u="none" cap="none" strike="noStrike">
                <a:solidFill>
                  <a:srgbClr val="0D7A6B"/>
                </a:solidFill>
                <a:latin typeface="Calibri"/>
                <a:ea typeface="Calibri"/>
                <a:cs typeface="Calibri"/>
                <a:sym typeface="Calibri"/>
              </a:rPr>
              <a:t>01</a:t>
            </a:r>
            <a:endParaRPr b="0" i="0" sz="1500" u="none" cap="none" strike="noStrike">
              <a:solidFill>
                <a:schemeClr val="dk1"/>
              </a:solidFill>
              <a:latin typeface="Calibri"/>
              <a:ea typeface="Calibri"/>
              <a:cs typeface="Calibri"/>
              <a:sym typeface="Calibri"/>
            </a:endParaRPr>
          </a:p>
        </p:txBody>
      </p:sp>
      <p:sp>
        <p:nvSpPr>
          <p:cNvPr id="54" name="Google Shape;54;p3"/>
          <p:cNvSpPr/>
          <p:nvPr/>
        </p:nvSpPr>
        <p:spPr>
          <a:xfrm>
            <a:off x="365760" y="1417320"/>
            <a:ext cx="2468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300"/>
              <a:buFont typeface="Calibri"/>
              <a:buNone/>
            </a:pPr>
            <a:r>
              <a:rPr b="1" i="0" lang="en-US" sz="1600" u="none" cap="none" strike="noStrike">
                <a:solidFill>
                  <a:srgbClr val="1A2E35"/>
                </a:solidFill>
                <a:latin typeface="Calibri"/>
                <a:ea typeface="Calibri"/>
                <a:cs typeface="Calibri"/>
                <a:sym typeface="Calibri"/>
              </a:rPr>
              <a:t>Welcome &amp; Framing</a:t>
            </a:r>
            <a:endParaRPr b="0" i="0" sz="1600" u="none" cap="none" strike="noStrike">
              <a:solidFill>
                <a:schemeClr val="dk1"/>
              </a:solidFill>
              <a:latin typeface="Calibri"/>
              <a:ea typeface="Calibri"/>
              <a:cs typeface="Calibri"/>
              <a:sym typeface="Calibri"/>
            </a:endParaRPr>
          </a:p>
        </p:txBody>
      </p:sp>
      <p:sp>
        <p:nvSpPr>
          <p:cNvPr id="55" name="Google Shape;55;p3"/>
          <p:cNvSpPr/>
          <p:nvPr/>
        </p:nvSpPr>
        <p:spPr>
          <a:xfrm>
            <a:off x="365760" y="1965960"/>
            <a:ext cx="25603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lang="en-US" sz="1200">
                <a:solidFill>
                  <a:srgbClr val="4A6670"/>
                </a:solidFill>
                <a:latin typeface="Calibri"/>
                <a:ea typeface="Calibri"/>
                <a:cs typeface="Calibri"/>
                <a:sym typeface="Calibri"/>
              </a:rPr>
              <a:t>Michael</a:t>
            </a:r>
            <a:endParaRPr b="0" i="0" sz="1200" u="none" cap="none" strike="noStrike">
              <a:solidFill>
                <a:schemeClr val="dk1"/>
              </a:solidFill>
              <a:latin typeface="Calibri"/>
              <a:ea typeface="Calibri"/>
              <a:cs typeface="Calibri"/>
              <a:sym typeface="Calibri"/>
            </a:endParaRPr>
          </a:p>
        </p:txBody>
      </p:sp>
      <p:sp>
        <p:nvSpPr>
          <p:cNvPr id="56" name="Google Shape;56;p3"/>
          <p:cNvSpPr/>
          <p:nvPr/>
        </p:nvSpPr>
        <p:spPr>
          <a:xfrm>
            <a:off x="3154680" y="960120"/>
            <a:ext cx="2743200" cy="173736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7" name="Google Shape;57;p3"/>
          <p:cNvSpPr/>
          <p:nvPr/>
        </p:nvSpPr>
        <p:spPr>
          <a:xfrm>
            <a:off x="3291840" y="1069848"/>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000"/>
              <a:buFont typeface="Calibri"/>
              <a:buNone/>
            </a:pPr>
            <a:r>
              <a:rPr b="1" i="0" lang="en-US" sz="1500" u="none" cap="none" strike="noStrike">
                <a:solidFill>
                  <a:srgbClr val="0D7A6B"/>
                </a:solidFill>
                <a:latin typeface="Calibri"/>
                <a:ea typeface="Calibri"/>
                <a:cs typeface="Calibri"/>
                <a:sym typeface="Calibri"/>
              </a:rPr>
              <a:t>02</a:t>
            </a:r>
            <a:endParaRPr b="0" i="0" sz="1500" u="none" cap="none" strike="noStrike">
              <a:solidFill>
                <a:schemeClr val="dk1"/>
              </a:solidFill>
              <a:latin typeface="Calibri"/>
              <a:ea typeface="Calibri"/>
              <a:cs typeface="Calibri"/>
              <a:sym typeface="Calibri"/>
            </a:endParaRPr>
          </a:p>
        </p:txBody>
      </p:sp>
      <p:sp>
        <p:nvSpPr>
          <p:cNvPr id="58" name="Google Shape;58;p3"/>
          <p:cNvSpPr/>
          <p:nvPr/>
        </p:nvSpPr>
        <p:spPr>
          <a:xfrm>
            <a:off x="3291840" y="1417320"/>
            <a:ext cx="2468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300"/>
              <a:buFont typeface="Calibri"/>
              <a:buNone/>
            </a:pPr>
            <a:r>
              <a:rPr b="1" i="0" lang="en-US" sz="1600" u="none" cap="none" strike="noStrike">
                <a:solidFill>
                  <a:srgbClr val="1A2E35"/>
                </a:solidFill>
                <a:latin typeface="Calibri"/>
                <a:ea typeface="Calibri"/>
                <a:cs typeface="Calibri"/>
                <a:sym typeface="Calibri"/>
              </a:rPr>
              <a:t>AI Basics</a:t>
            </a:r>
            <a:endParaRPr b="0" i="0" sz="1600" u="none" cap="none" strike="noStrike">
              <a:solidFill>
                <a:schemeClr val="dk1"/>
              </a:solidFill>
              <a:latin typeface="Calibri"/>
              <a:ea typeface="Calibri"/>
              <a:cs typeface="Calibri"/>
              <a:sym typeface="Calibri"/>
            </a:endParaRPr>
          </a:p>
        </p:txBody>
      </p:sp>
      <p:sp>
        <p:nvSpPr>
          <p:cNvPr id="59" name="Google Shape;59;p3"/>
          <p:cNvSpPr/>
          <p:nvPr/>
        </p:nvSpPr>
        <p:spPr>
          <a:xfrm>
            <a:off x="3291840" y="1965960"/>
            <a:ext cx="25603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lang="en-US" sz="1200">
                <a:solidFill>
                  <a:srgbClr val="4A6670"/>
                </a:solidFill>
                <a:latin typeface="Calibri"/>
                <a:ea typeface="Calibri"/>
                <a:cs typeface="Calibri"/>
                <a:sym typeface="Calibri"/>
              </a:rPr>
              <a:t>Dylan</a:t>
            </a:r>
            <a:endParaRPr b="0" i="0" sz="1200" u="none" cap="none" strike="noStrike">
              <a:solidFill>
                <a:schemeClr val="dk1"/>
              </a:solidFill>
              <a:latin typeface="Calibri"/>
              <a:ea typeface="Calibri"/>
              <a:cs typeface="Calibri"/>
              <a:sym typeface="Calibri"/>
            </a:endParaRPr>
          </a:p>
        </p:txBody>
      </p:sp>
      <p:sp>
        <p:nvSpPr>
          <p:cNvPr id="60" name="Google Shape;60;p3"/>
          <p:cNvSpPr/>
          <p:nvPr/>
        </p:nvSpPr>
        <p:spPr>
          <a:xfrm>
            <a:off x="228610" y="3017482"/>
            <a:ext cx="2743200" cy="1737300"/>
          </a:xfrm>
          <a:prstGeom prst="rect">
            <a:avLst/>
          </a:prstGeom>
          <a:solidFill>
            <a:srgbClr val="0D7A6B"/>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1" name="Google Shape;61;p3"/>
          <p:cNvSpPr/>
          <p:nvPr/>
        </p:nvSpPr>
        <p:spPr>
          <a:xfrm>
            <a:off x="365770" y="3474682"/>
            <a:ext cx="2469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Prompting + Examples</a:t>
            </a:r>
            <a:endParaRPr b="0" i="0" sz="1600" u="none" cap="none" strike="noStrike">
              <a:solidFill>
                <a:schemeClr val="dk1"/>
              </a:solidFill>
              <a:latin typeface="Calibri"/>
              <a:ea typeface="Calibri"/>
              <a:cs typeface="Calibri"/>
              <a:sym typeface="Calibri"/>
            </a:endParaRPr>
          </a:p>
        </p:txBody>
      </p:sp>
      <p:sp>
        <p:nvSpPr>
          <p:cNvPr id="62" name="Google Shape;62;p3"/>
          <p:cNvSpPr/>
          <p:nvPr/>
        </p:nvSpPr>
        <p:spPr>
          <a:xfrm>
            <a:off x="365770" y="4023323"/>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900"/>
              <a:buFont typeface="Calibri"/>
              <a:buNone/>
            </a:pPr>
            <a:r>
              <a:rPr b="0" i="0" lang="en-US" sz="1200" u="none" cap="none" strike="noStrike">
                <a:solidFill>
                  <a:srgbClr val="A8D8D1"/>
                </a:solidFill>
                <a:latin typeface="Calibri"/>
                <a:ea typeface="Calibri"/>
                <a:cs typeface="Calibri"/>
                <a:sym typeface="Calibri"/>
              </a:rPr>
              <a:t>Both</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228610" y="4718267"/>
            <a:ext cx="2743200" cy="366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4" name="Google Shape;64;p3"/>
          <p:cNvSpPr/>
          <p:nvPr/>
        </p:nvSpPr>
        <p:spPr>
          <a:xfrm>
            <a:off x="3154675" y="3017520"/>
            <a:ext cx="2743200" cy="1737300"/>
          </a:xfrm>
          <a:prstGeom prst="rect">
            <a:avLst/>
          </a:prstGeom>
          <a:solidFill>
            <a:srgbClr val="0D7A6B"/>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5" name="Google Shape;65;p3"/>
          <p:cNvSpPr/>
          <p:nvPr/>
        </p:nvSpPr>
        <p:spPr>
          <a:xfrm>
            <a:off x="3291835" y="3127248"/>
            <a:ext cx="457200" cy="365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A8D8D1"/>
              </a:buClr>
              <a:buSzPts val="1000"/>
              <a:buFont typeface="Calibri"/>
              <a:buNone/>
            </a:pPr>
            <a:r>
              <a:rPr b="1" lang="en-US" sz="1500">
                <a:solidFill>
                  <a:srgbClr val="A8D8D1"/>
                </a:solidFill>
                <a:latin typeface="Calibri"/>
                <a:ea typeface="Calibri"/>
                <a:cs typeface="Calibri"/>
                <a:sym typeface="Calibri"/>
              </a:rPr>
              <a:t>05</a:t>
            </a:r>
            <a:endParaRPr b="0" i="0" sz="1500" u="none" cap="none" strike="noStrike">
              <a:solidFill>
                <a:schemeClr val="dk1"/>
              </a:solidFill>
              <a:latin typeface="Calibri"/>
              <a:ea typeface="Calibri"/>
              <a:cs typeface="Calibri"/>
              <a:sym typeface="Calibri"/>
            </a:endParaRPr>
          </a:p>
        </p:txBody>
      </p:sp>
      <p:sp>
        <p:nvSpPr>
          <p:cNvPr id="66" name="Google Shape;66;p3"/>
          <p:cNvSpPr/>
          <p:nvPr/>
        </p:nvSpPr>
        <p:spPr>
          <a:xfrm>
            <a:off x="3291835" y="3474720"/>
            <a:ext cx="2469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Hands-On Practice</a:t>
            </a:r>
            <a:endParaRPr b="0" i="0" sz="1600" u="none" cap="none" strike="noStrike">
              <a:solidFill>
                <a:schemeClr val="dk1"/>
              </a:solidFill>
              <a:latin typeface="Calibri"/>
              <a:ea typeface="Calibri"/>
              <a:cs typeface="Calibri"/>
              <a:sym typeface="Calibri"/>
            </a:endParaRPr>
          </a:p>
        </p:txBody>
      </p:sp>
      <p:sp>
        <p:nvSpPr>
          <p:cNvPr id="67" name="Google Shape;67;p3"/>
          <p:cNvSpPr/>
          <p:nvPr/>
        </p:nvSpPr>
        <p:spPr>
          <a:xfrm>
            <a:off x="3291835" y="4023360"/>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900"/>
              <a:buFont typeface="Calibri"/>
              <a:buNone/>
            </a:pPr>
            <a:r>
              <a:rPr b="0" i="0" lang="en-US" sz="1200" u="none" cap="none" strike="noStrike">
                <a:solidFill>
                  <a:srgbClr val="A8D8D1"/>
                </a:solidFill>
                <a:latin typeface="Calibri"/>
                <a:ea typeface="Calibri"/>
                <a:cs typeface="Calibri"/>
                <a:sym typeface="Calibri"/>
              </a:rPr>
              <a:t>Both</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3154675" y="4718304"/>
            <a:ext cx="2743200" cy="366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69" name="Google Shape;69;p3"/>
          <p:cNvSpPr/>
          <p:nvPr/>
        </p:nvSpPr>
        <p:spPr>
          <a:xfrm>
            <a:off x="6080755" y="960120"/>
            <a:ext cx="2743200" cy="17373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70" name="Google Shape;70;p3"/>
          <p:cNvSpPr/>
          <p:nvPr/>
        </p:nvSpPr>
        <p:spPr>
          <a:xfrm>
            <a:off x="6217915" y="1069848"/>
            <a:ext cx="457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000"/>
              <a:buFont typeface="Calibri"/>
              <a:buNone/>
            </a:pPr>
            <a:r>
              <a:rPr b="1" i="0" lang="en-US" sz="1500" u="none" cap="none" strike="noStrike">
                <a:solidFill>
                  <a:srgbClr val="0D7A6B"/>
                </a:solidFill>
                <a:latin typeface="Calibri"/>
                <a:ea typeface="Calibri"/>
                <a:cs typeface="Calibri"/>
                <a:sym typeface="Calibri"/>
              </a:rPr>
              <a:t>0</a:t>
            </a:r>
            <a:r>
              <a:rPr b="1" lang="en-US" sz="1500">
                <a:solidFill>
                  <a:srgbClr val="0D7A6B"/>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71" name="Google Shape;71;p3"/>
          <p:cNvSpPr/>
          <p:nvPr/>
        </p:nvSpPr>
        <p:spPr>
          <a:xfrm>
            <a:off x="6217915" y="1417320"/>
            <a:ext cx="2469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300"/>
              <a:buFont typeface="Calibri"/>
              <a:buNone/>
            </a:pPr>
            <a:r>
              <a:rPr b="1" i="0" lang="en-US" sz="1600" u="none" cap="none" strike="noStrike">
                <a:solidFill>
                  <a:srgbClr val="1A2E35"/>
                </a:solidFill>
                <a:latin typeface="Calibri"/>
                <a:ea typeface="Calibri"/>
                <a:cs typeface="Calibri"/>
                <a:sym typeface="Calibri"/>
              </a:rPr>
              <a:t>Responsible Use</a:t>
            </a:r>
            <a:endParaRPr b="0" i="0" sz="1600" u="none" cap="none" strike="noStrike">
              <a:solidFill>
                <a:schemeClr val="dk1"/>
              </a:solidFill>
              <a:latin typeface="Calibri"/>
              <a:ea typeface="Calibri"/>
              <a:cs typeface="Calibri"/>
              <a:sym typeface="Calibri"/>
            </a:endParaRPr>
          </a:p>
        </p:txBody>
      </p:sp>
      <p:sp>
        <p:nvSpPr>
          <p:cNvPr id="72" name="Google Shape;72;p3"/>
          <p:cNvSpPr/>
          <p:nvPr/>
        </p:nvSpPr>
        <p:spPr>
          <a:xfrm>
            <a:off x="6217915" y="1965960"/>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0" lang="en-US" sz="1200" u="none" cap="none" strike="noStrike">
                <a:solidFill>
                  <a:srgbClr val="4A6670"/>
                </a:solidFill>
                <a:latin typeface="Calibri"/>
                <a:ea typeface="Calibri"/>
                <a:cs typeface="Calibri"/>
                <a:sym typeface="Calibri"/>
              </a:rPr>
              <a:t>Michael</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6080760" y="3017470"/>
            <a:ext cx="2743200" cy="17373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74" name="Google Shape;74;p3"/>
          <p:cNvSpPr/>
          <p:nvPr/>
        </p:nvSpPr>
        <p:spPr>
          <a:xfrm>
            <a:off x="6217920" y="3127248"/>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000"/>
              <a:buFont typeface="Calibri"/>
              <a:buNone/>
            </a:pPr>
            <a:r>
              <a:rPr b="1" i="0" lang="en-US" sz="1500" u="none" cap="none" strike="noStrike">
                <a:solidFill>
                  <a:srgbClr val="0D7A6B"/>
                </a:solidFill>
                <a:latin typeface="Calibri"/>
                <a:ea typeface="Calibri"/>
                <a:cs typeface="Calibri"/>
                <a:sym typeface="Calibri"/>
              </a:rPr>
              <a:t>06</a:t>
            </a:r>
            <a:endParaRPr b="0" i="0" sz="1500" u="none" cap="none" strike="noStrike">
              <a:solidFill>
                <a:schemeClr val="dk1"/>
              </a:solidFill>
              <a:latin typeface="Calibri"/>
              <a:ea typeface="Calibri"/>
              <a:cs typeface="Calibri"/>
              <a:sym typeface="Calibri"/>
            </a:endParaRPr>
          </a:p>
        </p:txBody>
      </p:sp>
      <p:sp>
        <p:nvSpPr>
          <p:cNvPr id="75" name="Google Shape;75;p3"/>
          <p:cNvSpPr/>
          <p:nvPr/>
        </p:nvSpPr>
        <p:spPr>
          <a:xfrm>
            <a:off x="6217920" y="3474720"/>
            <a:ext cx="2468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300"/>
              <a:buFont typeface="Calibri"/>
              <a:buNone/>
            </a:pPr>
            <a:r>
              <a:rPr b="1" i="0" lang="en-US" sz="1600" u="none" cap="none" strike="noStrike">
                <a:solidFill>
                  <a:srgbClr val="1A2E35"/>
                </a:solidFill>
                <a:latin typeface="Calibri"/>
                <a:ea typeface="Calibri"/>
                <a:cs typeface="Calibri"/>
                <a:sym typeface="Calibri"/>
              </a:rPr>
              <a:t>Next Steps</a:t>
            </a:r>
            <a:endParaRPr b="0" i="0" sz="1600" u="none" cap="none" strike="noStrike">
              <a:solidFill>
                <a:schemeClr val="dk1"/>
              </a:solidFill>
              <a:latin typeface="Calibri"/>
              <a:ea typeface="Calibri"/>
              <a:cs typeface="Calibri"/>
              <a:sym typeface="Calibri"/>
            </a:endParaRPr>
          </a:p>
        </p:txBody>
      </p:sp>
      <p:sp>
        <p:nvSpPr>
          <p:cNvPr id="76" name="Google Shape;76;p3"/>
          <p:cNvSpPr/>
          <p:nvPr/>
        </p:nvSpPr>
        <p:spPr>
          <a:xfrm>
            <a:off x="6217920" y="4023360"/>
            <a:ext cx="25603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0" lang="en-US" sz="1200" u="none" cap="none" strike="noStrike">
                <a:solidFill>
                  <a:srgbClr val="4A6670"/>
                </a:solidFill>
                <a:latin typeface="Calibri"/>
                <a:ea typeface="Calibri"/>
                <a:cs typeface="Calibri"/>
                <a:sym typeface="Calibri"/>
              </a:rPr>
              <a:t>Dylan</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384335" y="3136410"/>
            <a:ext cx="457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1000"/>
              <a:buFont typeface="Calibri"/>
              <a:buNone/>
            </a:pPr>
            <a:r>
              <a:rPr b="1" i="0" lang="en-US" sz="1500" u="none" cap="none" strike="noStrike">
                <a:solidFill>
                  <a:srgbClr val="A8D8D1"/>
                </a:solidFill>
                <a:latin typeface="Calibri"/>
                <a:ea typeface="Calibri"/>
                <a:cs typeface="Calibri"/>
                <a:sym typeface="Calibri"/>
              </a:rPr>
              <a:t>0</a:t>
            </a:r>
            <a:r>
              <a:rPr b="1" lang="en-US" sz="1500">
                <a:solidFill>
                  <a:srgbClr val="A8D8D1"/>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78" name="Google Shape;78;p3"/>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7A6B"/>
        </a:solidFill>
      </p:bgPr>
    </p:bg>
    <p:spTree>
      <p:nvGrpSpPr>
        <p:cNvPr id="82" name="Shape 82"/>
        <p:cNvGrpSpPr/>
        <p:nvPr/>
      </p:nvGrpSpPr>
      <p:grpSpPr>
        <a:xfrm>
          <a:off x="0" y="0"/>
          <a:ext cx="0" cy="0"/>
          <a:chOff x="0" y="0"/>
          <a:chExt cx="0" cy="0"/>
        </a:xfrm>
      </p:grpSpPr>
      <p:sp>
        <p:nvSpPr>
          <p:cNvPr id="83" name="Google Shape;83;g3d683ea5a12_1_138"/>
          <p:cNvSpPr/>
          <p:nvPr/>
        </p:nvSpPr>
        <p:spPr>
          <a:xfrm>
            <a:off x="2152650" y="330000"/>
            <a:ext cx="4838700" cy="999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rgbClr val="FFFFFF"/>
                </a:solidFill>
                <a:latin typeface="Calibri"/>
                <a:ea typeface="Calibri"/>
                <a:cs typeface="Calibri"/>
                <a:sym typeface="Calibri"/>
              </a:rPr>
              <a:t>Quick, Draw!</a:t>
            </a:r>
            <a:endParaRPr/>
          </a:p>
        </p:txBody>
      </p:sp>
      <p:sp>
        <p:nvSpPr>
          <p:cNvPr id="84" name="Google Shape;84;g3d683ea5a12_1_138"/>
          <p:cNvSpPr/>
          <p:nvPr/>
        </p:nvSpPr>
        <p:spPr>
          <a:xfrm>
            <a:off x="457200" y="1418800"/>
            <a:ext cx="8229600" cy="60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4500">
                <a:solidFill>
                  <a:schemeClr val="lt1"/>
                </a:solidFill>
                <a:latin typeface="Calibri"/>
                <a:ea typeface="Calibri"/>
                <a:cs typeface="Calibri"/>
                <a:sym typeface="Calibri"/>
              </a:rPr>
              <a:t>https://tinyurl.com/BFSdraws</a:t>
            </a:r>
            <a:endParaRPr sz="4100">
              <a:solidFill>
                <a:schemeClr val="lt1"/>
              </a:solidFill>
            </a:endParaRPr>
          </a:p>
        </p:txBody>
      </p:sp>
      <p:pic>
        <p:nvPicPr>
          <p:cNvPr id="85" name="Google Shape;85;g3d683ea5a12_1_138" title="BFSdraws-qr.png"/>
          <p:cNvPicPr preferRelativeResize="0"/>
          <p:nvPr/>
        </p:nvPicPr>
        <p:blipFill>
          <a:blip r:embed="rId3">
            <a:alphaModFix/>
          </a:blip>
          <a:stretch>
            <a:fillRect/>
          </a:stretch>
        </p:blipFill>
        <p:spPr>
          <a:xfrm>
            <a:off x="3323525" y="2298700"/>
            <a:ext cx="2496950" cy="2496950"/>
          </a:xfrm>
          <a:prstGeom prst="rect">
            <a:avLst/>
          </a:prstGeom>
          <a:noFill/>
          <a:ln>
            <a:noFill/>
          </a:ln>
        </p:spPr>
      </p:pic>
      <p:sp>
        <p:nvSpPr>
          <p:cNvPr id="86" name="Google Shape;86;g3d683ea5a12_1_138"/>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91" name="Shape 91"/>
        <p:cNvGrpSpPr/>
        <p:nvPr/>
      </p:nvGrpSpPr>
      <p:grpSpPr>
        <a:xfrm>
          <a:off x="0" y="0"/>
          <a:ext cx="0" cy="0"/>
          <a:chOff x="0" y="0"/>
          <a:chExt cx="0" cy="0"/>
        </a:xfrm>
      </p:grpSpPr>
      <p:sp>
        <p:nvSpPr>
          <p:cNvPr id="92" name="Google Shape;92;p4"/>
          <p:cNvSpPr/>
          <p:nvPr/>
        </p:nvSpPr>
        <p:spPr>
          <a:xfrm>
            <a:off x="457200" y="2743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900"/>
              <a:buFont typeface="Calibri"/>
              <a:buNone/>
            </a:pPr>
            <a:r>
              <a:rPr b="1" i="0" lang="en-US" sz="2000" u="none" cap="none" strike="noStrike">
                <a:solidFill>
                  <a:srgbClr val="0D7A6B"/>
                </a:solidFill>
                <a:latin typeface="Calibri"/>
                <a:ea typeface="Calibri"/>
                <a:cs typeface="Calibri"/>
                <a:sym typeface="Calibri"/>
              </a:rPr>
              <a:t>WHAT YOU NEED TO KNOW BEFORE YOU GET STARTED</a:t>
            </a:r>
            <a:endParaRPr b="0" i="0" sz="2000" u="none" cap="none" strike="noStrike">
              <a:solidFill>
                <a:schemeClr val="dk1"/>
              </a:solidFill>
              <a:latin typeface="Calibri"/>
              <a:ea typeface="Calibri"/>
              <a:cs typeface="Calibri"/>
              <a:sym typeface="Calibri"/>
            </a:endParaRPr>
          </a:p>
        </p:txBody>
      </p:sp>
      <p:sp>
        <p:nvSpPr>
          <p:cNvPr id="93" name="Google Shape;93;p4"/>
          <p:cNvSpPr/>
          <p:nvPr/>
        </p:nvSpPr>
        <p:spPr>
          <a:xfrm>
            <a:off x="457200" y="59436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243A42"/>
                </a:solidFill>
                <a:latin typeface="Calibri"/>
                <a:ea typeface="Calibri"/>
                <a:cs typeface="Calibri"/>
                <a:sym typeface="Calibri"/>
              </a:rPr>
              <a:t>AI Basics</a:t>
            </a:r>
            <a:endParaRPr b="0" i="0" sz="3600" u="none" cap="none" strike="noStrike">
              <a:solidFill>
                <a:srgbClr val="243A42"/>
              </a:solidFill>
              <a:latin typeface="Calibri"/>
              <a:ea typeface="Calibri"/>
              <a:cs typeface="Calibri"/>
              <a:sym typeface="Calibri"/>
            </a:endParaRPr>
          </a:p>
        </p:txBody>
      </p:sp>
      <p:sp>
        <p:nvSpPr>
          <p:cNvPr id="94" name="Google Shape;94;p4"/>
          <p:cNvSpPr/>
          <p:nvPr/>
        </p:nvSpPr>
        <p:spPr>
          <a:xfrm>
            <a:off x="457200" y="1234440"/>
            <a:ext cx="1645920" cy="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57200" y="1417320"/>
            <a:ext cx="3931920" cy="141732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621792" y="1828800"/>
            <a:ext cx="411480" cy="411480"/>
          </a:xfrm>
          <a:prstGeom prst="ellipse">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4"/>
          <p:cNvPicPr preferRelativeResize="0"/>
          <p:nvPr/>
        </p:nvPicPr>
        <p:blipFill rotWithShape="1">
          <a:blip r:embed="rId3">
            <a:alphaModFix/>
          </a:blip>
          <a:srcRect b="0" l="0" r="0" t="0"/>
          <a:stretch/>
        </p:blipFill>
        <p:spPr>
          <a:xfrm>
            <a:off x="658368" y="1865376"/>
            <a:ext cx="338328" cy="338328"/>
          </a:xfrm>
          <a:prstGeom prst="rect">
            <a:avLst/>
          </a:prstGeom>
          <a:noFill/>
          <a:ln>
            <a:noFill/>
          </a:ln>
        </p:spPr>
      </p:pic>
      <p:sp>
        <p:nvSpPr>
          <p:cNvPr id="98" name="Google Shape;98;p4"/>
          <p:cNvSpPr/>
          <p:nvPr/>
        </p:nvSpPr>
        <p:spPr>
          <a:xfrm>
            <a:off x="1143000" y="1527048"/>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Predicts, Doesn't Think</a:t>
            </a:r>
            <a:endParaRPr b="0" i="0" sz="2000" u="none" cap="none" strike="noStrike">
              <a:solidFill>
                <a:schemeClr val="dk1"/>
              </a:solidFill>
              <a:latin typeface="Calibri"/>
              <a:ea typeface="Calibri"/>
              <a:cs typeface="Calibri"/>
              <a:sym typeface="Calibri"/>
            </a:endParaRPr>
          </a:p>
        </p:txBody>
      </p:sp>
      <p:sp>
        <p:nvSpPr>
          <p:cNvPr id="99" name="Google Shape;99;p4"/>
          <p:cNvSpPr/>
          <p:nvPr/>
        </p:nvSpPr>
        <p:spPr>
          <a:xfrm>
            <a:off x="1143000" y="1947672"/>
            <a:ext cx="3108960" cy="74980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A0B8BF"/>
              </a:buClr>
              <a:buSzPts val="1000"/>
              <a:buFont typeface="Calibri"/>
              <a:buNone/>
            </a:pPr>
            <a:r>
              <a:rPr i="0" lang="en-US" sz="1200" u="none" cap="none" strike="noStrike">
                <a:solidFill>
                  <a:schemeClr val="lt2"/>
                </a:solidFill>
                <a:latin typeface="Calibri"/>
                <a:ea typeface="Calibri"/>
                <a:cs typeface="Calibri"/>
                <a:sym typeface="Calibri"/>
              </a:rPr>
              <a:t>AI generates text by predicting likely patterns</a:t>
            </a:r>
            <a:r>
              <a:rPr lang="en-US" sz="1200">
                <a:solidFill>
                  <a:schemeClr val="lt2"/>
                </a:solidFill>
                <a:latin typeface="Calibri"/>
                <a:ea typeface="Calibri"/>
                <a:cs typeface="Calibri"/>
                <a:sym typeface="Calibri"/>
              </a:rPr>
              <a:t>,</a:t>
            </a:r>
            <a:r>
              <a:rPr i="0" lang="en-US" sz="1200" u="none" cap="none" strike="noStrike">
                <a:solidFill>
                  <a:schemeClr val="lt2"/>
                </a:solidFill>
                <a:latin typeface="Calibri"/>
                <a:ea typeface="Calibri"/>
                <a:cs typeface="Calibri"/>
                <a:sym typeface="Calibri"/>
              </a:rPr>
              <a:t> it has no real understanding of what it's saying.</a:t>
            </a:r>
            <a:endParaRPr i="0" sz="1200" u="none" cap="none" strike="noStrike">
              <a:solidFill>
                <a:schemeClr val="lt2"/>
              </a:solidFill>
              <a:latin typeface="Calibri"/>
              <a:ea typeface="Calibri"/>
              <a:cs typeface="Calibri"/>
              <a:sym typeface="Calibri"/>
            </a:endParaRPr>
          </a:p>
        </p:txBody>
      </p:sp>
      <p:sp>
        <p:nvSpPr>
          <p:cNvPr id="100" name="Google Shape;100;p4"/>
          <p:cNvSpPr/>
          <p:nvPr/>
        </p:nvSpPr>
        <p:spPr>
          <a:xfrm>
            <a:off x="4663440" y="1417320"/>
            <a:ext cx="3931920" cy="141732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4828032" y="1828800"/>
            <a:ext cx="411480" cy="411480"/>
          </a:xfrm>
          <a:prstGeom prst="ellipse">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 name="Google Shape;102;p4"/>
          <p:cNvPicPr preferRelativeResize="0"/>
          <p:nvPr/>
        </p:nvPicPr>
        <p:blipFill rotWithShape="1">
          <a:blip r:embed="rId4">
            <a:alphaModFix/>
          </a:blip>
          <a:srcRect b="0" l="0" r="0" t="0"/>
          <a:stretch/>
        </p:blipFill>
        <p:spPr>
          <a:xfrm>
            <a:off x="4864608" y="1823230"/>
            <a:ext cx="338328" cy="338328"/>
          </a:xfrm>
          <a:prstGeom prst="rect">
            <a:avLst/>
          </a:prstGeom>
          <a:noFill/>
          <a:ln>
            <a:noFill/>
          </a:ln>
        </p:spPr>
      </p:pic>
      <p:sp>
        <p:nvSpPr>
          <p:cNvPr id="103" name="Google Shape;103;p4"/>
          <p:cNvSpPr/>
          <p:nvPr/>
        </p:nvSpPr>
        <p:spPr>
          <a:xfrm>
            <a:off x="5349240" y="1527048"/>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It Can Be Wrong</a:t>
            </a:r>
            <a:endParaRPr b="0" i="0" sz="2000" u="none" cap="none" strike="noStrike">
              <a:solidFill>
                <a:schemeClr val="dk1"/>
              </a:solidFill>
              <a:latin typeface="Calibri"/>
              <a:ea typeface="Calibri"/>
              <a:cs typeface="Calibri"/>
              <a:sym typeface="Calibri"/>
            </a:endParaRPr>
          </a:p>
        </p:txBody>
      </p:sp>
      <p:sp>
        <p:nvSpPr>
          <p:cNvPr id="104" name="Google Shape;104;p4"/>
          <p:cNvSpPr/>
          <p:nvPr/>
        </p:nvSpPr>
        <p:spPr>
          <a:xfrm>
            <a:off x="5349240" y="1947672"/>
            <a:ext cx="3108960" cy="74980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A0B8BF"/>
              </a:buClr>
              <a:buSzPts val="1000"/>
              <a:buFont typeface="Calibri"/>
              <a:buNone/>
            </a:pPr>
            <a:r>
              <a:rPr i="0" lang="en-US" sz="1200" u="none" cap="none" strike="noStrike">
                <a:solidFill>
                  <a:schemeClr val="lt2"/>
                </a:solidFill>
                <a:latin typeface="Calibri"/>
                <a:ea typeface="Calibri"/>
                <a:cs typeface="Calibri"/>
                <a:sym typeface="Calibri"/>
              </a:rPr>
              <a:t>AI can 'hallucinate' </a:t>
            </a:r>
            <a:r>
              <a:rPr lang="en-US" sz="1200">
                <a:solidFill>
                  <a:schemeClr val="lt2"/>
                </a:solidFill>
                <a:latin typeface="Calibri"/>
                <a:ea typeface="Calibri"/>
                <a:cs typeface="Calibri"/>
                <a:sym typeface="Calibri"/>
              </a:rPr>
              <a:t>or </a:t>
            </a:r>
            <a:r>
              <a:rPr i="0" lang="en-US" sz="1200" u="none" cap="none" strike="noStrike">
                <a:solidFill>
                  <a:schemeClr val="lt2"/>
                </a:solidFill>
                <a:latin typeface="Calibri"/>
                <a:ea typeface="Calibri"/>
                <a:cs typeface="Calibri"/>
                <a:sym typeface="Calibri"/>
              </a:rPr>
              <a:t>stat</a:t>
            </a:r>
            <a:r>
              <a:rPr lang="en-US" sz="1200">
                <a:solidFill>
                  <a:schemeClr val="lt2"/>
                </a:solidFill>
                <a:latin typeface="Calibri"/>
                <a:ea typeface="Calibri"/>
                <a:cs typeface="Calibri"/>
                <a:sym typeface="Calibri"/>
              </a:rPr>
              <a:t>e</a:t>
            </a:r>
            <a:r>
              <a:rPr i="0" lang="en-US" sz="1200" u="none" cap="none" strike="noStrike">
                <a:solidFill>
                  <a:schemeClr val="lt2"/>
                </a:solidFill>
                <a:latin typeface="Calibri"/>
                <a:ea typeface="Calibri"/>
                <a:cs typeface="Calibri"/>
                <a:sym typeface="Calibri"/>
              </a:rPr>
              <a:t> false facts confidently. Always verify</a:t>
            </a:r>
            <a:r>
              <a:rPr lang="en-US" sz="1200">
                <a:solidFill>
                  <a:schemeClr val="lt2"/>
                </a:solidFill>
                <a:latin typeface="Calibri"/>
                <a:ea typeface="Calibri"/>
                <a:cs typeface="Calibri"/>
                <a:sym typeface="Calibri"/>
              </a:rPr>
              <a:t> output before moving out of AI</a:t>
            </a:r>
            <a:r>
              <a:rPr i="0" lang="en-US" sz="1200" u="none" cap="none" strike="noStrike">
                <a:solidFill>
                  <a:schemeClr val="lt2"/>
                </a:solidFill>
                <a:latin typeface="Calibri"/>
                <a:ea typeface="Calibri"/>
                <a:cs typeface="Calibri"/>
                <a:sym typeface="Calibri"/>
              </a:rPr>
              <a:t>.</a:t>
            </a:r>
            <a:endParaRPr i="0" sz="1200" u="none" cap="none" strike="noStrike">
              <a:solidFill>
                <a:schemeClr val="lt2"/>
              </a:solidFill>
              <a:latin typeface="Calibri"/>
              <a:ea typeface="Calibri"/>
              <a:cs typeface="Calibri"/>
              <a:sym typeface="Calibri"/>
            </a:endParaRPr>
          </a:p>
        </p:txBody>
      </p:sp>
      <p:sp>
        <p:nvSpPr>
          <p:cNvPr id="105" name="Google Shape;105;p4"/>
          <p:cNvSpPr/>
          <p:nvPr/>
        </p:nvSpPr>
        <p:spPr>
          <a:xfrm>
            <a:off x="457200" y="3017520"/>
            <a:ext cx="3931920" cy="141732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621792" y="3429000"/>
            <a:ext cx="411480" cy="411480"/>
          </a:xfrm>
          <a:prstGeom prst="ellipse">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4"/>
          <p:cNvPicPr preferRelativeResize="0"/>
          <p:nvPr/>
        </p:nvPicPr>
        <p:blipFill rotWithShape="1">
          <a:blip r:embed="rId5">
            <a:alphaModFix/>
          </a:blip>
          <a:srcRect b="0" l="0" r="0" t="0"/>
          <a:stretch/>
        </p:blipFill>
        <p:spPr>
          <a:xfrm>
            <a:off x="658368" y="3465576"/>
            <a:ext cx="338328" cy="338328"/>
          </a:xfrm>
          <a:prstGeom prst="rect">
            <a:avLst/>
          </a:prstGeom>
          <a:noFill/>
          <a:ln>
            <a:noFill/>
          </a:ln>
        </p:spPr>
      </p:pic>
      <p:sp>
        <p:nvSpPr>
          <p:cNvPr id="108" name="Google Shape;108;p4"/>
          <p:cNvSpPr/>
          <p:nvPr/>
        </p:nvSpPr>
        <p:spPr>
          <a:xfrm>
            <a:off x="1143000" y="3127248"/>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Reflects Data Bias</a:t>
            </a:r>
            <a:endParaRPr b="0" i="0" sz="2000" u="none" cap="none" strike="noStrike">
              <a:solidFill>
                <a:schemeClr val="dk1"/>
              </a:solidFill>
              <a:latin typeface="Calibri"/>
              <a:ea typeface="Calibri"/>
              <a:cs typeface="Calibri"/>
              <a:sym typeface="Calibri"/>
            </a:endParaRPr>
          </a:p>
        </p:txBody>
      </p:sp>
      <p:sp>
        <p:nvSpPr>
          <p:cNvPr id="109" name="Google Shape;109;p4"/>
          <p:cNvSpPr/>
          <p:nvPr/>
        </p:nvSpPr>
        <p:spPr>
          <a:xfrm>
            <a:off x="1143000" y="3547872"/>
            <a:ext cx="3108960" cy="74980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A0B8BF"/>
              </a:buClr>
              <a:buSzPts val="1000"/>
              <a:buFont typeface="Calibri"/>
              <a:buNone/>
            </a:pPr>
            <a:r>
              <a:rPr i="0" lang="en-US" sz="1200" u="none" cap="none" strike="noStrike">
                <a:solidFill>
                  <a:schemeClr val="lt2"/>
                </a:solidFill>
                <a:latin typeface="Calibri"/>
                <a:ea typeface="Calibri"/>
                <a:cs typeface="Calibri"/>
                <a:sym typeface="Calibri"/>
              </a:rPr>
              <a:t>AI learns from human-created data</a:t>
            </a:r>
            <a:r>
              <a:rPr lang="en-US" sz="1200">
                <a:solidFill>
                  <a:schemeClr val="lt2"/>
                </a:solidFill>
                <a:latin typeface="Calibri"/>
                <a:ea typeface="Calibri"/>
                <a:cs typeface="Calibri"/>
                <a:sym typeface="Calibri"/>
              </a:rPr>
              <a:t>, </a:t>
            </a:r>
            <a:r>
              <a:rPr i="0" lang="en-US" sz="1200" u="none" cap="none" strike="noStrike">
                <a:solidFill>
                  <a:schemeClr val="lt2"/>
                </a:solidFill>
                <a:latin typeface="Calibri"/>
                <a:ea typeface="Calibri"/>
                <a:cs typeface="Calibri"/>
                <a:sym typeface="Calibri"/>
              </a:rPr>
              <a:t>which includes human bias. Be critical of what it produces.</a:t>
            </a:r>
            <a:endParaRPr i="0" sz="1200" u="none" cap="none" strike="noStrike">
              <a:solidFill>
                <a:schemeClr val="lt2"/>
              </a:solidFill>
              <a:latin typeface="Calibri"/>
              <a:ea typeface="Calibri"/>
              <a:cs typeface="Calibri"/>
              <a:sym typeface="Calibri"/>
            </a:endParaRPr>
          </a:p>
        </p:txBody>
      </p:sp>
      <p:sp>
        <p:nvSpPr>
          <p:cNvPr id="110" name="Google Shape;110;p4"/>
          <p:cNvSpPr/>
          <p:nvPr/>
        </p:nvSpPr>
        <p:spPr>
          <a:xfrm>
            <a:off x="4663440" y="3017520"/>
            <a:ext cx="3931920" cy="141732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4828032" y="3429000"/>
            <a:ext cx="411480" cy="411480"/>
          </a:xfrm>
          <a:prstGeom prst="ellipse">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4"/>
          <p:cNvPicPr preferRelativeResize="0"/>
          <p:nvPr/>
        </p:nvPicPr>
        <p:blipFill rotWithShape="1">
          <a:blip r:embed="rId6">
            <a:alphaModFix/>
          </a:blip>
          <a:srcRect b="0" l="0" r="0" t="0"/>
          <a:stretch/>
        </p:blipFill>
        <p:spPr>
          <a:xfrm>
            <a:off x="4864608" y="3465576"/>
            <a:ext cx="338328" cy="338328"/>
          </a:xfrm>
          <a:prstGeom prst="rect">
            <a:avLst/>
          </a:prstGeom>
          <a:noFill/>
          <a:ln>
            <a:noFill/>
          </a:ln>
        </p:spPr>
      </p:pic>
      <p:sp>
        <p:nvSpPr>
          <p:cNvPr id="113" name="Google Shape;113;p4"/>
          <p:cNvSpPr/>
          <p:nvPr/>
        </p:nvSpPr>
        <p:spPr>
          <a:xfrm>
            <a:off x="5349240" y="3127248"/>
            <a:ext cx="3108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You Are the Expert</a:t>
            </a:r>
            <a:endParaRPr b="0" i="0" sz="2000" u="none" cap="none" strike="noStrike">
              <a:solidFill>
                <a:schemeClr val="dk1"/>
              </a:solidFill>
              <a:latin typeface="Calibri"/>
              <a:ea typeface="Calibri"/>
              <a:cs typeface="Calibri"/>
              <a:sym typeface="Calibri"/>
            </a:endParaRPr>
          </a:p>
        </p:txBody>
      </p:sp>
      <p:sp>
        <p:nvSpPr>
          <p:cNvPr id="114" name="Google Shape;114;p4"/>
          <p:cNvSpPr/>
          <p:nvPr/>
        </p:nvSpPr>
        <p:spPr>
          <a:xfrm>
            <a:off x="5349240" y="3532833"/>
            <a:ext cx="3108900" cy="7497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A0B8BF"/>
              </a:buClr>
              <a:buSzPts val="1000"/>
              <a:buFont typeface="Calibri"/>
              <a:buNone/>
            </a:pPr>
            <a:r>
              <a:rPr i="0" lang="en-US" sz="1200" u="none" cap="none" strike="noStrike">
                <a:solidFill>
                  <a:schemeClr val="lt2"/>
                </a:solidFill>
                <a:latin typeface="Calibri"/>
                <a:ea typeface="Calibri"/>
                <a:cs typeface="Calibri"/>
                <a:sym typeface="Calibri"/>
              </a:rPr>
              <a:t>AI outputs are a draft. Your professional judgment is what makes it useful.</a:t>
            </a:r>
            <a:endParaRPr i="0" sz="1200" u="none" cap="none" strike="noStrike">
              <a:solidFill>
                <a:schemeClr val="lt2"/>
              </a:solidFill>
              <a:latin typeface="Calibri"/>
              <a:ea typeface="Calibri"/>
              <a:cs typeface="Calibri"/>
              <a:sym typeface="Calibri"/>
            </a:endParaRPr>
          </a:p>
        </p:txBody>
      </p:sp>
      <p:sp>
        <p:nvSpPr>
          <p:cNvPr id="115" name="Google Shape;115;p4"/>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120" name="Shape 120"/>
        <p:cNvGrpSpPr/>
        <p:nvPr/>
      </p:nvGrpSpPr>
      <p:grpSpPr>
        <a:xfrm>
          <a:off x="0" y="0"/>
          <a:ext cx="0" cy="0"/>
          <a:chOff x="0" y="0"/>
          <a:chExt cx="0" cy="0"/>
        </a:xfrm>
      </p:grpSpPr>
      <p:sp>
        <p:nvSpPr>
          <p:cNvPr id="121" name="Google Shape;121;g3dec2639e5e_0_201"/>
          <p:cNvSpPr/>
          <p:nvPr/>
        </p:nvSpPr>
        <p:spPr>
          <a:xfrm>
            <a:off x="0" y="0"/>
            <a:ext cx="9144000" cy="685800"/>
          </a:xfrm>
          <a:prstGeom prst="rect">
            <a:avLst/>
          </a:prstGeom>
          <a:solidFill>
            <a:srgbClr val="1A2E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dec2639e5e_0_201"/>
          <p:cNvSpPr/>
          <p:nvPr/>
        </p:nvSpPr>
        <p:spPr>
          <a:xfrm>
            <a:off x="457200" y="0"/>
            <a:ext cx="8229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2000" u="none" cap="none" strike="noStrike">
                <a:solidFill>
                  <a:srgbClr val="FFFFFF"/>
                </a:solidFill>
                <a:latin typeface="Calibri"/>
                <a:ea typeface="Calibri"/>
                <a:cs typeface="Calibri"/>
                <a:sym typeface="Calibri"/>
              </a:rPr>
              <a:t>WHICH TOOL SHOULD I USE?</a:t>
            </a:r>
            <a:endParaRPr b="0" i="0" sz="2000" u="none" cap="none" strike="noStrike">
              <a:solidFill>
                <a:schemeClr val="dk1"/>
              </a:solidFill>
              <a:latin typeface="Calibri"/>
              <a:ea typeface="Calibri"/>
              <a:cs typeface="Calibri"/>
              <a:sym typeface="Calibri"/>
            </a:endParaRPr>
          </a:p>
        </p:txBody>
      </p:sp>
      <p:sp>
        <p:nvSpPr>
          <p:cNvPr id="123" name="Google Shape;123;g3dec2639e5e_0_201"/>
          <p:cNvSpPr/>
          <p:nvPr/>
        </p:nvSpPr>
        <p:spPr>
          <a:xfrm>
            <a:off x="457200" y="804672"/>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400"/>
              <a:buFont typeface="Calibri"/>
              <a:buNone/>
            </a:pPr>
            <a:r>
              <a:rPr b="1" lang="en-US" sz="1700">
                <a:solidFill>
                  <a:srgbClr val="10A37F"/>
                </a:solidFill>
                <a:latin typeface="Calibri"/>
                <a:ea typeface="Calibri"/>
                <a:cs typeface="Calibri"/>
                <a:sym typeface="Calibri"/>
              </a:rPr>
              <a:t>These t</a:t>
            </a:r>
            <a:r>
              <a:rPr b="1" i="0" lang="en-US" sz="1700" u="none" cap="none" strike="noStrike">
                <a:solidFill>
                  <a:srgbClr val="10A37F"/>
                </a:solidFill>
                <a:latin typeface="Calibri"/>
                <a:ea typeface="Calibri"/>
                <a:cs typeface="Calibri"/>
                <a:sym typeface="Calibri"/>
              </a:rPr>
              <a:t>hree handle everyday </a:t>
            </a:r>
            <a:r>
              <a:rPr b="1" lang="en-US" sz="1700">
                <a:solidFill>
                  <a:srgbClr val="10A37F"/>
                </a:solidFill>
                <a:latin typeface="Calibri"/>
                <a:ea typeface="Calibri"/>
                <a:cs typeface="Calibri"/>
                <a:sym typeface="Calibri"/>
              </a:rPr>
              <a:t>teaching &amp; admin </a:t>
            </a:r>
            <a:r>
              <a:rPr b="1" i="0" lang="en-US" sz="1700" u="none" cap="none" strike="noStrike">
                <a:solidFill>
                  <a:srgbClr val="10A37F"/>
                </a:solidFill>
                <a:latin typeface="Calibri"/>
                <a:ea typeface="Calibri"/>
                <a:cs typeface="Calibri"/>
                <a:sym typeface="Calibri"/>
              </a:rPr>
              <a:t>tasks well</a:t>
            </a:r>
            <a:r>
              <a:rPr b="1" lang="en-US" sz="1700">
                <a:solidFill>
                  <a:srgbClr val="10A37F"/>
                </a:solidFill>
                <a:latin typeface="Calibri"/>
                <a:ea typeface="Calibri"/>
                <a:cs typeface="Calibri"/>
                <a:sym typeface="Calibri"/>
              </a:rPr>
              <a:t>.</a:t>
            </a:r>
            <a:endParaRPr b="0" i="0" sz="1700" u="none" cap="none" strike="noStrike">
              <a:solidFill>
                <a:srgbClr val="10A37F"/>
              </a:solidFill>
              <a:latin typeface="Calibri"/>
              <a:ea typeface="Calibri"/>
              <a:cs typeface="Calibri"/>
              <a:sym typeface="Calibri"/>
            </a:endParaRPr>
          </a:p>
        </p:txBody>
      </p:sp>
      <p:sp>
        <p:nvSpPr>
          <p:cNvPr id="124" name="Google Shape;124;g3dec2639e5e_0_201"/>
          <p:cNvSpPr/>
          <p:nvPr/>
        </p:nvSpPr>
        <p:spPr>
          <a:xfrm>
            <a:off x="256032" y="1207008"/>
            <a:ext cx="4160400" cy="1737300"/>
          </a:xfrm>
          <a:prstGeom prst="rect">
            <a:avLst/>
          </a:prstGeom>
          <a:solidFill>
            <a:srgbClr val="FFFFFF"/>
          </a:solidFill>
          <a:ln>
            <a:noFill/>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dec2639e5e_0_201"/>
          <p:cNvSpPr/>
          <p:nvPr/>
        </p:nvSpPr>
        <p:spPr>
          <a:xfrm>
            <a:off x="256032" y="1207008"/>
            <a:ext cx="164700" cy="1737300"/>
          </a:xfrm>
          <a:prstGeom prst="rect">
            <a:avLst/>
          </a:prstGeom>
          <a:solidFill>
            <a:srgbClr val="10A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dec2639e5e_0_201"/>
          <p:cNvSpPr/>
          <p:nvPr/>
        </p:nvSpPr>
        <p:spPr>
          <a:xfrm>
            <a:off x="512064" y="1298448"/>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500"/>
              <a:buFont typeface="Calibri"/>
              <a:buNone/>
            </a:pPr>
            <a:r>
              <a:rPr b="1" i="0" lang="en-US" sz="1500" u="none" cap="none" strike="noStrike">
                <a:solidFill>
                  <a:srgbClr val="1A2E35"/>
                </a:solidFill>
                <a:latin typeface="Calibri"/>
                <a:ea typeface="Calibri"/>
                <a:cs typeface="Calibri"/>
                <a:sym typeface="Calibri"/>
              </a:rPr>
              <a:t>ChatGPT (OpenAI)</a:t>
            </a:r>
            <a:endParaRPr b="0" i="0" sz="1500" u="none" cap="none" strike="noStrike">
              <a:solidFill>
                <a:schemeClr val="dk1"/>
              </a:solidFill>
              <a:latin typeface="Calibri"/>
              <a:ea typeface="Calibri"/>
              <a:cs typeface="Calibri"/>
              <a:sym typeface="Calibri"/>
            </a:endParaRPr>
          </a:p>
        </p:txBody>
      </p:sp>
      <p:sp>
        <p:nvSpPr>
          <p:cNvPr id="127" name="Google Shape;127;g3dec2639e5e_0_201"/>
          <p:cNvSpPr/>
          <p:nvPr/>
        </p:nvSpPr>
        <p:spPr>
          <a:xfrm>
            <a:off x="512064" y="1627632"/>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1" lang="en-US" sz="900" u="none" cap="none" strike="noStrike">
                <a:solidFill>
                  <a:srgbClr val="4A6670"/>
                </a:solidFill>
                <a:latin typeface="Calibri"/>
                <a:ea typeface="Calibri"/>
                <a:cs typeface="Calibri"/>
                <a:sym typeface="Calibri"/>
              </a:rPr>
              <a:t>Widest ecosystem — most templates, plugins &amp; community resources online</a:t>
            </a:r>
            <a:endParaRPr b="0" i="0" sz="900" u="none" cap="none" strike="noStrike">
              <a:solidFill>
                <a:schemeClr val="dk1"/>
              </a:solidFill>
              <a:latin typeface="Calibri"/>
              <a:ea typeface="Calibri"/>
              <a:cs typeface="Calibri"/>
              <a:sym typeface="Calibri"/>
            </a:endParaRPr>
          </a:p>
        </p:txBody>
      </p:sp>
      <p:sp>
        <p:nvSpPr>
          <p:cNvPr id="128" name="Google Shape;128;g3dec2639e5e_0_201"/>
          <p:cNvSpPr/>
          <p:nvPr/>
        </p:nvSpPr>
        <p:spPr>
          <a:xfrm>
            <a:off x="512064" y="1917079"/>
            <a:ext cx="3749100" cy="18300"/>
          </a:xfrm>
          <a:prstGeom prst="rect">
            <a:avLst/>
          </a:prstGeom>
          <a:solidFill>
            <a:srgbClr val="E8E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g3dec2639e5e_0_201"/>
          <p:cNvPicPr preferRelativeResize="0"/>
          <p:nvPr/>
        </p:nvPicPr>
        <p:blipFill rotWithShape="1">
          <a:blip r:embed="rId3">
            <a:alphaModFix/>
          </a:blip>
          <a:srcRect b="0" l="0" r="0" t="0"/>
          <a:stretch/>
        </p:blipFill>
        <p:spPr>
          <a:xfrm>
            <a:off x="512064" y="2017663"/>
            <a:ext cx="164592" cy="164592"/>
          </a:xfrm>
          <a:prstGeom prst="rect">
            <a:avLst/>
          </a:prstGeom>
          <a:noFill/>
          <a:ln>
            <a:noFill/>
          </a:ln>
        </p:spPr>
      </p:pic>
      <p:sp>
        <p:nvSpPr>
          <p:cNvPr id="130" name="Google Shape;130;g3dec2639e5e_0_201"/>
          <p:cNvSpPr/>
          <p:nvPr/>
        </p:nvSpPr>
        <p:spPr>
          <a:xfrm>
            <a:off x="731520" y="1953655"/>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Web search built in: </a:t>
            </a:r>
            <a:r>
              <a:rPr b="0" i="0" lang="en-US" sz="850" u="none" cap="none" strike="noStrike">
                <a:solidFill>
                  <a:srgbClr val="4A6670"/>
                </a:solidFill>
                <a:latin typeface="Calibri"/>
                <a:ea typeface="Calibri"/>
                <a:cs typeface="Calibri"/>
                <a:sym typeface="Calibri"/>
              </a:rPr>
              <a:t>Gets current info — great for real-world examples</a:t>
            </a:r>
            <a:endParaRPr b="0" i="0" sz="850" u="none" cap="none" strike="noStrike">
              <a:solidFill>
                <a:schemeClr val="dk1"/>
              </a:solidFill>
              <a:latin typeface="Calibri"/>
              <a:ea typeface="Calibri"/>
              <a:cs typeface="Calibri"/>
              <a:sym typeface="Calibri"/>
            </a:endParaRPr>
          </a:p>
        </p:txBody>
      </p:sp>
      <p:pic>
        <p:nvPicPr>
          <p:cNvPr descr="preencoded.png" id="131" name="Google Shape;131;g3dec2639e5e_0_201"/>
          <p:cNvPicPr preferRelativeResize="0"/>
          <p:nvPr/>
        </p:nvPicPr>
        <p:blipFill rotWithShape="1">
          <a:blip r:embed="rId4">
            <a:alphaModFix/>
          </a:blip>
          <a:srcRect b="0" l="0" r="0" t="0"/>
          <a:stretch/>
        </p:blipFill>
        <p:spPr>
          <a:xfrm>
            <a:off x="512064" y="2328559"/>
            <a:ext cx="164592" cy="164592"/>
          </a:xfrm>
          <a:prstGeom prst="rect">
            <a:avLst/>
          </a:prstGeom>
          <a:noFill/>
          <a:ln>
            <a:noFill/>
          </a:ln>
        </p:spPr>
      </p:pic>
      <p:sp>
        <p:nvSpPr>
          <p:cNvPr id="132" name="Google Shape;132;g3dec2639e5e_0_201"/>
          <p:cNvSpPr/>
          <p:nvPr/>
        </p:nvSpPr>
        <p:spPr>
          <a:xfrm>
            <a:off x="731520" y="2264551"/>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Largest community: </a:t>
            </a:r>
            <a:r>
              <a:rPr b="0" i="0" lang="en-US" sz="850" u="none" cap="none" strike="noStrike">
                <a:solidFill>
                  <a:srgbClr val="4A6670"/>
                </a:solidFill>
                <a:latin typeface="Calibri"/>
                <a:ea typeface="Calibri"/>
                <a:cs typeface="Calibri"/>
                <a:sym typeface="Calibri"/>
              </a:rPr>
              <a:t>Most shared teacher prompts and tutorials online</a:t>
            </a:r>
            <a:endParaRPr b="0" i="0" sz="850" u="none" cap="none" strike="noStrike">
              <a:solidFill>
                <a:schemeClr val="dk1"/>
              </a:solidFill>
              <a:latin typeface="Calibri"/>
              <a:ea typeface="Calibri"/>
              <a:cs typeface="Calibri"/>
              <a:sym typeface="Calibri"/>
            </a:endParaRPr>
          </a:p>
        </p:txBody>
      </p:sp>
      <p:pic>
        <p:nvPicPr>
          <p:cNvPr descr="preencoded.png" id="133" name="Google Shape;133;g3dec2639e5e_0_201"/>
          <p:cNvPicPr preferRelativeResize="0"/>
          <p:nvPr/>
        </p:nvPicPr>
        <p:blipFill rotWithShape="1">
          <a:blip r:embed="rId5">
            <a:alphaModFix/>
          </a:blip>
          <a:srcRect b="0" l="0" r="0" t="0"/>
          <a:stretch/>
        </p:blipFill>
        <p:spPr>
          <a:xfrm>
            <a:off x="512064" y="2639455"/>
            <a:ext cx="164592" cy="164592"/>
          </a:xfrm>
          <a:prstGeom prst="rect">
            <a:avLst/>
          </a:prstGeom>
          <a:noFill/>
          <a:ln>
            <a:noFill/>
          </a:ln>
        </p:spPr>
      </p:pic>
      <p:sp>
        <p:nvSpPr>
          <p:cNvPr id="134" name="Google Shape;134;g3dec2639e5e_0_201"/>
          <p:cNvSpPr/>
          <p:nvPr/>
        </p:nvSpPr>
        <p:spPr>
          <a:xfrm>
            <a:off x="731520" y="2575447"/>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Image generation: </a:t>
            </a:r>
            <a:r>
              <a:rPr b="0" i="0" lang="en-US" sz="850" u="none" cap="none" strike="noStrike">
                <a:solidFill>
                  <a:srgbClr val="4A6670"/>
                </a:solidFill>
                <a:latin typeface="Calibri"/>
                <a:ea typeface="Calibri"/>
                <a:cs typeface="Calibri"/>
                <a:sym typeface="Calibri"/>
              </a:rPr>
              <a:t>Generate images for slides and activities in the chat</a:t>
            </a:r>
            <a:endParaRPr b="0" i="0" sz="850" u="none" cap="none" strike="noStrike">
              <a:solidFill>
                <a:schemeClr val="dk1"/>
              </a:solidFill>
              <a:latin typeface="Calibri"/>
              <a:ea typeface="Calibri"/>
              <a:cs typeface="Calibri"/>
              <a:sym typeface="Calibri"/>
            </a:endParaRPr>
          </a:p>
        </p:txBody>
      </p:sp>
      <p:sp>
        <p:nvSpPr>
          <p:cNvPr id="135" name="Google Shape;135;g3dec2639e5e_0_201"/>
          <p:cNvSpPr/>
          <p:nvPr/>
        </p:nvSpPr>
        <p:spPr>
          <a:xfrm>
            <a:off x="4663440" y="1207008"/>
            <a:ext cx="4160400" cy="1737300"/>
          </a:xfrm>
          <a:prstGeom prst="rect">
            <a:avLst/>
          </a:prstGeom>
          <a:solidFill>
            <a:srgbClr val="FFFFFF"/>
          </a:solidFill>
          <a:ln>
            <a:noFill/>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ec2639e5e_0_201"/>
          <p:cNvSpPr/>
          <p:nvPr/>
        </p:nvSpPr>
        <p:spPr>
          <a:xfrm>
            <a:off x="4663440" y="1207008"/>
            <a:ext cx="164700" cy="1737300"/>
          </a:xfrm>
          <a:prstGeom prst="rect">
            <a:avLst/>
          </a:prstGeom>
          <a:solidFill>
            <a:srgbClr val="10A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dec2639e5e_0_201"/>
          <p:cNvSpPr/>
          <p:nvPr/>
        </p:nvSpPr>
        <p:spPr>
          <a:xfrm>
            <a:off x="4919472" y="1298448"/>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500"/>
              <a:buFont typeface="Calibri"/>
              <a:buNone/>
            </a:pPr>
            <a:r>
              <a:rPr b="1" i="0" lang="en-US" sz="1500" u="none" cap="none" strike="noStrike">
                <a:solidFill>
                  <a:srgbClr val="1A2E35"/>
                </a:solidFill>
                <a:latin typeface="Calibri"/>
                <a:ea typeface="Calibri"/>
                <a:cs typeface="Calibri"/>
                <a:sym typeface="Calibri"/>
              </a:rPr>
              <a:t>Gemini (Google)</a:t>
            </a:r>
            <a:endParaRPr b="0" i="0" sz="1500" u="none" cap="none" strike="noStrike">
              <a:solidFill>
                <a:schemeClr val="dk1"/>
              </a:solidFill>
              <a:latin typeface="Calibri"/>
              <a:ea typeface="Calibri"/>
              <a:cs typeface="Calibri"/>
              <a:sym typeface="Calibri"/>
            </a:endParaRPr>
          </a:p>
        </p:txBody>
      </p:sp>
      <p:sp>
        <p:nvSpPr>
          <p:cNvPr id="138" name="Google Shape;138;g3dec2639e5e_0_201"/>
          <p:cNvSpPr/>
          <p:nvPr/>
        </p:nvSpPr>
        <p:spPr>
          <a:xfrm>
            <a:off x="4919472" y="1627632"/>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1" lang="en-US" sz="900" u="none" cap="none" strike="noStrike">
                <a:solidFill>
                  <a:srgbClr val="4A6670"/>
                </a:solidFill>
                <a:latin typeface="Calibri"/>
                <a:ea typeface="Calibri"/>
                <a:cs typeface="Calibri"/>
                <a:sym typeface="Calibri"/>
              </a:rPr>
              <a:t>The only tool that works inside Google Docs, Slides, and Gmail</a:t>
            </a:r>
            <a:endParaRPr b="0" i="0" sz="900" u="none" cap="none" strike="noStrike">
              <a:solidFill>
                <a:schemeClr val="dk1"/>
              </a:solidFill>
              <a:latin typeface="Calibri"/>
              <a:ea typeface="Calibri"/>
              <a:cs typeface="Calibri"/>
              <a:sym typeface="Calibri"/>
            </a:endParaRPr>
          </a:p>
        </p:txBody>
      </p:sp>
      <p:sp>
        <p:nvSpPr>
          <p:cNvPr id="139" name="Google Shape;139;g3dec2639e5e_0_201"/>
          <p:cNvSpPr/>
          <p:nvPr/>
        </p:nvSpPr>
        <p:spPr>
          <a:xfrm>
            <a:off x="4919472" y="1906135"/>
            <a:ext cx="3749100" cy="18300"/>
          </a:xfrm>
          <a:prstGeom prst="rect">
            <a:avLst/>
          </a:prstGeom>
          <a:solidFill>
            <a:srgbClr val="E8E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0" name="Google Shape;140;g3dec2639e5e_0_201"/>
          <p:cNvPicPr preferRelativeResize="0"/>
          <p:nvPr/>
        </p:nvPicPr>
        <p:blipFill rotWithShape="1">
          <a:blip r:embed="rId6">
            <a:alphaModFix/>
          </a:blip>
          <a:srcRect b="0" l="0" r="0" t="0"/>
          <a:stretch/>
        </p:blipFill>
        <p:spPr>
          <a:xfrm>
            <a:off x="4919472" y="2006719"/>
            <a:ext cx="164592" cy="164592"/>
          </a:xfrm>
          <a:prstGeom prst="rect">
            <a:avLst/>
          </a:prstGeom>
          <a:noFill/>
          <a:ln>
            <a:noFill/>
          </a:ln>
        </p:spPr>
      </p:pic>
      <p:sp>
        <p:nvSpPr>
          <p:cNvPr id="141" name="Google Shape;141;g3dec2639e5e_0_201"/>
          <p:cNvSpPr/>
          <p:nvPr/>
        </p:nvSpPr>
        <p:spPr>
          <a:xfrm>
            <a:off x="5138928" y="1942711"/>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Works inside Workspace: </a:t>
            </a:r>
            <a:r>
              <a:rPr b="0" i="0" lang="en-US" sz="850" u="none" cap="none" strike="noStrike">
                <a:solidFill>
                  <a:srgbClr val="4A6670"/>
                </a:solidFill>
                <a:latin typeface="Calibri"/>
                <a:ea typeface="Calibri"/>
                <a:cs typeface="Calibri"/>
                <a:sym typeface="Calibri"/>
              </a:rPr>
              <a:t>Works natively in Docs, Slides &amp; Gmail</a:t>
            </a:r>
            <a:endParaRPr b="0" i="0" sz="850" u="none" cap="none" strike="noStrike">
              <a:solidFill>
                <a:schemeClr val="dk1"/>
              </a:solidFill>
              <a:latin typeface="Calibri"/>
              <a:ea typeface="Calibri"/>
              <a:cs typeface="Calibri"/>
              <a:sym typeface="Calibri"/>
            </a:endParaRPr>
          </a:p>
        </p:txBody>
      </p:sp>
      <p:pic>
        <p:nvPicPr>
          <p:cNvPr descr="preencoded.png" id="142" name="Google Shape;142;g3dec2639e5e_0_201"/>
          <p:cNvPicPr preferRelativeResize="0"/>
          <p:nvPr/>
        </p:nvPicPr>
        <p:blipFill rotWithShape="1">
          <a:blip r:embed="rId3">
            <a:alphaModFix/>
          </a:blip>
          <a:srcRect b="0" l="0" r="0" t="0"/>
          <a:stretch/>
        </p:blipFill>
        <p:spPr>
          <a:xfrm>
            <a:off x="4919472" y="2317615"/>
            <a:ext cx="164592" cy="164592"/>
          </a:xfrm>
          <a:prstGeom prst="rect">
            <a:avLst/>
          </a:prstGeom>
          <a:noFill/>
          <a:ln>
            <a:noFill/>
          </a:ln>
        </p:spPr>
      </p:pic>
      <p:sp>
        <p:nvSpPr>
          <p:cNvPr id="143" name="Google Shape;143;g3dec2639e5e_0_201"/>
          <p:cNvSpPr/>
          <p:nvPr/>
        </p:nvSpPr>
        <p:spPr>
          <a:xfrm>
            <a:off x="5138928" y="2253607"/>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Classroom integration: </a:t>
            </a:r>
            <a:r>
              <a:rPr b="0" i="0" lang="en-US" sz="850" u="none" cap="none" strike="noStrike">
                <a:solidFill>
                  <a:srgbClr val="4A6670"/>
                </a:solidFill>
                <a:latin typeface="Calibri"/>
                <a:ea typeface="Calibri"/>
                <a:cs typeface="Calibri"/>
                <a:sym typeface="Calibri"/>
              </a:rPr>
              <a:t>Assign NotebookLM notebooks via Classroom</a:t>
            </a:r>
            <a:endParaRPr b="0" i="0" sz="850" u="none" cap="none" strike="noStrike">
              <a:solidFill>
                <a:schemeClr val="dk1"/>
              </a:solidFill>
              <a:latin typeface="Calibri"/>
              <a:ea typeface="Calibri"/>
              <a:cs typeface="Calibri"/>
              <a:sym typeface="Calibri"/>
            </a:endParaRPr>
          </a:p>
        </p:txBody>
      </p:sp>
      <p:pic>
        <p:nvPicPr>
          <p:cNvPr descr="preencoded.png" id="144" name="Google Shape;144;g3dec2639e5e_0_201"/>
          <p:cNvPicPr preferRelativeResize="0"/>
          <p:nvPr/>
        </p:nvPicPr>
        <p:blipFill rotWithShape="1">
          <a:blip r:embed="rId7">
            <a:alphaModFix/>
          </a:blip>
          <a:srcRect b="0" l="0" r="0" t="0"/>
          <a:stretch/>
        </p:blipFill>
        <p:spPr>
          <a:xfrm>
            <a:off x="4919472" y="2628511"/>
            <a:ext cx="164592" cy="164592"/>
          </a:xfrm>
          <a:prstGeom prst="rect">
            <a:avLst/>
          </a:prstGeom>
          <a:noFill/>
          <a:ln>
            <a:noFill/>
          </a:ln>
        </p:spPr>
      </p:pic>
      <p:sp>
        <p:nvSpPr>
          <p:cNvPr id="145" name="Google Shape;145;g3dec2639e5e_0_201"/>
          <p:cNvSpPr/>
          <p:nvPr/>
        </p:nvSpPr>
        <p:spPr>
          <a:xfrm>
            <a:off x="5138928" y="2564503"/>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Live web search: </a:t>
            </a:r>
            <a:r>
              <a:rPr b="0" i="0" lang="en-US" sz="850" u="none" cap="none" strike="noStrike">
                <a:solidFill>
                  <a:srgbClr val="4A6670"/>
                </a:solidFill>
                <a:latin typeface="Calibri"/>
                <a:ea typeface="Calibri"/>
                <a:cs typeface="Calibri"/>
                <a:sym typeface="Calibri"/>
              </a:rPr>
              <a:t>Responses draw on current web info, not just training data</a:t>
            </a:r>
            <a:endParaRPr b="0" i="0" sz="850" u="none" cap="none" strike="noStrike">
              <a:solidFill>
                <a:schemeClr val="dk1"/>
              </a:solidFill>
              <a:latin typeface="Calibri"/>
              <a:ea typeface="Calibri"/>
              <a:cs typeface="Calibri"/>
              <a:sym typeface="Calibri"/>
            </a:endParaRPr>
          </a:p>
        </p:txBody>
      </p:sp>
      <p:sp>
        <p:nvSpPr>
          <p:cNvPr id="146" name="Google Shape;146;g3dec2639e5e_0_201"/>
          <p:cNvSpPr/>
          <p:nvPr/>
        </p:nvSpPr>
        <p:spPr>
          <a:xfrm>
            <a:off x="256032" y="3035808"/>
            <a:ext cx="4160400" cy="1737300"/>
          </a:xfrm>
          <a:prstGeom prst="rect">
            <a:avLst/>
          </a:prstGeom>
          <a:solidFill>
            <a:srgbClr val="FFFFFF"/>
          </a:solidFill>
          <a:ln>
            <a:noFill/>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dec2639e5e_0_201"/>
          <p:cNvSpPr/>
          <p:nvPr/>
        </p:nvSpPr>
        <p:spPr>
          <a:xfrm>
            <a:off x="256032" y="3035808"/>
            <a:ext cx="164700" cy="1737300"/>
          </a:xfrm>
          <a:prstGeom prst="rect">
            <a:avLst/>
          </a:prstGeom>
          <a:solidFill>
            <a:srgbClr val="10A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ec2639e5e_0_201"/>
          <p:cNvSpPr/>
          <p:nvPr/>
        </p:nvSpPr>
        <p:spPr>
          <a:xfrm>
            <a:off x="512064" y="3127248"/>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500"/>
              <a:buFont typeface="Calibri"/>
              <a:buNone/>
            </a:pPr>
            <a:r>
              <a:rPr b="1" i="0" lang="en-US" sz="1500" u="none" cap="none" strike="noStrike">
                <a:solidFill>
                  <a:srgbClr val="1A2E35"/>
                </a:solidFill>
                <a:latin typeface="Calibri"/>
                <a:ea typeface="Calibri"/>
                <a:cs typeface="Calibri"/>
                <a:sym typeface="Calibri"/>
              </a:rPr>
              <a:t>Claude (Anthropic)</a:t>
            </a:r>
            <a:endParaRPr b="0" i="0" sz="1500" u="none" cap="none" strike="noStrike">
              <a:solidFill>
                <a:schemeClr val="dk1"/>
              </a:solidFill>
              <a:latin typeface="Calibri"/>
              <a:ea typeface="Calibri"/>
              <a:cs typeface="Calibri"/>
              <a:sym typeface="Calibri"/>
            </a:endParaRPr>
          </a:p>
        </p:txBody>
      </p:sp>
      <p:sp>
        <p:nvSpPr>
          <p:cNvPr id="149" name="Google Shape;149;g3dec2639e5e_0_201"/>
          <p:cNvSpPr/>
          <p:nvPr/>
        </p:nvSpPr>
        <p:spPr>
          <a:xfrm>
            <a:off x="512064" y="3456432"/>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1" lang="en-US" sz="900" u="none" cap="none" strike="noStrike">
                <a:solidFill>
                  <a:srgbClr val="4A6670"/>
                </a:solidFill>
                <a:latin typeface="Calibri"/>
                <a:ea typeface="Calibri"/>
                <a:cs typeface="Calibri"/>
                <a:sym typeface="Calibri"/>
              </a:rPr>
              <a:t>Best at following long, nuanced instructions without losing the thread</a:t>
            </a:r>
            <a:endParaRPr b="0" i="0" sz="900" u="none" cap="none" strike="noStrike">
              <a:solidFill>
                <a:schemeClr val="dk1"/>
              </a:solidFill>
              <a:latin typeface="Calibri"/>
              <a:ea typeface="Calibri"/>
              <a:cs typeface="Calibri"/>
              <a:sym typeface="Calibri"/>
            </a:endParaRPr>
          </a:p>
        </p:txBody>
      </p:sp>
      <p:sp>
        <p:nvSpPr>
          <p:cNvPr id="150" name="Google Shape;150;g3dec2639e5e_0_201"/>
          <p:cNvSpPr/>
          <p:nvPr/>
        </p:nvSpPr>
        <p:spPr>
          <a:xfrm>
            <a:off x="512064" y="3713048"/>
            <a:ext cx="3749100" cy="18300"/>
          </a:xfrm>
          <a:prstGeom prst="rect">
            <a:avLst/>
          </a:prstGeom>
          <a:solidFill>
            <a:srgbClr val="E8E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 name="Google Shape;151;g3dec2639e5e_0_201"/>
          <p:cNvPicPr preferRelativeResize="0"/>
          <p:nvPr/>
        </p:nvPicPr>
        <p:blipFill rotWithShape="1">
          <a:blip r:embed="rId6">
            <a:alphaModFix/>
          </a:blip>
          <a:srcRect b="0" l="0" r="0" t="0"/>
          <a:stretch/>
        </p:blipFill>
        <p:spPr>
          <a:xfrm>
            <a:off x="512064" y="3802688"/>
            <a:ext cx="164592" cy="164592"/>
          </a:xfrm>
          <a:prstGeom prst="rect">
            <a:avLst/>
          </a:prstGeom>
          <a:noFill/>
          <a:ln>
            <a:noFill/>
          </a:ln>
        </p:spPr>
      </p:pic>
      <p:sp>
        <p:nvSpPr>
          <p:cNvPr id="152" name="Google Shape;152;g3dec2639e5e_0_201"/>
          <p:cNvSpPr/>
          <p:nvPr/>
        </p:nvSpPr>
        <p:spPr>
          <a:xfrm>
            <a:off x="731520" y="3749624"/>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Long documents: </a:t>
            </a:r>
            <a:r>
              <a:rPr b="0" i="0" lang="en-US" sz="850" u="none" cap="none" strike="noStrike">
                <a:solidFill>
                  <a:srgbClr val="4A6670"/>
                </a:solidFill>
                <a:latin typeface="Calibri"/>
                <a:ea typeface="Calibri"/>
                <a:cs typeface="Calibri"/>
                <a:sym typeface="Calibri"/>
              </a:rPr>
              <a:t>Handles very long texts — full units, reports, handbooks</a:t>
            </a:r>
            <a:endParaRPr b="0" i="0" sz="850" u="none" cap="none" strike="noStrike">
              <a:solidFill>
                <a:schemeClr val="dk1"/>
              </a:solidFill>
              <a:latin typeface="Calibri"/>
              <a:ea typeface="Calibri"/>
              <a:cs typeface="Calibri"/>
              <a:sym typeface="Calibri"/>
            </a:endParaRPr>
          </a:p>
        </p:txBody>
      </p:sp>
      <p:pic>
        <p:nvPicPr>
          <p:cNvPr descr="preencoded.png" id="153" name="Google Shape;153;g3dec2639e5e_0_201"/>
          <p:cNvPicPr preferRelativeResize="0"/>
          <p:nvPr/>
        </p:nvPicPr>
        <p:blipFill rotWithShape="1">
          <a:blip r:embed="rId7">
            <a:alphaModFix/>
          </a:blip>
          <a:srcRect b="0" l="0" r="0" t="0"/>
          <a:stretch/>
        </p:blipFill>
        <p:spPr>
          <a:xfrm>
            <a:off x="512064" y="4113584"/>
            <a:ext cx="164592" cy="164592"/>
          </a:xfrm>
          <a:prstGeom prst="rect">
            <a:avLst/>
          </a:prstGeom>
          <a:noFill/>
          <a:ln>
            <a:noFill/>
          </a:ln>
        </p:spPr>
      </p:pic>
      <p:sp>
        <p:nvSpPr>
          <p:cNvPr id="154" name="Google Shape;154;g3dec2639e5e_0_201"/>
          <p:cNvSpPr/>
          <p:nvPr/>
        </p:nvSpPr>
        <p:spPr>
          <a:xfrm>
            <a:off x="731520" y="4060520"/>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Careful instructions: </a:t>
            </a:r>
            <a:r>
              <a:rPr b="0" i="0" lang="en-US" sz="850" u="none" cap="none" strike="noStrike">
                <a:solidFill>
                  <a:srgbClr val="4A6670"/>
                </a:solidFill>
                <a:latin typeface="Calibri"/>
                <a:ea typeface="Calibri"/>
                <a:cs typeface="Calibri"/>
                <a:sym typeface="Calibri"/>
              </a:rPr>
              <a:t>Complex multi-step instructions followed more reliably</a:t>
            </a:r>
            <a:endParaRPr b="0" i="0" sz="850" u="none" cap="none" strike="noStrike">
              <a:solidFill>
                <a:schemeClr val="dk1"/>
              </a:solidFill>
              <a:latin typeface="Calibri"/>
              <a:ea typeface="Calibri"/>
              <a:cs typeface="Calibri"/>
              <a:sym typeface="Calibri"/>
            </a:endParaRPr>
          </a:p>
        </p:txBody>
      </p:sp>
      <p:pic>
        <p:nvPicPr>
          <p:cNvPr descr="preencoded.png" id="155" name="Google Shape;155;g3dec2639e5e_0_201"/>
          <p:cNvPicPr preferRelativeResize="0"/>
          <p:nvPr/>
        </p:nvPicPr>
        <p:blipFill rotWithShape="1">
          <a:blip r:embed="rId5">
            <a:alphaModFix/>
          </a:blip>
          <a:srcRect b="0" l="0" r="0" t="0"/>
          <a:stretch/>
        </p:blipFill>
        <p:spPr>
          <a:xfrm>
            <a:off x="512064" y="4424480"/>
            <a:ext cx="164592" cy="164592"/>
          </a:xfrm>
          <a:prstGeom prst="rect">
            <a:avLst/>
          </a:prstGeom>
          <a:noFill/>
          <a:ln>
            <a:noFill/>
          </a:ln>
        </p:spPr>
      </p:pic>
      <p:sp>
        <p:nvSpPr>
          <p:cNvPr id="156" name="Google Shape;156;g3dec2639e5e_0_201"/>
          <p:cNvSpPr/>
          <p:nvPr/>
        </p:nvSpPr>
        <p:spPr>
          <a:xfrm>
            <a:off x="731520" y="4371416"/>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Nuanced writing: </a:t>
            </a:r>
            <a:r>
              <a:rPr b="0" i="0" lang="en-US" sz="850" u="none" cap="none" strike="noStrike">
                <a:solidFill>
                  <a:srgbClr val="4A6670"/>
                </a:solidFill>
                <a:latin typeface="Calibri"/>
                <a:ea typeface="Calibri"/>
                <a:cs typeface="Calibri"/>
                <a:sym typeface="Calibri"/>
              </a:rPr>
              <a:t>Nuanced feedback, sensitive emails, and complex edits</a:t>
            </a:r>
            <a:endParaRPr b="0" i="0" sz="850" u="none" cap="none" strike="noStrike">
              <a:solidFill>
                <a:schemeClr val="dk1"/>
              </a:solidFill>
              <a:latin typeface="Calibri"/>
              <a:ea typeface="Calibri"/>
              <a:cs typeface="Calibri"/>
              <a:sym typeface="Calibri"/>
            </a:endParaRPr>
          </a:p>
        </p:txBody>
      </p:sp>
      <p:sp>
        <p:nvSpPr>
          <p:cNvPr id="157" name="Google Shape;157;g3dec2639e5e_0_201"/>
          <p:cNvSpPr/>
          <p:nvPr/>
        </p:nvSpPr>
        <p:spPr>
          <a:xfrm>
            <a:off x="4663440" y="3035808"/>
            <a:ext cx="4160400" cy="1737300"/>
          </a:xfrm>
          <a:prstGeom prst="rect">
            <a:avLst/>
          </a:prstGeom>
          <a:solidFill>
            <a:srgbClr val="FFFFFF"/>
          </a:solidFill>
          <a:ln>
            <a:noFill/>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dec2639e5e_0_201"/>
          <p:cNvSpPr/>
          <p:nvPr/>
        </p:nvSpPr>
        <p:spPr>
          <a:xfrm>
            <a:off x="4663440" y="3035808"/>
            <a:ext cx="164700" cy="173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dec2639e5e_0_201"/>
          <p:cNvSpPr/>
          <p:nvPr/>
        </p:nvSpPr>
        <p:spPr>
          <a:xfrm>
            <a:off x="4919475" y="3127250"/>
            <a:ext cx="2074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500"/>
              <a:buFont typeface="Calibri"/>
              <a:buNone/>
            </a:pPr>
            <a:r>
              <a:rPr b="1" i="0" lang="en-US" sz="1500" u="none" cap="none" strike="noStrike">
                <a:solidFill>
                  <a:srgbClr val="1A2E35"/>
                </a:solidFill>
                <a:latin typeface="Calibri"/>
                <a:ea typeface="Calibri"/>
                <a:cs typeface="Calibri"/>
                <a:sym typeface="Calibri"/>
              </a:rPr>
              <a:t>NotebookLM (Google)</a:t>
            </a:r>
            <a:endParaRPr b="0" i="0" sz="1500" u="none" cap="none" strike="noStrike">
              <a:solidFill>
                <a:schemeClr val="dk1"/>
              </a:solidFill>
              <a:latin typeface="Calibri"/>
              <a:ea typeface="Calibri"/>
              <a:cs typeface="Calibri"/>
              <a:sym typeface="Calibri"/>
            </a:endParaRPr>
          </a:p>
        </p:txBody>
      </p:sp>
      <p:sp>
        <p:nvSpPr>
          <p:cNvPr id="160" name="Google Shape;160;g3dec2639e5e_0_201"/>
          <p:cNvSpPr/>
          <p:nvPr/>
        </p:nvSpPr>
        <p:spPr>
          <a:xfrm>
            <a:off x="4919472" y="3456432"/>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0" i="1" lang="en-US" sz="900" u="none" cap="none" strike="noStrike">
                <a:solidFill>
                  <a:srgbClr val="4A6670"/>
                </a:solidFill>
                <a:latin typeface="Calibri"/>
                <a:ea typeface="Calibri"/>
                <a:cs typeface="Calibri"/>
                <a:sym typeface="Calibri"/>
              </a:rPr>
              <a:t>Unique: answers only from YOUR uploaded sources — no internet hallucinations </a:t>
            </a:r>
            <a:r>
              <a:rPr i="1" lang="en-US" sz="900">
                <a:solidFill>
                  <a:srgbClr val="4A6670"/>
                </a:solidFill>
                <a:latin typeface="Calibri"/>
                <a:ea typeface="Calibri"/>
                <a:cs typeface="Calibri"/>
                <a:sym typeface="Calibri"/>
              </a:rPr>
              <a:t>– Your Personal Research Assistant!</a:t>
            </a:r>
            <a:endParaRPr b="0" i="0" sz="900" u="none" cap="none" strike="noStrike">
              <a:solidFill>
                <a:schemeClr val="dk1"/>
              </a:solidFill>
              <a:latin typeface="Calibri"/>
              <a:ea typeface="Calibri"/>
              <a:cs typeface="Calibri"/>
              <a:sym typeface="Calibri"/>
            </a:endParaRPr>
          </a:p>
        </p:txBody>
      </p:sp>
      <p:sp>
        <p:nvSpPr>
          <p:cNvPr id="161" name="Google Shape;161;g3dec2639e5e_0_201"/>
          <p:cNvSpPr/>
          <p:nvPr/>
        </p:nvSpPr>
        <p:spPr>
          <a:xfrm>
            <a:off x="4919472" y="3749040"/>
            <a:ext cx="3749100" cy="18300"/>
          </a:xfrm>
          <a:prstGeom prst="rect">
            <a:avLst/>
          </a:prstGeom>
          <a:solidFill>
            <a:srgbClr val="E8E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 name="Google Shape;162;g3dec2639e5e_0_201"/>
          <p:cNvPicPr preferRelativeResize="0"/>
          <p:nvPr/>
        </p:nvPicPr>
        <p:blipFill rotWithShape="1">
          <a:blip r:embed="rId8">
            <a:alphaModFix/>
          </a:blip>
          <a:srcRect b="0" l="0" r="0" t="0"/>
          <a:stretch/>
        </p:blipFill>
        <p:spPr>
          <a:xfrm>
            <a:off x="4919472" y="3849624"/>
            <a:ext cx="164592" cy="164592"/>
          </a:xfrm>
          <a:prstGeom prst="rect">
            <a:avLst/>
          </a:prstGeom>
          <a:noFill/>
          <a:ln>
            <a:noFill/>
          </a:ln>
        </p:spPr>
      </p:pic>
      <p:sp>
        <p:nvSpPr>
          <p:cNvPr id="163" name="Google Shape;163;g3dec2639e5e_0_201"/>
          <p:cNvSpPr/>
          <p:nvPr/>
        </p:nvSpPr>
        <p:spPr>
          <a:xfrm>
            <a:off x="5138928" y="3785616"/>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Grounded Q&amp;A: </a:t>
            </a:r>
            <a:r>
              <a:rPr b="0" i="0" lang="en-US" sz="850" u="none" cap="none" strike="noStrike">
                <a:solidFill>
                  <a:srgbClr val="4A6670"/>
                </a:solidFill>
                <a:latin typeface="Calibri"/>
                <a:ea typeface="Calibri"/>
                <a:cs typeface="Calibri"/>
                <a:sym typeface="Calibri"/>
              </a:rPr>
              <a:t>Ask questions — answers cited to your own materials only</a:t>
            </a:r>
            <a:endParaRPr b="0" i="0" sz="850" u="none" cap="none" strike="noStrike">
              <a:solidFill>
                <a:schemeClr val="dk1"/>
              </a:solidFill>
              <a:latin typeface="Calibri"/>
              <a:ea typeface="Calibri"/>
              <a:cs typeface="Calibri"/>
              <a:sym typeface="Calibri"/>
            </a:endParaRPr>
          </a:p>
        </p:txBody>
      </p:sp>
      <p:pic>
        <p:nvPicPr>
          <p:cNvPr descr="preencoded.png" id="164" name="Google Shape;164;g3dec2639e5e_0_201"/>
          <p:cNvPicPr preferRelativeResize="0"/>
          <p:nvPr/>
        </p:nvPicPr>
        <p:blipFill rotWithShape="1">
          <a:blip r:embed="rId9">
            <a:alphaModFix/>
          </a:blip>
          <a:srcRect b="0" l="0" r="0" t="0"/>
          <a:stretch/>
        </p:blipFill>
        <p:spPr>
          <a:xfrm>
            <a:off x="4919472" y="4160520"/>
            <a:ext cx="164592" cy="164592"/>
          </a:xfrm>
          <a:prstGeom prst="rect">
            <a:avLst/>
          </a:prstGeom>
          <a:noFill/>
          <a:ln>
            <a:noFill/>
          </a:ln>
        </p:spPr>
      </p:pic>
      <p:sp>
        <p:nvSpPr>
          <p:cNvPr id="165" name="Google Shape;165;g3dec2639e5e_0_201"/>
          <p:cNvSpPr/>
          <p:nvPr/>
        </p:nvSpPr>
        <p:spPr>
          <a:xfrm>
            <a:off x="5138928" y="4096512"/>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Audio Overview: </a:t>
            </a:r>
            <a:r>
              <a:rPr b="0" i="0" lang="en-US" sz="850" u="none" cap="none" strike="noStrike">
                <a:solidFill>
                  <a:srgbClr val="4A6670"/>
                </a:solidFill>
                <a:latin typeface="Calibri"/>
                <a:ea typeface="Calibri"/>
                <a:cs typeface="Calibri"/>
                <a:sym typeface="Calibri"/>
              </a:rPr>
              <a:t>Turns any doc into a podcast — great for long readings</a:t>
            </a:r>
            <a:endParaRPr b="0" i="0" sz="850" u="none" cap="none" strike="noStrike">
              <a:solidFill>
                <a:schemeClr val="dk1"/>
              </a:solidFill>
              <a:latin typeface="Calibri"/>
              <a:ea typeface="Calibri"/>
              <a:cs typeface="Calibri"/>
              <a:sym typeface="Calibri"/>
            </a:endParaRPr>
          </a:p>
        </p:txBody>
      </p:sp>
      <p:pic>
        <p:nvPicPr>
          <p:cNvPr descr="preencoded.png" id="166" name="Google Shape;166;g3dec2639e5e_0_201"/>
          <p:cNvPicPr preferRelativeResize="0"/>
          <p:nvPr/>
        </p:nvPicPr>
        <p:blipFill rotWithShape="1">
          <a:blip r:embed="rId6">
            <a:alphaModFix/>
          </a:blip>
          <a:srcRect b="0" l="0" r="0" t="0"/>
          <a:stretch/>
        </p:blipFill>
        <p:spPr>
          <a:xfrm>
            <a:off x="4919472" y="4471416"/>
            <a:ext cx="164592" cy="164592"/>
          </a:xfrm>
          <a:prstGeom prst="rect">
            <a:avLst/>
          </a:prstGeom>
          <a:noFill/>
          <a:ln>
            <a:noFill/>
          </a:ln>
        </p:spPr>
      </p:pic>
      <p:sp>
        <p:nvSpPr>
          <p:cNvPr id="167" name="Google Shape;167;g3dec2639e5e_0_201"/>
          <p:cNvSpPr/>
          <p:nvPr/>
        </p:nvSpPr>
        <p:spPr>
          <a:xfrm>
            <a:off x="5138928" y="4407408"/>
            <a:ext cx="3520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850"/>
              <a:buFont typeface="Calibri"/>
              <a:buNone/>
            </a:pPr>
            <a:r>
              <a:rPr b="1" i="0" lang="en-US" sz="850" u="none" cap="none" strike="noStrike">
                <a:solidFill>
                  <a:srgbClr val="1A2E35"/>
                </a:solidFill>
                <a:latin typeface="Calibri"/>
                <a:ea typeface="Calibri"/>
                <a:cs typeface="Calibri"/>
                <a:sym typeface="Calibri"/>
              </a:rPr>
              <a:t>Study materials: </a:t>
            </a:r>
            <a:r>
              <a:rPr b="0" i="0" lang="en-US" sz="850" u="none" cap="none" strike="noStrike">
                <a:solidFill>
                  <a:srgbClr val="4A6670"/>
                </a:solidFill>
                <a:latin typeface="Calibri"/>
                <a:ea typeface="Calibri"/>
                <a:cs typeface="Calibri"/>
                <a:sym typeface="Calibri"/>
              </a:rPr>
              <a:t>Auto-generates study guides, quizzes, and mind maps</a:t>
            </a:r>
            <a:endParaRPr b="0" i="0" sz="850" u="none" cap="none" strike="noStrike">
              <a:solidFill>
                <a:schemeClr val="dk1"/>
              </a:solidFill>
              <a:latin typeface="Calibri"/>
              <a:ea typeface="Calibri"/>
              <a:cs typeface="Calibri"/>
              <a:sym typeface="Calibri"/>
            </a:endParaRPr>
          </a:p>
        </p:txBody>
      </p:sp>
      <p:sp>
        <p:nvSpPr>
          <p:cNvPr id="168" name="Google Shape;168;g3dec2639e5e_0_201"/>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173" name="Shape 173"/>
        <p:cNvGrpSpPr/>
        <p:nvPr/>
      </p:nvGrpSpPr>
      <p:grpSpPr>
        <a:xfrm>
          <a:off x="0" y="0"/>
          <a:ext cx="0" cy="0"/>
          <a:chOff x="0" y="0"/>
          <a:chExt cx="0" cy="0"/>
        </a:xfrm>
      </p:grpSpPr>
      <p:sp>
        <p:nvSpPr>
          <p:cNvPr id="174" name="Google Shape;174;g3de8450f20b_0_67"/>
          <p:cNvSpPr/>
          <p:nvPr/>
        </p:nvSpPr>
        <p:spPr>
          <a:xfrm>
            <a:off x="0" y="0"/>
            <a:ext cx="9144000" cy="7773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de8450f20b_0_67"/>
          <p:cNvSpPr/>
          <p:nvPr/>
        </p:nvSpPr>
        <p:spPr>
          <a:xfrm>
            <a:off x="45720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900"/>
              <a:buFont typeface="Calibri"/>
              <a:buNone/>
            </a:pPr>
            <a:r>
              <a:rPr b="1" i="0" lang="en-US" sz="2000" u="none" cap="none" strike="noStrike">
                <a:solidFill>
                  <a:srgbClr val="A8D8D1"/>
                </a:solidFill>
                <a:latin typeface="Calibri"/>
                <a:ea typeface="Calibri"/>
                <a:cs typeface="Calibri"/>
                <a:sym typeface="Calibri"/>
              </a:rPr>
              <a:t>RESPONSIBLE USE</a:t>
            </a:r>
            <a:endParaRPr b="0" i="0" sz="2000" u="none" cap="none" strike="noStrike">
              <a:solidFill>
                <a:schemeClr val="dk1"/>
              </a:solidFill>
              <a:latin typeface="Calibri"/>
              <a:ea typeface="Calibri"/>
              <a:cs typeface="Calibri"/>
              <a:sym typeface="Calibri"/>
            </a:endParaRPr>
          </a:p>
        </p:txBody>
      </p:sp>
      <p:sp>
        <p:nvSpPr>
          <p:cNvPr id="176" name="Google Shape;176;g3de8450f20b_0_67"/>
          <p:cNvSpPr/>
          <p:nvPr/>
        </p:nvSpPr>
        <p:spPr>
          <a:xfrm>
            <a:off x="457200" y="91440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2600"/>
              <a:buFont typeface="Calibri"/>
              <a:buNone/>
            </a:pPr>
            <a:r>
              <a:rPr b="1" i="0" lang="en-US" sz="2600" u="none" cap="none" strike="noStrike">
                <a:solidFill>
                  <a:srgbClr val="1A2E35"/>
                </a:solidFill>
                <a:latin typeface="Calibri"/>
                <a:ea typeface="Calibri"/>
                <a:cs typeface="Calibri"/>
                <a:sym typeface="Calibri"/>
              </a:rPr>
              <a:t>What You Were Most Concerned About</a:t>
            </a:r>
            <a:endParaRPr b="0" i="0" sz="2600" u="none" cap="none" strike="noStrike">
              <a:solidFill>
                <a:schemeClr val="dk1"/>
              </a:solidFill>
              <a:latin typeface="Calibri"/>
              <a:ea typeface="Calibri"/>
              <a:cs typeface="Calibri"/>
              <a:sym typeface="Calibri"/>
            </a:endParaRPr>
          </a:p>
        </p:txBody>
      </p:sp>
      <p:sp>
        <p:nvSpPr>
          <p:cNvPr id="177" name="Google Shape;177;g3de8450f20b_0_67"/>
          <p:cNvSpPr/>
          <p:nvPr/>
        </p:nvSpPr>
        <p:spPr>
          <a:xfrm>
            <a:off x="457200" y="1645925"/>
            <a:ext cx="3431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000"/>
              <a:buFont typeface="Calibri"/>
              <a:buNone/>
            </a:pPr>
            <a:r>
              <a:rPr b="0" i="0" lang="en-US" sz="2000" u="none" cap="none" strike="noStrike">
                <a:solidFill>
                  <a:srgbClr val="1A2E35"/>
                </a:solidFill>
                <a:latin typeface="Calibri"/>
                <a:ea typeface="Calibri"/>
                <a:cs typeface="Calibri"/>
                <a:sym typeface="Calibri"/>
              </a:rPr>
              <a:t>Student overreliance</a:t>
            </a:r>
            <a:endParaRPr b="0" i="0" sz="2000" u="none" cap="none" strike="noStrike">
              <a:solidFill>
                <a:schemeClr val="dk1"/>
              </a:solidFill>
              <a:latin typeface="Calibri"/>
              <a:ea typeface="Calibri"/>
              <a:cs typeface="Calibri"/>
              <a:sym typeface="Calibri"/>
            </a:endParaRPr>
          </a:p>
        </p:txBody>
      </p:sp>
      <p:sp>
        <p:nvSpPr>
          <p:cNvPr id="178" name="Google Shape;178;g3de8450f20b_0_67"/>
          <p:cNvSpPr/>
          <p:nvPr/>
        </p:nvSpPr>
        <p:spPr>
          <a:xfrm>
            <a:off x="4025827" y="1673350"/>
            <a:ext cx="4112400" cy="274200"/>
          </a:xfrm>
          <a:prstGeom prst="rect">
            <a:avLst/>
          </a:prstGeom>
          <a:solidFill>
            <a:srgbClr val="E0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de8450f20b_0_67"/>
          <p:cNvSpPr/>
          <p:nvPr/>
        </p:nvSpPr>
        <p:spPr>
          <a:xfrm>
            <a:off x="4025827" y="1673350"/>
            <a:ext cx="3289800" cy="2742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de8450f20b_0_67"/>
          <p:cNvSpPr/>
          <p:nvPr/>
        </p:nvSpPr>
        <p:spPr>
          <a:xfrm>
            <a:off x="8275320" y="1645920"/>
            <a:ext cx="5943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1" i="0" lang="en-US" sz="900" u="none" cap="none" strike="noStrike">
                <a:solidFill>
                  <a:srgbClr val="4A6670"/>
                </a:solidFill>
                <a:latin typeface="Calibri"/>
                <a:ea typeface="Calibri"/>
                <a:cs typeface="Calibri"/>
                <a:sym typeface="Calibri"/>
              </a:rPr>
              <a:t>12/15</a:t>
            </a:r>
            <a:endParaRPr b="0" i="0" sz="900" u="none" cap="none" strike="noStrike">
              <a:solidFill>
                <a:schemeClr val="dk1"/>
              </a:solidFill>
              <a:latin typeface="Calibri"/>
              <a:ea typeface="Calibri"/>
              <a:cs typeface="Calibri"/>
              <a:sym typeface="Calibri"/>
            </a:endParaRPr>
          </a:p>
        </p:txBody>
      </p:sp>
      <p:sp>
        <p:nvSpPr>
          <p:cNvPr id="181" name="Google Shape;181;g3de8450f20b_0_67"/>
          <p:cNvSpPr/>
          <p:nvPr/>
        </p:nvSpPr>
        <p:spPr>
          <a:xfrm>
            <a:off x="457200" y="2267719"/>
            <a:ext cx="3431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000"/>
              <a:buFont typeface="Calibri"/>
              <a:buNone/>
            </a:pPr>
            <a:r>
              <a:rPr b="0" i="0" lang="en-US" sz="2000" u="none" cap="none" strike="noStrike">
                <a:solidFill>
                  <a:srgbClr val="1A2E35"/>
                </a:solidFill>
                <a:latin typeface="Calibri"/>
                <a:ea typeface="Calibri"/>
                <a:cs typeface="Calibri"/>
                <a:sym typeface="Calibri"/>
              </a:rPr>
              <a:t>Students losing thinking skills</a:t>
            </a:r>
            <a:endParaRPr b="0" i="0" sz="2000" u="none" cap="none" strike="noStrike">
              <a:solidFill>
                <a:schemeClr val="dk1"/>
              </a:solidFill>
              <a:latin typeface="Calibri"/>
              <a:ea typeface="Calibri"/>
              <a:cs typeface="Calibri"/>
              <a:sym typeface="Calibri"/>
            </a:endParaRPr>
          </a:p>
        </p:txBody>
      </p:sp>
      <p:sp>
        <p:nvSpPr>
          <p:cNvPr id="182" name="Google Shape;182;g3de8450f20b_0_67"/>
          <p:cNvSpPr/>
          <p:nvPr/>
        </p:nvSpPr>
        <p:spPr>
          <a:xfrm>
            <a:off x="4025827" y="2295144"/>
            <a:ext cx="4112400" cy="274200"/>
          </a:xfrm>
          <a:prstGeom prst="rect">
            <a:avLst/>
          </a:prstGeom>
          <a:solidFill>
            <a:srgbClr val="E0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de8450f20b_0_67"/>
          <p:cNvSpPr/>
          <p:nvPr/>
        </p:nvSpPr>
        <p:spPr>
          <a:xfrm>
            <a:off x="4025827" y="2295144"/>
            <a:ext cx="3002100" cy="2742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e8450f20b_0_67"/>
          <p:cNvSpPr/>
          <p:nvPr/>
        </p:nvSpPr>
        <p:spPr>
          <a:xfrm>
            <a:off x="8275320" y="2267712"/>
            <a:ext cx="5943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1" i="0" lang="en-US" sz="900" u="none" cap="none" strike="noStrike">
                <a:solidFill>
                  <a:srgbClr val="4A6670"/>
                </a:solidFill>
                <a:latin typeface="Calibri"/>
                <a:ea typeface="Calibri"/>
                <a:cs typeface="Calibri"/>
                <a:sym typeface="Calibri"/>
              </a:rPr>
              <a:t>11/15</a:t>
            </a:r>
            <a:endParaRPr b="0" i="0" sz="900" u="none" cap="none" strike="noStrike">
              <a:solidFill>
                <a:schemeClr val="dk1"/>
              </a:solidFill>
              <a:latin typeface="Calibri"/>
              <a:ea typeface="Calibri"/>
              <a:cs typeface="Calibri"/>
              <a:sym typeface="Calibri"/>
            </a:endParaRPr>
          </a:p>
        </p:txBody>
      </p:sp>
      <p:sp>
        <p:nvSpPr>
          <p:cNvPr id="185" name="Google Shape;185;g3de8450f20b_0_67"/>
          <p:cNvSpPr/>
          <p:nvPr/>
        </p:nvSpPr>
        <p:spPr>
          <a:xfrm>
            <a:off x="457200" y="2889512"/>
            <a:ext cx="3431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000"/>
              <a:buFont typeface="Calibri"/>
              <a:buNone/>
            </a:pPr>
            <a:r>
              <a:rPr b="0" i="0" lang="en-US" sz="2000" u="none" cap="none" strike="noStrike">
                <a:solidFill>
                  <a:srgbClr val="1A2E35"/>
                </a:solidFill>
                <a:latin typeface="Calibri"/>
                <a:ea typeface="Calibri"/>
                <a:cs typeface="Calibri"/>
                <a:sym typeface="Calibri"/>
              </a:rPr>
              <a:t>Academic dishonesty</a:t>
            </a:r>
            <a:endParaRPr b="0" i="0" sz="2000" u="none" cap="none" strike="noStrike">
              <a:solidFill>
                <a:schemeClr val="dk1"/>
              </a:solidFill>
              <a:latin typeface="Calibri"/>
              <a:ea typeface="Calibri"/>
              <a:cs typeface="Calibri"/>
              <a:sym typeface="Calibri"/>
            </a:endParaRPr>
          </a:p>
        </p:txBody>
      </p:sp>
      <p:sp>
        <p:nvSpPr>
          <p:cNvPr id="186" name="Google Shape;186;g3de8450f20b_0_67"/>
          <p:cNvSpPr/>
          <p:nvPr/>
        </p:nvSpPr>
        <p:spPr>
          <a:xfrm>
            <a:off x="4025827" y="2916937"/>
            <a:ext cx="4112400" cy="274200"/>
          </a:xfrm>
          <a:prstGeom prst="rect">
            <a:avLst/>
          </a:prstGeom>
          <a:solidFill>
            <a:srgbClr val="E0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de8450f20b_0_67"/>
          <p:cNvSpPr/>
          <p:nvPr/>
        </p:nvSpPr>
        <p:spPr>
          <a:xfrm>
            <a:off x="4025827" y="2916937"/>
            <a:ext cx="1932900" cy="2742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de8450f20b_0_67"/>
          <p:cNvSpPr/>
          <p:nvPr/>
        </p:nvSpPr>
        <p:spPr>
          <a:xfrm>
            <a:off x="8275320" y="2889504"/>
            <a:ext cx="5943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1" i="0" lang="en-US" sz="900" u="none" cap="none" strike="noStrike">
                <a:solidFill>
                  <a:srgbClr val="4A6670"/>
                </a:solidFill>
                <a:latin typeface="Calibri"/>
                <a:ea typeface="Calibri"/>
                <a:cs typeface="Calibri"/>
                <a:sym typeface="Calibri"/>
              </a:rPr>
              <a:t>7/15</a:t>
            </a:r>
            <a:endParaRPr b="0" i="0" sz="900" u="none" cap="none" strike="noStrike">
              <a:solidFill>
                <a:schemeClr val="dk1"/>
              </a:solidFill>
              <a:latin typeface="Calibri"/>
              <a:ea typeface="Calibri"/>
              <a:cs typeface="Calibri"/>
              <a:sym typeface="Calibri"/>
            </a:endParaRPr>
          </a:p>
        </p:txBody>
      </p:sp>
      <p:sp>
        <p:nvSpPr>
          <p:cNvPr id="189" name="Google Shape;189;g3de8450f20b_0_67"/>
          <p:cNvSpPr/>
          <p:nvPr/>
        </p:nvSpPr>
        <p:spPr>
          <a:xfrm>
            <a:off x="457200" y="3511306"/>
            <a:ext cx="3431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000"/>
              <a:buFont typeface="Calibri"/>
              <a:buNone/>
            </a:pPr>
            <a:r>
              <a:rPr b="0" i="0" lang="en-US" sz="2000" u="none" cap="none" strike="noStrike">
                <a:solidFill>
                  <a:srgbClr val="1A2E35"/>
                </a:solidFill>
                <a:latin typeface="Calibri"/>
                <a:ea typeface="Calibri"/>
                <a:cs typeface="Calibri"/>
                <a:sym typeface="Calibri"/>
              </a:rPr>
              <a:t>Teacher overreliance</a:t>
            </a:r>
            <a:endParaRPr b="0" i="0" sz="2000" u="none" cap="none" strike="noStrike">
              <a:solidFill>
                <a:schemeClr val="dk1"/>
              </a:solidFill>
              <a:latin typeface="Calibri"/>
              <a:ea typeface="Calibri"/>
              <a:cs typeface="Calibri"/>
              <a:sym typeface="Calibri"/>
            </a:endParaRPr>
          </a:p>
        </p:txBody>
      </p:sp>
      <p:sp>
        <p:nvSpPr>
          <p:cNvPr id="190" name="Google Shape;190;g3de8450f20b_0_67"/>
          <p:cNvSpPr/>
          <p:nvPr/>
        </p:nvSpPr>
        <p:spPr>
          <a:xfrm>
            <a:off x="4025827" y="3538731"/>
            <a:ext cx="4112400" cy="274200"/>
          </a:xfrm>
          <a:prstGeom prst="rect">
            <a:avLst/>
          </a:prstGeom>
          <a:solidFill>
            <a:srgbClr val="E0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de8450f20b_0_67"/>
          <p:cNvSpPr/>
          <p:nvPr/>
        </p:nvSpPr>
        <p:spPr>
          <a:xfrm>
            <a:off x="4025827" y="3538731"/>
            <a:ext cx="1356900" cy="2742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e8450f20b_0_67"/>
          <p:cNvSpPr/>
          <p:nvPr/>
        </p:nvSpPr>
        <p:spPr>
          <a:xfrm>
            <a:off x="8275320" y="3511296"/>
            <a:ext cx="5943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1" i="0" lang="en-US" sz="900" u="none" cap="none" strike="noStrike">
                <a:solidFill>
                  <a:srgbClr val="4A6670"/>
                </a:solidFill>
                <a:latin typeface="Calibri"/>
                <a:ea typeface="Calibri"/>
                <a:cs typeface="Calibri"/>
                <a:sym typeface="Calibri"/>
              </a:rPr>
              <a:t>5/15</a:t>
            </a:r>
            <a:endParaRPr b="0" i="0" sz="900" u="none" cap="none" strike="noStrike">
              <a:solidFill>
                <a:schemeClr val="dk1"/>
              </a:solidFill>
              <a:latin typeface="Calibri"/>
              <a:ea typeface="Calibri"/>
              <a:cs typeface="Calibri"/>
              <a:sym typeface="Calibri"/>
            </a:endParaRPr>
          </a:p>
        </p:txBody>
      </p:sp>
      <p:sp>
        <p:nvSpPr>
          <p:cNvPr id="193" name="Google Shape;193;g3de8450f20b_0_67"/>
          <p:cNvSpPr/>
          <p:nvPr/>
        </p:nvSpPr>
        <p:spPr>
          <a:xfrm>
            <a:off x="457200" y="4133099"/>
            <a:ext cx="3431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000"/>
              <a:buFont typeface="Calibri"/>
              <a:buNone/>
            </a:pPr>
            <a:r>
              <a:rPr b="0" i="0" lang="en-US" sz="2000" u="none" cap="none" strike="noStrike">
                <a:solidFill>
                  <a:srgbClr val="1A2E35"/>
                </a:solidFill>
                <a:latin typeface="Calibri"/>
                <a:ea typeface="Calibri"/>
                <a:cs typeface="Calibri"/>
                <a:sym typeface="Calibri"/>
              </a:rPr>
              <a:t>Privacy &amp; student data</a:t>
            </a:r>
            <a:endParaRPr b="0" i="0" sz="2000" u="none" cap="none" strike="noStrike">
              <a:solidFill>
                <a:schemeClr val="dk1"/>
              </a:solidFill>
              <a:latin typeface="Calibri"/>
              <a:ea typeface="Calibri"/>
              <a:cs typeface="Calibri"/>
              <a:sym typeface="Calibri"/>
            </a:endParaRPr>
          </a:p>
        </p:txBody>
      </p:sp>
      <p:sp>
        <p:nvSpPr>
          <p:cNvPr id="194" name="Google Shape;194;g3de8450f20b_0_67"/>
          <p:cNvSpPr/>
          <p:nvPr/>
        </p:nvSpPr>
        <p:spPr>
          <a:xfrm>
            <a:off x="4025827" y="4160524"/>
            <a:ext cx="4112400" cy="274200"/>
          </a:xfrm>
          <a:prstGeom prst="rect">
            <a:avLst/>
          </a:prstGeom>
          <a:solidFill>
            <a:srgbClr val="E0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de8450f20b_0_67"/>
          <p:cNvSpPr/>
          <p:nvPr/>
        </p:nvSpPr>
        <p:spPr>
          <a:xfrm>
            <a:off x="4025827" y="4160524"/>
            <a:ext cx="1110300" cy="2742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de8450f20b_0_67"/>
          <p:cNvSpPr/>
          <p:nvPr/>
        </p:nvSpPr>
        <p:spPr>
          <a:xfrm>
            <a:off x="8275320" y="4133088"/>
            <a:ext cx="5943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900"/>
              <a:buFont typeface="Calibri"/>
              <a:buNone/>
            </a:pPr>
            <a:r>
              <a:rPr b="1" i="0" lang="en-US" sz="900" u="none" cap="none" strike="noStrike">
                <a:solidFill>
                  <a:srgbClr val="4A6670"/>
                </a:solidFill>
                <a:latin typeface="Calibri"/>
                <a:ea typeface="Calibri"/>
                <a:cs typeface="Calibri"/>
                <a:sym typeface="Calibri"/>
              </a:rPr>
              <a:t>4/15</a:t>
            </a:r>
            <a:endParaRPr b="0" i="0" sz="900" u="none" cap="none" strike="noStrike">
              <a:solidFill>
                <a:schemeClr val="dk1"/>
              </a:solidFill>
              <a:latin typeface="Calibri"/>
              <a:ea typeface="Calibri"/>
              <a:cs typeface="Calibri"/>
              <a:sym typeface="Calibri"/>
            </a:endParaRPr>
          </a:p>
        </p:txBody>
      </p:sp>
      <p:sp>
        <p:nvSpPr>
          <p:cNvPr id="197" name="Google Shape;197;g3de8450f20b_0_67"/>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202" name="Shape 202"/>
        <p:cNvGrpSpPr/>
        <p:nvPr/>
      </p:nvGrpSpPr>
      <p:grpSpPr>
        <a:xfrm>
          <a:off x="0" y="0"/>
          <a:ext cx="0" cy="0"/>
          <a:chOff x="0" y="0"/>
          <a:chExt cx="0" cy="0"/>
        </a:xfrm>
      </p:grpSpPr>
      <p:sp>
        <p:nvSpPr>
          <p:cNvPr id="203" name="Google Shape;203;g3de9f7a870e_0_56"/>
          <p:cNvSpPr/>
          <p:nvPr/>
        </p:nvSpPr>
        <p:spPr>
          <a:xfrm>
            <a:off x="0" y="0"/>
            <a:ext cx="9144000" cy="7773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de9f7a870e_0_56"/>
          <p:cNvSpPr/>
          <p:nvPr/>
        </p:nvSpPr>
        <p:spPr>
          <a:xfrm>
            <a:off x="375150" y="925250"/>
            <a:ext cx="8393700" cy="386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2800"/>
              <a:buFont typeface="Calibri"/>
              <a:buNone/>
            </a:pPr>
            <a:r>
              <a:rPr b="1" lang="en-US" sz="3000">
                <a:solidFill>
                  <a:srgbClr val="1A2E35"/>
                </a:solidFill>
                <a:latin typeface="Calibri"/>
                <a:ea typeface="Calibri"/>
                <a:cs typeface="Calibri"/>
                <a:sym typeface="Calibri"/>
              </a:rPr>
              <a:t>Key Principle:</a:t>
            </a:r>
            <a:endParaRPr b="1" sz="3000">
              <a:solidFill>
                <a:srgbClr val="1A2E35"/>
              </a:solidFill>
              <a:latin typeface="Calibri"/>
              <a:ea typeface="Calibri"/>
              <a:cs typeface="Calibri"/>
              <a:sym typeface="Calibri"/>
            </a:endParaRPr>
          </a:p>
          <a:p>
            <a:pPr indent="0" lvl="0" marL="0" marR="0" rtl="0" algn="l">
              <a:spcBef>
                <a:spcPts val="0"/>
              </a:spcBef>
              <a:spcAft>
                <a:spcPts val="0"/>
              </a:spcAft>
              <a:buClr>
                <a:srgbClr val="1A2E35"/>
              </a:buClr>
              <a:buSzPts val="2800"/>
              <a:buFont typeface="Calibri"/>
              <a:buNone/>
            </a:pPr>
            <a:r>
              <a:t/>
            </a:r>
            <a:endParaRPr b="1" sz="3000">
              <a:solidFill>
                <a:srgbClr val="1A2E35"/>
              </a:solidFill>
              <a:latin typeface="Calibri"/>
              <a:ea typeface="Calibri"/>
              <a:cs typeface="Calibri"/>
              <a:sym typeface="Calibri"/>
            </a:endParaRPr>
          </a:p>
          <a:p>
            <a:pPr indent="0" lvl="0" marL="0" marR="0" rtl="0" algn="ctr">
              <a:spcBef>
                <a:spcPts val="0"/>
              </a:spcBef>
              <a:spcAft>
                <a:spcPts val="0"/>
              </a:spcAft>
              <a:buClr>
                <a:srgbClr val="1A2E35"/>
              </a:buClr>
              <a:buSzPts val="2800"/>
              <a:buFont typeface="Calibri"/>
              <a:buNone/>
            </a:pPr>
            <a:r>
              <a:rPr i="1" lang="en-US" sz="2900">
                <a:solidFill>
                  <a:srgbClr val="1A2E35"/>
                </a:solidFill>
                <a:latin typeface="Calibri"/>
                <a:ea typeface="Calibri"/>
                <a:cs typeface="Calibri"/>
                <a:sym typeface="Calibri"/>
              </a:rPr>
              <a:t>“If AI is doing the thinking, students are not learning. AI should support thinking — not replace it.”</a:t>
            </a:r>
            <a:endParaRPr i="1" sz="2900">
              <a:solidFill>
                <a:srgbClr val="1A2E35"/>
              </a:solidFill>
              <a:latin typeface="Calibri"/>
              <a:ea typeface="Calibri"/>
              <a:cs typeface="Calibri"/>
              <a:sym typeface="Calibri"/>
            </a:endParaRPr>
          </a:p>
          <a:p>
            <a:pPr indent="0" lvl="0" marL="0" marR="0" rtl="0" algn="l">
              <a:spcBef>
                <a:spcPts val="0"/>
              </a:spcBef>
              <a:spcAft>
                <a:spcPts val="0"/>
              </a:spcAft>
              <a:buClr>
                <a:srgbClr val="1A2E35"/>
              </a:buClr>
              <a:buSzPts val="2800"/>
              <a:buFont typeface="Calibri"/>
              <a:buNone/>
            </a:pPr>
            <a:r>
              <a:t/>
            </a:r>
            <a:endParaRPr b="1" sz="3000">
              <a:solidFill>
                <a:srgbClr val="1A2E35"/>
              </a:solidFill>
              <a:latin typeface="Calibri"/>
              <a:ea typeface="Calibri"/>
              <a:cs typeface="Calibri"/>
              <a:sym typeface="Calibri"/>
            </a:endParaRPr>
          </a:p>
        </p:txBody>
      </p:sp>
      <p:sp>
        <p:nvSpPr>
          <p:cNvPr id="205" name="Google Shape;205;g3de9f7a870e_0_56"/>
          <p:cNvSpPr/>
          <p:nvPr/>
        </p:nvSpPr>
        <p:spPr>
          <a:xfrm>
            <a:off x="45720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900"/>
              <a:buFont typeface="Calibri"/>
              <a:buNone/>
            </a:pPr>
            <a:r>
              <a:rPr b="1" i="0" lang="en-US" sz="2000" u="none" cap="none" strike="noStrike">
                <a:solidFill>
                  <a:srgbClr val="A8D8D1"/>
                </a:solidFill>
                <a:latin typeface="Calibri"/>
                <a:ea typeface="Calibri"/>
                <a:cs typeface="Calibri"/>
                <a:sym typeface="Calibri"/>
              </a:rPr>
              <a:t>RESPONSIBLE USE</a:t>
            </a:r>
            <a:endParaRPr b="0" i="0" sz="2000" u="none" cap="none" strike="noStrike">
              <a:solidFill>
                <a:schemeClr val="dk1"/>
              </a:solidFill>
              <a:latin typeface="Calibri"/>
              <a:ea typeface="Calibri"/>
              <a:cs typeface="Calibri"/>
              <a:sym typeface="Calibri"/>
            </a:endParaRPr>
          </a:p>
        </p:txBody>
      </p:sp>
      <p:sp>
        <p:nvSpPr>
          <p:cNvPr id="206" name="Google Shape;206;g3de9f7a870e_0_56"/>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4"/>
        </a:solidFill>
      </p:bgPr>
    </p:bg>
    <p:spTree>
      <p:nvGrpSpPr>
        <p:cNvPr id="211" name="Shape 211"/>
        <p:cNvGrpSpPr/>
        <p:nvPr/>
      </p:nvGrpSpPr>
      <p:grpSpPr>
        <a:xfrm>
          <a:off x="0" y="0"/>
          <a:ext cx="0" cy="0"/>
          <a:chOff x="0" y="0"/>
          <a:chExt cx="0" cy="0"/>
        </a:xfrm>
      </p:grpSpPr>
      <p:sp>
        <p:nvSpPr>
          <p:cNvPr id="212" name="Google Shape;212;g3d683ea5a12_1_8"/>
          <p:cNvSpPr/>
          <p:nvPr/>
        </p:nvSpPr>
        <p:spPr>
          <a:xfrm>
            <a:off x="0" y="0"/>
            <a:ext cx="9144000" cy="63900"/>
          </a:xfrm>
          <a:prstGeom prst="rect">
            <a:avLst/>
          </a:prstGeom>
          <a:solidFill>
            <a:srgbClr val="0C447C"/>
          </a:solidFill>
          <a:ln cap="flat" cmpd="sng" w="12700">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d683ea5a12_1_8"/>
          <p:cNvSpPr/>
          <p:nvPr/>
        </p:nvSpPr>
        <p:spPr>
          <a:xfrm>
            <a:off x="411480" y="224023"/>
            <a:ext cx="8321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2C2A"/>
              </a:buClr>
              <a:buSzPts val="2200"/>
              <a:buFont typeface="Calibri"/>
              <a:buNone/>
            </a:pPr>
            <a:r>
              <a:rPr b="1" i="0" lang="en-US" sz="2200" u="none" cap="none" strike="noStrike">
                <a:solidFill>
                  <a:srgbClr val="2C2C2A"/>
                </a:solidFill>
                <a:latin typeface="Calibri"/>
                <a:ea typeface="Calibri"/>
                <a:cs typeface="Calibri"/>
                <a:sym typeface="Calibri"/>
              </a:rPr>
              <a:t>When does AI help </a:t>
            </a:r>
            <a:r>
              <a:rPr b="1" lang="en-US" sz="2200">
                <a:solidFill>
                  <a:srgbClr val="2C2C2A"/>
                </a:solidFill>
                <a:latin typeface="Calibri"/>
                <a:ea typeface="Calibri"/>
                <a:cs typeface="Calibri"/>
                <a:sym typeface="Calibri"/>
              </a:rPr>
              <a:t>vs. harm?</a:t>
            </a:r>
            <a:endParaRPr b="0" i="0" sz="2200" u="none" cap="none" strike="noStrike">
              <a:solidFill>
                <a:schemeClr val="dk1"/>
              </a:solidFill>
              <a:latin typeface="Calibri"/>
              <a:ea typeface="Calibri"/>
              <a:cs typeface="Calibri"/>
              <a:sym typeface="Calibri"/>
            </a:endParaRPr>
          </a:p>
        </p:txBody>
      </p:sp>
      <p:cxnSp>
        <p:nvCxnSpPr>
          <p:cNvPr id="214" name="Google Shape;214;g3d683ea5a12_1_8"/>
          <p:cNvCxnSpPr/>
          <p:nvPr/>
        </p:nvCxnSpPr>
        <p:spPr>
          <a:xfrm>
            <a:off x="2766028" y="1704788"/>
            <a:ext cx="1097400" cy="0"/>
          </a:xfrm>
          <a:prstGeom prst="straightConnector1">
            <a:avLst/>
          </a:prstGeom>
          <a:noFill/>
          <a:ln cap="flat" cmpd="sng" w="19050">
            <a:solidFill>
              <a:srgbClr val="B4B2A9"/>
            </a:solidFill>
            <a:prstDash val="solid"/>
            <a:round/>
            <a:headEnd len="sm" w="sm" type="none"/>
            <a:tailEnd len="med" w="med" type="stealth"/>
          </a:ln>
        </p:spPr>
      </p:cxnSp>
      <p:cxnSp>
        <p:nvCxnSpPr>
          <p:cNvPr id="215" name="Google Shape;215;g3d683ea5a12_1_8"/>
          <p:cNvCxnSpPr/>
          <p:nvPr/>
        </p:nvCxnSpPr>
        <p:spPr>
          <a:xfrm>
            <a:off x="5372068" y="1704788"/>
            <a:ext cx="1005900" cy="0"/>
          </a:xfrm>
          <a:prstGeom prst="straightConnector1">
            <a:avLst/>
          </a:prstGeom>
          <a:noFill/>
          <a:ln cap="flat" cmpd="sng" w="19050">
            <a:solidFill>
              <a:srgbClr val="B4B2A9"/>
            </a:solidFill>
            <a:prstDash val="solid"/>
            <a:round/>
            <a:headEnd len="sm" w="sm" type="none"/>
            <a:tailEnd len="med" w="med" type="stealth"/>
          </a:ln>
        </p:spPr>
      </p:cxnSp>
      <p:cxnSp>
        <p:nvCxnSpPr>
          <p:cNvPr id="216" name="Google Shape;216;g3d683ea5a12_1_8"/>
          <p:cNvCxnSpPr/>
          <p:nvPr/>
        </p:nvCxnSpPr>
        <p:spPr>
          <a:xfrm>
            <a:off x="411480" y="2971800"/>
            <a:ext cx="8321100" cy="0"/>
          </a:xfrm>
          <a:prstGeom prst="straightConnector1">
            <a:avLst/>
          </a:prstGeom>
          <a:noFill/>
          <a:ln cap="flat" cmpd="sng" w="9525">
            <a:solidFill>
              <a:srgbClr val="D3D1C7"/>
            </a:solidFill>
            <a:prstDash val="solid"/>
            <a:round/>
            <a:headEnd len="sm" w="sm" type="none"/>
            <a:tailEnd len="sm" w="sm" type="none"/>
          </a:ln>
        </p:spPr>
      </p:cxnSp>
      <p:cxnSp>
        <p:nvCxnSpPr>
          <p:cNvPr id="217" name="Google Shape;217;g3d683ea5a12_1_8"/>
          <p:cNvCxnSpPr/>
          <p:nvPr/>
        </p:nvCxnSpPr>
        <p:spPr>
          <a:xfrm>
            <a:off x="4526280" y="3017520"/>
            <a:ext cx="0" cy="1691700"/>
          </a:xfrm>
          <a:prstGeom prst="straightConnector1">
            <a:avLst/>
          </a:prstGeom>
          <a:noFill/>
          <a:ln cap="flat" cmpd="sng" w="9525">
            <a:solidFill>
              <a:srgbClr val="D3D1C7"/>
            </a:solidFill>
            <a:prstDash val="solid"/>
            <a:round/>
            <a:headEnd len="sm" w="sm" type="none"/>
            <a:tailEnd len="sm" w="sm" type="none"/>
          </a:ln>
        </p:spPr>
      </p:cxnSp>
      <p:sp>
        <p:nvSpPr>
          <p:cNvPr id="218" name="Google Shape;218;g3d683ea5a12_1_8"/>
          <p:cNvSpPr/>
          <p:nvPr/>
        </p:nvSpPr>
        <p:spPr>
          <a:xfrm>
            <a:off x="411480" y="3035808"/>
            <a:ext cx="63900" cy="1371600"/>
          </a:xfrm>
          <a:prstGeom prst="rect">
            <a:avLst/>
          </a:prstGeom>
          <a:solidFill>
            <a:srgbClr val="0F6E56"/>
          </a:solidFill>
          <a:ln cap="flat" cmpd="sng" w="12700">
            <a:solidFill>
              <a:srgbClr val="0F6E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d683ea5a12_1_8"/>
          <p:cNvSpPr/>
          <p:nvPr/>
        </p:nvSpPr>
        <p:spPr>
          <a:xfrm>
            <a:off x="548640" y="3035808"/>
            <a:ext cx="37947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000"/>
              <a:buFont typeface="Calibri"/>
              <a:buNone/>
            </a:pPr>
            <a:r>
              <a:rPr b="1" i="0" lang="en-US" sz="1700" u="none" cap="none" strike="noStrike">
                <a:solidFill>
                  <a:srgbClr val="0F6E56"/>
                </a:solidFill>
                <a:latin typeface="Calibri"/>
                <a:ea typeface="Calibri"/>
                <a:cs typeface="Calibri"/>
                <a:sym typeface="Calibri"/>
              </a:rPr>
              <a:t>Where AI supports learning</a:t>
            </a:r>
            <a:endParaRPr b="0" i="0" sz="1700" u="none" cap="none" strike="noStrike">
              <a:solidFill>
                <a:schemeClr val="dk1"/>
              </a:solidFill>
              <a:latin typeface="Calibri"/>
              <a:ea typeface="Calibri"/>
              <a:cs typeface="Calibri"/>
              <a:sym typeface="Calibri"/>
            </a:endParaRPr>
          </a:p>
        </p:txBody>
      </p:sp>
      <p:sp>
        <p:nvSpPr>
          <p:cNvPr id="220" name="Google Shape;220;g3d683ea5a12_1_8"/>
          <p:cNvSpPr/>
          <p:nvPr/>
        </p:nvSpPr>
        <p:spPr>
          <a:xfrm>
            <a:off x="548640" y="3346704"/>
            <a:ext cx="3794700" cy="1143000"/>
          </a:xfrm>
          <a:prstGeom prst="rect">
            <a:avLst/>
          </a:prstGeom>
          <a:noFill/>
          <a:ln>
            <a:noFill/>
          </a:ln>
        </p:spPr>
        <p:txBody>
          <a:bodyPr anchorCtr="0" anchor="ctr" bIns="45700" lIns="91425" spcFirstLastPara="1" rIns="91425" wrap="square" tIns="45700">
            <a:noAutofit/>
          </a:bodyPr>
          <a:lstStyle/>
          <a:p>
            <a:pPr indent="-377825" lvl="0" marL="342900" marR="0" rtl="0" algn="l">
              <a:spcBef>
                <a:spcPts val="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Brainstorming &amp; generating </a:t>
            </a:r>
            <a:r>
              <a:rPr lang="en-US" sz="1500">
                <a:solidFill>
                  <a:srgbClr val="5F5E5A"/>
                </a:solidFill>
                <a:latin typeface="Calibri"/>
                <a:ea typeface="Calibri"/>
                <a:cs typeface="Calibri"/>
                <a:sym typeface="Calibri"/>
              </a:rPr>
              <a:t>ideas</a:t>
            </a:r>
            <a:endParaRPr b="0" i="0" sz="1500" u="none" cap="none" strike="noStrike">
              <a:solidFill>
                <a:schemeClr val="dk1"/>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Differentiating materials</a:t>
            </a:r>
            <a:endParaRPr sz="1500">
              <a:solidFill>
                <a:srgbClr val="5F5E5A"/>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Summarizing long documents/videos</a:t>
            </a:r>
            <a:endParaRPr b="0" i="0" sz="1500" u="none" cap="none" strike="noStrike">
              <a:solidFill>
                <a:schemeClr val="dk1"/>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Drafting &amp; polishing communications</a:t>
            </a:r>
            <a:endParaRPr b="0" i="0" sz="1500" u="none" cap="none" strike="noStrike">
              <a:solidFill>
                <a:schemeClr val="dk1"/>
              </a:solidFill>
              <a:latin typeface="Calibri"/>
              <a:ea typeface="Calibri"/>
              <a:cs typeface="Calibri"/>
              <a:sym typeface="Calibri"/>
            </a:endParaRPr>
          </a:p>
        </p:txBody>
      </p:sp>
      <p:sp>
        <p:nvSpPr>
          <p:cNvPr id="221" name="Google Shape;221;g3d683ea5a12_1_8"/>
          <p:cNvSpPr/>
          <p:nvPr/>
        </p:nvSpPr>
        <p:spPr>
          <a:xfrm>
            <a:off x="4663440" y="3035808"/>
            <a:ext cx="63900" cy="1371600"/>
          </a:xfrm>
          <a:prstGeom prst="rect">
            <a:avLst/>
          </a:prstGeom>
          <a:solidFill>
            <a:srgbClr val="993C1D"/>
          </a:solidFill>
          <a:ln cap="flat" cmpd="sng" w="12700">
            <a:solidFill>
              <a:srgbClr val="993C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683ea5a12_1_8"/>
          <p:cNvSpPr/>
          <p:nvPr/>
        </p:nvSpPr>
        <p:spPr>
          <a:xfrm>
            <a:off x="4800600" y="3035808"/>
            <a:ext cx="384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3C1D"/>
              </a:buClr>
              <a:buSzPts val="1000"/>
              <a:buFont typeface="Calibri"/>
              <a:buNone/>
            </a:pPr>
            <a:r>
              <a:rPr b="1" i="0" lang="en-US" sz="1700" u="none" cap="none" strike="noStrike">
                <a:solidFill>
                  <a:srgbClr val="993C1D"/>
                </a:solidFill>
                <a:latin typeface="Calibri"/>
                <a:ea typeface="Calibri"/>
                <a:cs typeface="Calibri"/>
                <a:sym typeface="Calibri"/>
              </a:rPr>
              <a:t>Where AI gets in the way</a:t>
            </a:r>
            <a:endParaRPr b="0" i="0" sz="1700" u="none" cap="none" strike="noStrike">
              <a:solidFill>
                <a:schemeClr val="dk1"/>
              </a:solidFill>
              <a:latin typeface="Calibri"/>
              <a:ea typeface="Calibri"/>
              <a:cs typeface="Calibri"/>
              <a:sym typeface="Calibri"/>
            </a:endParaRPr>
          </a:p>
        </p:txBody>
      </p:sp>
      <p:sp>
        <p:nvSpPr>
          <p:cNvPr id="223" name="Google Shape;223;g3d683ea5a12_1_8"/>
          <p:cNvSpPr/>
          <p:nvPr/>
        </p:nvSpPr>
        <p:spPr>
          <a:xfrm>
            <a:off x="4800600" y="3346700"/>
            <a:ext cx="4094400" cy="1143000"/>
          </a:xfrm>
          <a:prstGeom prst="rect">
            <a:avLst/>
          </a:prstGeom>
          <a:noFill/>
          <a:ln>
            <a:noFill/>
          </a:ln>
        </p:spPr>
        <p:txBody>
          <a:bodyPr anchorCtr="0" anchor="ctr" bIns="45700" lIns="91425" spcFirstLastPara="1" rIns="91425" wrap="square" tIns="45700">
            <a:noAutofit/>
          </a:bodyPr>
          <a:lstStyle/>
          <a:p>
            <a:pPr indent="-377825" lvl="0" marL="342900" marR="0" rtl="0" algn="l">
              <a:spcBef>
                <a:spcPts val="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Replacing student thinking or writing</a:t>
            </a:r>
            <a:endParaRPr b="0" i="0" sz="1500" u="none" cap="none" strike="noStrike">
              <a:solidFill>
                <a:schemeClr val="dk1"/>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Completing full assignments for students</a:t>
            </a:r>
            <a:endParaRPr b="0" i="0" sz="1500" u="none" cap="none" strike="noStrike">
              <a:solidFill>
                <a:schemeClr val="dk1"/>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Bypassing productive struggle</a:t>
            </a:r>
            <a:endParaRPr b="0" i="0" sz="1500" u="none" cap="none" strike="noStrike">
              <a:solidFill>
                <a:schemeClr val="dk1"/>
              </a:solidFill>
              <a:latin typeface="Calibri"/>
              <a:ea typeface="Calibri"/>
              <a:cs typeface="Calibri"/>
              <a:sym typeface="Calibri"/>
            </a:endParaRPr>
          </a:p>
          <a:p>
            <a:pPr indent="-377825" lvl="0" marL="342900" marR="0" rtl="0" algn="l">
              <a:spcBef>
                <a:spcPts val="300"/>
              </a:spcBef>
              <a:spcAft>
                <a:spcPts val="0"/>
              </a:spcAft>
              <a:buClr>
                <a:srgbClr val="5F5E5A"/>
              </a:buClr>
              <a:buSzPts val="1500"/>
              <a:buFont typeface="Calibri"/>
              <a:buChar char="•"/>
            </a:pPr>
            <a:r>
              <a:rPr b="0" i="0" lang="en-US" sz="1500" u="none" cap="none" strike="noStrike">
                <a:solidFill>
                  <a:srgbClr val="5F5E5A"/>
                </a:solidFill>
                <a:latin typeface="Calibri"/>
                <a:ea typeface="Calibri"/>
                <a:cs typeface="Calibri"/>
                <a:sym typeface="Calibri"/>
              </a:rPr>
              <a:t>Trusting AI output without verification</a:t>
            </a:r>
            <a:endParaRPr b="0" i="0" sz="1500" u="none" cap="none" strike="noStrike">
              <a:solidFill>
                <a:schemeClr val="dk1"/>
              </a:solidFill>
              <a:latin typeface="Calibri"/>
              <a:ea typeface="Calibri"/>
              <a:cs typeface="Calibri"/>
              <a:sym typeface="Calibri"/>
            </a:endParaRPr>
          </a:p>
        </p:txBody>
      </p:sp>
      <p:pic>
        <p:nvPicPr>
          <p:cNvPr descr="preencoded.png" id="224" name="Google Shape;224;g3d683ea5a12_1_8"/>
          <p:cNvPicPr preferRelativeResize="0"/>
          <p:nvPr/>
        </p:nvPicPr>
        <p:blipFill rotWithShape="1">
          <a:blip r:embed="rId3">
            <a:alphaModFix/>
          </a:blip>
          <a:srcRect b="0" l="0" r="0" t="0"/>
          <a:stretch/>
        </p:blipFill>
        <p:spPr>
          <a:xfrm>
            <a:off x="940904" y="754090"/>
            <a:ext cx="1691640" cy="1691640"/>
          </a:xfrm>
          <a:prstGeom prst="rect">
            <a:avLst/>
          </a:prstGeom>
          <a:noFill/>
          <a:ln>
            <a:noFill/>
          </a:ln>
        </p:spPr>
      </p:pic>
      <p:sp>
        <p:nvSpPr>
          <p:cNvPr id="225" name="Google Shape;225;g3d683ea5a12_1_8"/>
          <p:cNvSpPr/>
          <p:nvPr/>
        </p:nvSpPr>
        <p:spPr>
          <a:xfrm>
            <a:off x="-452176" y="2473192"/>
            <a:ext cx="4477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1050"/>
              <a:buFont typeface="Calibri"/>
              <a:buNone/>
            </a:pPr>
            <a:r>
              <a:rPr b="1" lang="en-US" sz="2000">
                <a:solidFill>
                  <a:srgbClr val="0C447C"/>
                </a:solidFill>
                <a:latin typeface="Calibri"/>
                <a:ea typeface="Calibri"/>
                <a:cs typeface="Calibri"/>
                <a:sym typeface="Calibri"/>
              </a:rPr>
              <a:t>Human Inquiry &amp; Thinking</a:t>
            </a:r>
            <a:endParaRPr b="1" sz="2000">
              <a:solidFill>
                <a:srgbClr val="0C447C"/>
              </a:solidFill>
              <a:latin typeface="Calibri"/>
              <a:ea typeface="Calibri"/>
              <a:cs typeface="Calibri"/>
              <a:sym typeface="Calibri"/>
            </a:endParaRPr>
          </a:p>
        </p:txBody>
      </p:sp>
      <p:pic>
        <p:nvPicPr>
          <p:cNvPr descr="preencoded.png" id="226" name="Google Shape;226;g3d683ea5a12_1_8"/>
          <p:cNvPicPr preferRelativeResize="0"/>
          <p:nvPr/>
        </p:nvPicPr>
        <p:blipFill rotWithShape="1">
          <a:blip r:embed="rId4">
            <a:alphaModFix/>
          </a:blip>
          <a:srcRect b="0" l="0" r="0" t="0"/>
          <a:stretch/>
        </p:blipFill>
        <p:spPr>
          <a:xfrm>
            <a:off x="3974265" y="959830"/>
            <a:ext cx="1280160" cy="1280160"/>
          </a:xfrm>
          <a:prstGeom prst="rect">
            <a:avLst/>
          </a:prstGeom>
          <a:noFill/>
          <a:ln>
            <a:noFill/>
          </a:ln>
        </p:spPr>
      </p:pic>
      <p:sp>
        <p:nvSpPr>
          <p:cNvPr id="227" name="Google Shape;227;g3d683ea5a12_1_8"/>
          <p:cNvSpPr/>
          <p:nvPr/>
        </p:nvSpPr>
        <p:spPr>
          <a:xfrm>
            <a:off x="3768494" y="552392"/>
            <a:ext cx="16917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C1D"/>
              </a:buClr>
              <a:buSzPts val="1050"/>
              <a:buFont typeface="Calibri"/>
              <a:buNone/>
            </a:pPr>
            <a:r>
              <a:rPr b="1" i="0" lang="en-US" sz="2000" u="none" cap="none" strike="noStrike">
                <a:solidFill>
                  <a:srgbClr val="993C1D"/>
                </a:solidFill>
                <a:latin typeface="Calibri"/>
                <a:ea typeface="Calibri"/>
                <a:cs typeface="Calibri"/>
                <a:sym typeface="Calibri"/>
              </a:rPr>
              <a:t>AI</a:t>
            </a:r>
            <a:endParaRPr b="0" i="0" sz="2000" u="none" cap="none" strike="noStrike">
              <a:solidFill>
                <a:schemeClr val="dk1"/>
              </a:solidFill>
              <a:latin typeface="Calibri"/>
              <a:ea typeface="Calibri"/>
              <a:cs typeface="Calibri"/>
              <a:sym typeface="Calibri"/>
            </a:endParaRPr>
          </a:p>
        </p:txBody>
      </p:sp>
      <p:pic>
        <p:nvPicPr>
          <p:cNvPr descr="preencoded.png" id="228" name="Google Shape;228;g3d683ea5a12_1_8"/>
          <p:cNvPicPr preferRelativeResize="0"/>
          <p:nvPr/>
        </p:nvPicPr>
        <p:blipFill rotWithShape="1">
          <a:blip r:embed="rId5">
            <a:alphaModFix/>
          </a:blip>
          <a:srcRect b="0" l="0" r="0" t="0"/>
          <a:stretch/>
        </p:blipFill>
        <p:spPr>
          <a:xfrm>
            <a:off x="6492020" y="754090"/>
            <a:ext cx="1691640" cy="1691640"/>
          </a:xfrm>
          <a:prstGeom prst="rect">
            <a:avLst/>
          </a:prstGeom>
          <a:noFill/>
          <a:ln>
            <a:noFill/>
          </a:ln>
        </p:spPr>
      </p:pic>
      <p:sp>
        <p:nvSpPr>
          <p:cNvPr id="229" name="Google Shape;229;g3d683ea5a12_1_8"/>
          <p:cNvSpPr/>
          <p:nvPr/>
        </p:nvSpPr>
        <p:spPr>
          <a:xfrm>
            <a:off x="5509054" y="2482342"/>
            <a:ext cx="3657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56"/>
              </a:buClr>
              <a:buSzPts val="1050"/>
              <a:buFont typeface="Calibri"/>
              <a:buNone/>
            </a:pPr>
            <a:r>
              <a:rPr b="1" i="0" lang="en-US" sz="2000" u="none" cap="none" strike="noStrike">
                <a:solidFill>
                  <a:srgbClr val="0F6E56"/>
                </a:solidFill>
                <a:latin typeface="Calibri"/>
                <a:ea typeface="Calibri"/>
                <a:cs typeface="Calibri"/>
                <a:sym typeface="Calibri"/>
              </a:rPr>
              <a:t>Deeper</a:t>
            </a:r>
            <a:r>
              <a:rPr b="1" lang="en-US" sz="2000">
                <a:solidFill>
                  <a:srgbClr val="0F6E56"/>
                </a:solidFill>
                <a:latin typeface="Calibri"/>
                <a:ea typeface="Calibri"/>
                <a:cs typeface="Calibri"/>
                <a:sym typeface="Calibri"/>
              </a:rPr>
              <a:t> L</a:t>
            </a:r>
            <a:r>
              <a:rPr b="1" i="0" lang="en-US" sz="2000" u="none" cap="none" strike="noStrike">
                <a:solidFill>
                  <a:srgbClr val="0F6E56"/>
                </a:solidFill>
                <a:latin typeface="Calibri"/>
                <a:ea typeface="Calibri"/>
                <a:cs typeface="Calibri"/>
                <a:sym typeface="Calibri"/>
              </a:rPr>
              <a:t>earning</a:t>
            </a:r>
            <a:endParaRPr b="0" i="0" sz="2000" u="none" cap="none" strike="noStrike">
              <a:solidFill>
                <a:schemeClr val="dk1"/>
              </a:solidFill>
              <a:latin typeface="Calibri"/>
              <a:ea typeface="Calibri"/>
              <a:cs typeface="Calibri"/>
              <a:sym typeface="Calibri"/>
            </a:endParaRPr>
          </a:p>
        </p:txBody>
      </p:sp>
      <p:sp>
        <p:nvSpPr>
          <p:cNvPr id="230" name="Google Shape;230;g3d683ea5a12_1_8"/>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g3dea38c97fa_0_160"/>
          <p:cNvSpPr/>
          <p:nvPr/>
        </p:nvSpPr>
        <p:spPr>
          <a:xfrm>
            <a:off x="0" y="0"/>
            <a:ext cx="9144000" cy="6585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dea38c97fa_0_160"/>
          <p:cNvSpPr/>
          <p:nvPr/>
        </p:nvSpPr>
        <p:spPr>
          <a:xfrm>
            <a:off x="45720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2000" u="none" cap="none" strike="noStrike">
                <a:solidFill>
                  <a:srgbClr val="FFFFFF"/>
                </a:solidFill>
                <a:latin typeface="Calibri"/>
                <a:ea typeface="Calibri"/>
                <a:cs typeface="Calibri"/>
                <a:sym typeface="Calibri"/>
              </a:rPr>
              <a:t>AI PROMPTING </a:t>
            </a:r>
            <a:endParaRPr b="0" i="0" sz="2000" u="none" cap="none" strike="noStrike">
              <a:solidFill>
                <a:schemeClr val="dk1"/>
              </a:solidFill>
              <a:latin typeface="Calibri"/>
              <a:ea typeface="Calibri"/>
              <a:cs typeface="Calibri"/>
              <a:sym typeface="Calibri"/>
            </a:endParaRPr>
          </a:p>
        </p:txBody>
      </p:sp>
      <p:sp>
        <p:nvSpPr>
          <p:cNvPr id="238" name="Google Shape;238;g3dea38c97fa_0_160"/>
          <p:cNvSpPr/>
          <p:nvPr/>
        </p:nvSpPr>
        <p:spPr>
          <a:xfrm>
            <a:off x="365760" y="777240"/>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243A42"/>
                </a:solidFill>
                <a:latin typeface="Calibri"/>
                <a:ea typeface="Calibri"/>
                <a:cs typeface="Calibri"/>
                <a:sym typeface="Calibri"/>
              </a:rPr>
              <a:t>What does a good prompt actually look like?</a:t>
            </a:r>
            <a:endParaRPr b="0" i="0" sz="2000" u="none" cap="none" strike="noStrike">
              <a:solidFill>
                <a:srgbClr val="243A42"/>
              </a:solidFill>
              <a:latin typeface="Calibri"/>
              <a:ea typeface="Calibri"/>
              <a:cs typeface="Calibri"/>
              <a:sym typeface="Calibri"/>
            </a:endParaRPr>
          </a:p>
        </p:txBody>
      </p:sp>
      <p:sp>
        <p:nvSpPr>
          <p:cNvPr id="239" name="Google Shape;239;g3dea38c97fa_0_160"/>
          <p:cNvSpPr/>
          <p:nvPr/>
        </p:nvSpPr>
        <p:spPr>
          <a:xfrm>
            <a:off x="365760" y="4498848"/>
            <a:ext cx="8412600" cy="164700"/>
          </a:xfrm>
          <a:prstGeom prst="rect">
            <a:avLst/>
          </a:prstGeom>
          <a:solidFill>
            <a:srgbClr val="2E5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dea38c97fa_0_160"/>
          <p:cNvSpPr/>
          <p:nvPr/>
        </p:nvSpPr>
        <p:spPr>
          <a:xfrm>
            <a:off x="365760" y="4517136"/>
            <a:ext cx="719400" cy="109800"/>
          </a:xfrm>
          <a:prstGeom prst="rect">
            <a:avLst/>
          </a:prstGeom>
          <a:solidFill>
            <a:srgbClr val="6B3F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dea38c97fa_0_160"/>
          <p:cNvSpPr/>
          <p:nvPr/>
        </p:nvSpPr>
        <p:spPr>
          <a:xfrm>
            <a:off x="1066800" y="4517136"/>
            <a:ext cx="719400" cy="109800"/>
          </a:xfrm>
          <a:prstGeom prst="rect">
            <a:avLst/>
          </a:prstGeom>
          <a:solidFill>
            <a:srgbClr val="7040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dea38c97fa_0_160"/>
          <p:cNvSpPr/>
          <p:nvPr/>
        </p:nvSpPr>
        <p:spPr>
          <a:xfrm>
            <a:off x="1767840" y="4517136"/>
            <a:ext cx="719400" cy="109800"/>
          </a:xfrm>
          <a:prstGeom prst="rect">
            <a:avLst/>
          </a:prstGeom>
          <a:solidFill>
            <a:srgbClr val="754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dea38c97fa_0_160"/>
          <p:cNvSpPr/>
          <p:nvPr/>
        </p:nvSpPr>
        <p:spPr>
          <a:xfrm>
            <a:off x="2468880" y="4517136"/>
            <a:ext cx="719400" cy="109800"/>
          </a:xfrm>
          <a:prstGeom prst="rect">
            <a:avLst/>
          </a:prstGeom>
          <a:solidFill>
            <a:srgbClr val="7A4A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dea38c97fa_0_160"/>
          <p:cNvSpPr/>
          <p:nvPr/>
        </p:nvSpPr>
        <p:spPr>
          <a:xfrm>
            <a:off x="3169920" y="4517136"/>
            <a:ext cx="719400" cy="109800"/>
          </a:xfrm>
          <a:prstGeom prst="rect">
            <a:avLst/>
          </a:prstGeom>
          <a:solidFill>
            <a:srgbClr val="7F50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dea38c97fa_0_160"/>
          <p:cNvSpPr/>
          <p:nvPr/>
        </p:nvSpPr>
        <p:spPr>
          <a:xfrm>
            <a:off x="3870960" y="4517136"/>
            <a:ext cx="719400" cy="109800"/>
          </a:xfrm>
          <a:prstGeom prst="rect">
            <a:avLst/>
          </a:prstGeom>
          <a:solidFill>
            <a:srgbClr val="6A5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ea38c97fa_0_160"/>
          <p:cNvSpPr/>
          <p:nvPr/>
        </p:nvSpPr>
        <p:spPr>
          <a:xfrm>
            <a:off x="4572000" y="4517136"/>
            <a:ext cx="719400" cy="109800"/>
          </a:xfrm>
          <a:prstGeom prst="rect">
            <a:avLst/>
          </a:prstGeom>
          <a:solidFill>
            <a:srgbClr val="506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dea38c97fa_0_160"/>
          <p:cNvSpPr/>
          <p:nvPr/>
        </p:nvSpPr>
        <p:spPr>
          <a:xfrm>
            <a:off x="5273040" y="4517136"/>
            <a:ext cx="719400" cy="109800"/>
          </a:xfrm>
          <a:prstGeom prst="rect">
            <a:avLst/>
          </a:prstGeom>
          <a:solidFill>
            <a:srgbClr val="3A6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dea38c97fa_0_160"/>
          <p:cNvSpPr/>
          <p:nvPr/>
        </p:nvSpPr>
        <p:spPr>
          <a:xfrm>
            <a:off x="5974080" y="4517136"/>
            <a:ext cx="719400" cy="109800"/>
          </a:xfrm>
          <a:prstGeom prst="rect">
            <a:avLst/>
          </a:prstGeom>
          <a:solidFill>
            <a:srgbClr val="247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dea38c97fa_0_160"/>
          <p:cNvSpPr/>
          <p:nvPr/>
        </p:nvSpPr>
        <p:spPr>
          <a:xfrm>
            <a:off x="6675120" y="4517136"/>
            <a:ext cx="719400" cy="109800"/>
          </a:xfrm>
          <a:prstGeom prst="rect">
            <a:avLst/>
          </a:prstGeom>
          <a:solidFill>
            <a:srgbClr val="148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ea38c97fa_0_160"/>
          <p:cNvSpPr/>
          <p:nvPr/>
        </p:nvSpPr>
        <p:spPr>
          <a:xfrm>
            <a:off x="7376160" y="4517136"/>
            <a:ext cx="719400" cy="109800"/>
          </a:xfrm>
          <a:prstGeom prst="rect">
            <a:avLst/>
          </a:prstGeom>
          <a:solidFill>
            <a:srgbClr val="0D7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dea38c97fa_0_160"/>
          <p:cNvSpPr/>
          <p:nvPr/>
        </p:nvSpPr>
        <p:spPr>
          <a:xfrm>
            <a:off x="8077200" y="4517136"/>
            <a:ext cx="719400" cy="1098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dea38c97fa_0_160"/>
          <p:cNvSpPr/>
          <p:nvPr/>
        </p:nvSpPr>
        <p:spPr>
          <a:xfrm>
            <a:off x="137160" y="4498848"/>
            <a:ext cx="255900" cy="164700"/>
          </a:xfrm>
          <a:prstGeom prst="rect">
            <a:avLst/>
          </a:prstGeom>
          <a:solidFill>
            <a:srgbClr val="6B3F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dea38c97fa_0_160"/>
          <p:cNvSpPr/>
          <p:nvPr/>
        </p:nvSpPr>
        <p:spPr>
          <a:xfrm>
            <a:off x="8750808" y="4498848"/>
            <a:ext cx="255900" cy="1647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dea38c97fa_0_160"/>
          <p:cNvSpPr/>
          <p:nvPr/>
        </p:nvSpPr>
        <p:spPr>
          <a:xfrm>
            <a:off x="137160" y="4700016"/>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6FD0"/>
              </a:buClr>
              <a:buSzPts val="1000"/>
              <a:buFont typeface="Calibri"/>
              <a:buNone/>
            </a:pPr>
            <a:r>
              <a:rPr b="1" i="0" lang="en-US" sz="1000" u="none" cap="none" strike="noStrike">
                <a:solidFill>
                  <a:srgbClr val="9B6FD0"/>
                </a:solidFill>
                <a:latin typeface="Calibri"/>
                <a:ea typeface="Calibri"/>
                <a:cs typeface="Calibri"/>
                <a:sym typeface="Calibri"/>
              </a:rPr>
              <a:t>Less Effective</a:t>
            </a:r>
            <a:endParaRPr b="0" i="0" sz="1000" u="none" cap="none" strike="noStrike">
              <a:solidFill>
                <a:schemeClr val="dk1"/>
              </a:solidFill>
              <a:latin typeface="Calibri"/>
              <a:ea typeface="Calibri"/>
              <a:cs typeface="Calibri"/>
              <a:sym typeface="Calibri"/>
            </a:endParaRPr>
          </a:p>
        </p:txBody>
      </p:sp>
      <p:sp>
        <p:nvSpPr>
          <p:cNvPr id="255" name="Google Shape;255;g3dea38c97fa_0_160"/>
          <p:cNvSpPr/>
          <p:nvPr/>
        </p:nvSpPr>
        <p:spPr>
          <a:xfrm>
            <a:off x="7178040" y="4700016"/>
            <a:ext cx="182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D7A6B"/>
              </a:buClr>
              <a:buSzPts val="1000"/>
              <a:buFont typeface="Calibri"/>
              <a:buNone/>
            </a:pPr>
            <a:r>
              <a:rPr b="1" i="0" lang="en-US" sz="1000" u="none" cap="none" strike="noStrike">
                <a:solidFill>
                  <a:srgbClr val="0D7A6B"/>
                </a:solidFill>
                <a:latin typeface="Calibri"/>
                <a:ea typeface="Calibri"/>
                <a:cs typeface="Calibri"/>
                <a:sym typeface="Calibri"/>
              </a:rPr>
              <a:t>More Effective</a:t>
            </a:r>
            <a:endParaRPr b="0" i="0" sz="1000" u="none" cap="none" strike="noStrike">
              <a:solidFill>
                <a:schemeClr val="dk1"/>
              </a:solidFill>
              <a:latin typeface="Calibri"/>
              <a:ea typeface="Calibri"/>
              <a:cs typeface="Calibri"/>
              <a:sym typeface="Calibri"/>
            </a:endParaRPr>
          </a:p>
        </p:txBody>
      </p:sp>
      <p:sp>
        <p:nvSpPr>
          <p:cNvPr id="256" name="Google Shape;256;g3dea38c97fa_0_160"/>
          <p:cNvSpPr/>
          <p:nvPr/>
        </p:nvSpPr>
        <p:spPr>
          <a:xfrm>
            <a:off x="365760" y="1261872"/>
            <a:ext cx="2514600" cy="3127200"/>
          </a:xfrm>
          <a:prstGeom prst="rect">
            <a:avLst/>
          </a:prstGeom>
          <a:solidFill>
            <a:srgbClr val="1E2A4A"/>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dea38c97fa_0_160"/>
          <p:cNvSpPr/>
          <p:nvPr/>
        </p:nvSpPr>
        <p:spPr>
          <a:xfrm>
            <a:off x="365760" y="1261872"/>
            <a:ext cx="2514600" cy="45600"/>
          </a:xfrm>
          <a:prstGeom prst="rect">
            <a:avLst/>
          </a:prstGeom>
          <a:solidFill>
            <a:srgbClr val="9B6F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dea38c97fa_0_160"/>
          <p:cNvSpPr/>
          <p:nvPr/>
        </p:nvSpPr>
        <p:spPr>
          <a:xfrm>
            <a:off x="530352" y="1371600"/>
            <a:ext cx="22404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6FD0"/>
              </a:buClr>
              <a:buSzPts val="1600"/>
              <a:buFont typeface="Calibri"/>
              <a:buNone/>
            </a:pPr>
            <a:r>
              <a:rPr b="1" i="0" lang="en-US" sz="1600" u="none" cap="none" strike="noStrike">
                <a:solidFill>
                  <a:srgbClr val="9B6FD0"/>
                </a:solidFill>
                <a:latin typeface="Calibri"/>
                <a:ea typeface="Calibri"/>
                <a:cs typeface="Calibri"/>
                <a:sym typeface="Calibri"/>
              </a:rPr>
              <a:t>OK</a:t>
            </a:r>
            <a:endParaRPr b="0" i="0" sz="1600" u="none" cap="none" strike="noStrike">
              <a:solidFill>
                <a:schemeClr val="dk1"/>
              </a:solidFill>
              <a:latin typeface="Calibri"/>
              <a:ea typeface="Calibri"/>
              <a:cs typeface="Calibri"/>
              <a:sym typeface="Calibri"/>
            </a:endParaRPr>
          </a:p>
        </p:txBody>
      </p:sp>
      <p:sp>
        <p:nvSpPr>
          <p:cNvPr id="259" name="Google Shape;259;g3dea38c97fa_0_160"/>
          <p:cNvSpPr/>
          <p:nvPr/>
        </p:nvSpPr>
        <p:spPr>
          <a:xfrm>
            <a:off x="530352" y="1764792"/>
            <a:ext cx="22404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8DDD9"/>
              </a:buClr>
              <a:buSzPts val="950"/>
              <a:buFont typeface="Calibri"/>
              <a:buNone/>
            </a:pPr>
            <a:r>
              <a:rPr b="0" i="1" lang="en-US" sz="1150" u="none" cap="none" strike="noStrike">
                <a:solidFill>
                  <a:srgbClr val="C8DDD9"/>
                </a:solidFill>
                <a:latin typeface="Calibri"/>
                <a:ea typeface="Calibri"/>
                <a:cs typeface="Calibri"/>
                <a:sym typeface="Calibri"/>
              </a:rPr>
              <a:t>"A lesson plan about multiplying fractions for 5th graders"</a:t>
            </a:r>
            <a:endParaRPr b="0" i="0" sz="1150" u="none" cap="none" strike="noStrike">
              <a:solidFill>
                <a:schemeClr val="dk1"/>
              </a:solidFill>
              <a:latin typeface="Calibri"/>
              <a:ea typeface="Calibri"/>
              <a:cs typeface="Calibri"/>
              <a:sym typeface="Calibri"/>
            </a:endParaRPr>
          </a:p>
        </p:txBody>
      </p:sp>
      <p:sp>
        <p:nvSpPr>
          <p:cNvPr id="260" name="Google Shape;260;g3dea38c97fa_0_160"/>
          <p:cNvSpPr/>
          <p:nvPr/>
        </p:nvSpPr>
        <p:spPr>
          <a:xfrm>
            <a:off x="530352" y="3383280"/>
            <a:ext cx="2185500" cy="183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dea38c97fa_0_160"/>
          <p:cNvSpPr/>
          <p:nvPr/>
        </p:nvSpPr>
        <p:spPr>
          <a:xfrm>
            <a:off x="530352" y="3438144"/>
            <a:ext cx="224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AADA6"/>
              </a:buClr>
              <a:buSzPts val="800"/>
              <a:buFont typeface="Calibri"/>
              <a:buNone/>
            </a:pPr>
            <a:r>
              <a:rPr b="0" i="0" lang="en-US" sz="1000" u="none" cap="none" strike="noStrike">
                <a:solidFill>
                  <a:srgbClr val="7AADA6"/>
                </a:solidFill>
                <a:latin typeface="Calibri"/>
                <a:ea typeface="Calibri"/>
                <a:cs typeface="Calibri"/>
                <a:sym typeface="Calibri"/>
              </a:rPr>
              <a:t>Topic only. No role, no context, no format. AI will guess </a:t>
            </a:r>
            <a:r>
              <a:rPr lang="en-US" sz="1000">
                <a:solidFill>
                  <a:srgbClr val="7AADA6"/>
                </a:solidFill>
                <a:latin typeface="Calibri"/>
                <a:ea typeface="Calibri"/>
                <a:cs typeface="Calibri"/>
                <a:sym typeface="Calibri"/>
              </a:rPr>
              <a:t>and fill in gaps</a:t>
            </a:r>
            <a:r>
              <a:rPr b="0" i="0" lang="en-US" sz="1000" u="none" cap="none" strike="noStrike">
                <a:solidFill>
                  <a:srgbClr val="7AADA6"/>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62" name="Google Shape;262;g3dea38c97fa_0_160"/>
          <p:cNvSpPr/>
          <p:nvPr/>
        </p:nvSpPr>
        <p:spPr>
          <a:xfrm>
            <a:off x="3310128" y="1261872"/>
            <a:ext cx="2514600" cy="3127200"/>
          </a:xfrm>
          <a:prstGeom prst="rect">
            <a:avLst/>
          </a:prstGeom>
          <a:solidFill>
            <a:srgbClr val="1A2E3A"/>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dea38c97fa_0_160"/>
          <p:cNvSpPr/>
          <p:nvPr/>
        </p:nvSpPr>
        <p:spPr>
          <a:xfrm>
            <a:off x="3310128" y="1261872"/>
            <a:ext cx="2514600" cy="45600"/>
          </a:xfrm>
          <a:prstGeom prst="rect">
            <a:avLst/>
          </a:prstGeom>
          <a:solidFill>
            <a:srgbClr val="4A8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dea38c97fa_0_160"/>
          <p:cNvSpPr/>
          <p:nvPr/>
        </p:nvSpPr>
        <p:spPr>
          <a:xfrm>
            <a:off x="3474720" y="1371600"/>
            <a:ext cx="22404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88C8"/>
              </a:buClr>
              <a:buSzPts val="1600"/>
              <a:buFont typeface="Calibri"/>
              <a:buNone/>
            </a:pPr>
            <a:r>
              <a:rPr b="1" i="0" lang="en-US" sz="1600" u="none" cap="none" strike="noStrike">
                <a:solidFill>
                  <a:srgbClr val="4A88C8"/>
                </a:solidFill>
                <a:latin typeface="Calibri"/>
                <a:ea typeface="Calibri"/>
                <a:cs typeface="Calibri"/>
                <a:sym typeface="Calibri"/>
              </a:rPr>
              <a:t>BETTER</a:t>
            </a:r>
            <a:endParaRPr b="0" i="0" sz="1600" u="none" cap="none" strike="noStrike">
              <a:solidFill>
                <a:schemeClr val="dk1"/>
              </a:solidFill>
              <a:latin typeface="Calibri"/>
              <a:ea typeface="Calibri"/>
              <a:cs typeface="Calibri"/>
              <a:sym typeface="Calibri"/>
            </a:endParaRPr>
          </a:p>
        </p:txBody>
      </p:sp>
      <p:sp>
        <p:nvSpPr>
          <p:cNvPr id="265" name="Google Shape;265;g3dea38c97fa_0_160"/>
          <p:cNvSpPr/>
          <p:nvPr/>
        </p:nvSpPr>
        <p:spPr>
          <a:xfrm>
            <a:off x="3474720" y="1764792"/>
            <a:ext cx="22404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8DDD9"/>
              </a:buClr>
              <a:buSzPts val="950"/>
              <a:buFont typeface="Calibri"/>
              <a:buNone/>
            </a:pPr>
            <a:r>
              <a:rPr b="0" i="1" lang="en-US" sz="1150" u="none" cap="none" strike="noStrike">
                <a:solidFill>
                  <a:srgbClr val="C8DDD9"/>
                </a:solidFill>
                <a:latin typeface="Calibri"/>
                <a:ea typeface="Calibri"/>
                <a:cs typeface="Calibri"/>
                <a:sym typeface="Calibri"/>
              </a:rPr>
              <a:t>"Act as an expert math teacher for upper elementary students. Design a lesson plan about multiplying fractions for 5th graders."</a:t>
            </a:r>
            <a:endParaRPr b="0" i="0" sz="1150" u="none" cap="none" strike="noStrike">
              <a:solidFill>
                <a:schemeClr val="dk1"/>
              </a:solidFill>
              <a:latin typeface="Calibri"/>
              <a:ea typeface="Calibri"/>
              <a:cs typeface="Calibri"/>
              <a:sym typeface="Calibri"/>
            </a:endParaRPr>
          </a:p>
        </p:txBody>
      </p:sp>
      <p:sp>
        <p:nvSpPr>
          <p:cNvPr id="266" name="Google Shape;266;g3dea38c97fa_0_160"/>
          <p:cNvSpPr/>
          <p:nvPr/>
        </p:nvSpPr>
        <p:spPr>
          <a:xfrm>
            <a:off x="3474720" y="3383280"/>
            <a:ext cx="2185500" cy="183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dea38c97fa_0_160"/>
          <p:cNvSpPr/>
          <p:nvPr/>
        </p:nvSpPr>
        <p:spPr>
          <a:xfrm>
            <a:off x="3474720" y="3438144"/>
            <a:ext cx="224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AADA6"/>
              </a:buClr>
              <a:buSzPts val="800"/>
              <a:buFont typeface="Calibri"/>
              <a:buNone/>
            </a:pPr>
            <a:r>
              <a:rPr b="0" i="0" lang="en-US" sz="1000" u="none" cap="none" strike="noStrike">
                <a:solidFill>
                  <a:srgbClr val="7AADA6"/>
                </a:solidFill>
                <a:latin typeface="Calibri"/>
                <a:ea typeface="Calibri"/>
                <a:cs typeface="Calibri"/>
                <a:sym typeface="Calibri"/>
              </a:rPr>
              <a:t>Sets the scene and defines the task. Still missing format and student specifics.</a:t>
            </a:r>
            <a:endParaRPr b="0" i="0" sz="1000" u="none" cap="none" strike="noStrike">
              <a:solidFill>
                <a:schemeClr val="dk1"/>
              </a:solidFill>
              <a:latin typeface="Calibri"/>
              <a:ea typeface="Calibri"/>
              <a:cs typeface="Calibri"/>
              <a:sym typeface="Calibri"/>
            </a:endParaRPr>
          </a:p>
        </p:txBody>
      </p:sp>
      <p:sp>
        <p:nvSpPr>
          <p:cNvPr id="268" name="Google Shape;268;g3dea38c97fa_0_160"/>
          <p:cNvSpPr/>
          <p:nvPr/>
        </p:nvSpPr>
        <p:spPr>
          <a:xfrm>
            <a:off x="6263640" y="1261872"/>
            <a:ext cx="2514600" cy="3127200"/>
          </a:xfrm>
          <a:prstGeom prst="rect">
            <a:avLst/>
          </a:prstGeom>
          <a:solidFill>
            <a:srgbClr val="243A42"/>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dea38c97fa_0_160"/>
          <p:cNvSpPr/>
          <p:nvPr/>
        </p:nvSpPr>
        <p:spPr>
          <a:xfrm>
            <a:off x="6263640" y="1261872"/>
            <a:ext cx="2514600" cy="45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dea38c97fa_0_160"/>
          <p:cNvSpPr/>
          <p:nvPr/>
        </p:nvSpPr>
        <p:spPr>
          <a:xfrm>
            <a:off x="6428232" y="1371600"/>
            <a:ext cx="22404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600"/>
              <a:buFont typeface="Calibri"/>
              <a:buNone/>
            </a:pPr>
            <a:r>
              <a:rPr b="1" i="0" lang="en-US" sz="1600" u="none" cap="none" strike="noStrike">
                <a:solidFill>
                  <a:srgbClr val="0D7A6B"/>
                </a:solidFill>
                <a:latin typeface="Calibri"/>
                <a:ea typeface="Calibri"/>
                <a:cs typeface="Calibri"/>
                <a:sym typeface="Calibri"/>
              </a:rPr>
              <a:t>BEST</a:t>
            </a:r>
            <a:endParaRPr b="0" i="0" sz="1600" u="none" cap="none" strike="noStrike">
              <a:solidFill>
                <a:schemeClr val="dk1"/>
              </a:solidFill>
              <a:latin typeface="Calibri"/>
              <a:ea typeface="Calibri"/>
              <a:cs typeface="Calibri"/>
              <a:sym typeface="Calibri"/>
            </a:endParaRPr>
          </a:p>
        </p:txBody>
      </p:sp>
      <p:sp>
        <p:nvSpPr>
          <p:cNvPr id="271" name="Google Shape;271;g3dea38c97fa_0_160"/>
          <p:cNvSpPr/>
          <p:nvPr/>
        </p:nvSpPr>
        <p:spPr>
          <a:xfrm>
            <a:off x="6428232" y="1900594"/>
            <a:ext cx="22404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8DDD9"/>
              </a:buClr>
              <a:buSzPts val="950"/>
              <a:buFont typeface="Calibri"/>
              <a:buNone/>
            </a:pPr>
            <a:r>
              <a:rPr b="0" i="1" lang="en-US" sz="1150" u="none" cap="none" strike="noStrike">
                <a:solidFill>
                  <a:srgbClr val="C8DDD9"/>
                </a:solidFill>
                <a:latin typeface="Calibri"/>
                <a:ea typeface="Calibri"/>
                <a:cs typeface="Calibri"/>
                <a:sym typeface="Calibri"/>
              </a:rPr>
              <a:t>"You are an expert math teacher skilled in differentiation. Design a 45-min lesson on multiplying fractions for 5th graders. Include a hands-on activity and pair-share moments. Format as a table</a:t>
            </a:r>
            <a:r>
              <a:rPr i="1" lang="en-US" sz="1150">
                <a:solidFill>
                  <a:srgbClr val="C8DDD9"/>
                </a:solidFill>
                <a:latin typeface="Calibri"/>
                <a:ea typeface="Calibri"/>
                <a:cs typeface="Calibri"/>
                <a:sym typeface="Calibri"/>
              </a:rPr>
              <a:t> with time structures.  Include transition time.</a:t>
            </a:r>
            <a:r>
              <a:rPr b="0" i="1" lang="en-US" sz="1150" u="none" cap="none" strike="noStrike">
                <a:solidFill>
                  <a:srgbClr val="C8DDD9"/>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272" name="Google Shape;272;g3dea38c97fa_0_160"/>
          <p:cNvSpPr/>
          <p:nvPr/>
        </p:nvSpPr>
        <p:spPr>
          <a:xfrm>
            <a:off x="6428232" y="3782198"/>
            <a:ext cx="2185500" cy="183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dea38c97fa_0_160"/>
          <p:cNvSpPr/>
          <p:nvPr/>
        </p:nvSpPr>
        <p:spPr>
          <a:xfrm>
            <a:off x="6428232" y="3760674"/>
            <a:ext cx="224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AADA6"/>
              </a:buClr>
              <a:buSzPts val="800"/>
              <a:buFont typeface="Calibri"/>
              <a:buNone/>
            </a:pPr>
            <a:r>
              <a:rPr b="0" i="0" lang="en-US" sz="1000" u="none" cap="none" strike="noStrike">
                <a:solidFill>
                  <a:srgbClr val="7AADA6"/>
                </a:solidFill>
                <a:latin typeface="Calibri"/>
                <a:ea typeface="Calibri"/>
                <a:cs typeface="Calibri"/>
                <a:sym typeface="Calibri"/>
              </a:rPr>
              <a:t>Role + task + context + structure. </a:t>
            </a:r>
            <a:endParaRPr b="0" i="0" sz="1000" u="none" cap="none" strike="noStrike">
              <a:solidFill>
                <a:schemeClr val="dk1"/>
              </a:solidFill>
              <a:latin typeface="Calibri"/>
              <a:ea typeface="Calibri"/>
              <a:cs typeface="Calibri"/>
              <a:sym typeface="Calibri"/>
            </a:endParaRPr>
          </a:p>
        </p:txBody>
      </p:sp>
      <p:sp>
        <p:nvSpPr>
          <p:cNvPr id="274" name="Google Shape;274;g3dea38c97fa_0_160"/>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279" name="Shape 279"/>
        <p:cNvGrpSpPr/>
        <p:nvPr/>
      </p:nvGrpSpPr>
      <p:grpSpPr>
        <a:xfrm>
          <a:off x="0" y="0"/>
          <a:ext cx="0" cy="0"/>
          <a:chOff x="0" y="0"/>
          <a:chExt cx="0" cy="0"/>
        </a:xfrm>
      </p:grpSpPr>
      <p:sp>
        <p:nvSpPr>
          <p:cNvPr id="280" name="Google Shape;280;g3dec2639e5e_0_72"/>
          <p:cNvSpPr/>
          <p:nvPr/>
        </p:nvSpPr>
        <p:spPr>
          <a:xfrm>
            <a:off x="0" y="0"/>
            <a:ext cx="9144000" cy="6585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dec2639e5e_0_72"/>
          <p:cNvSpPr/>
          <p:nvPr/>
        </p:nvSpPr>
        <p:spPr>
          <a:xfrm>
            <a:off x="45720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lang="en-US" sz="2000">
                <a:solidFill>
                  <a:srgbClr val="FFFFFF"/>
                </a:solidFill>
                <a:latin typeface="Calibri"/>
                <a:ea typeface="Calibri"/>
                <a:cs typeface="Calibri"/>
                <a:sym typeface="Calibri"/>
              </a:rPr>
              <a:t>GOOD INPUT PRODUCES GOOD OUTPUT</a:t>
            </a:r>
            <a:endParaRPr b="0" i="0" sz="2000" u="none" cap="none" strike="noStrike">
              <a:solidFill>
                <a:schemeClr val="dk1"/>
              </a:solidFill>
              <a:latin typeface="Calibri"/>
              <a:ea typeface="Calibri"/>
              <a:cs typeface="Calibri"/>
              <a:sym typeface="Calibri"/>
            </a:endParaRPr>
          </a:p>
        </p:txBody>
      </p:sp>
      <p:sp>
        <p:nvSpPr>
          <p:cNvPr id="282" name="Google Shape;282;g3dec2639e5e_0_72"/>
          <p:cNvSpPr/>
          <p:nvPr/>
        </p:nvSpPr>
        <p:spPr>
          <a:xfrm>
            <a:off x="451333" y="699233"/>
            <a:ext cx="55779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800"/>
              <a:buFont typeface="Calibri"/>
              <a:buNone/>
            </a:pPr>
            <a:r>
              <a:rPr b="1" lang="en-US" sz="1900">
                <a:solidFill>
                  <a:srgbClr val="243A42"/>
                </a:solidFill>
                <a:latin typeface="Calibri"/>
                <a:ea typeface="Calibri"/>
                <a:cs typeface="Calibri"/>
                <a:sym typeface="Calibri"/>
              </a:rPr>
              <a:t>THE FIVE </a:t>
            </a:r>
            <a:r>
              <a:rPr b="1" lang="en-US" sz="2500">
                <a:solidFill>
                  <a:srgbClr val="243A42"/>
                </a:solidFill>
                <a:latin typeface="Calibri"/>
                <a:ea typeface="Calibri"/>
                <a:cs typeface="Calibri"/>
                <a:sym typeface="Calibri"/>
              </a:rPr>
              <a:t>S</a:t>
            </a:r>
            <a:r>
              <a:rPr b="1" lang="en-US" sz="1900">
                <a:solidFill>
                  <a:srgbClr val="243A42"/>
                </a:solidFill>
                <a:latin typeface="Calibri"/>
                <a:ea typeface="Calibri"/>
                <a:cs typeface="Calibri"/>
                <a:sym typeface="Calibri"/>
              </a:rPr>
              <a:t> FRAMEWORK</a:t>
            </a:r>
            <a:endParaRPr b="0" i="0" sz="1900" u="none" cap="none" strike="noStrike">
              <a:solidFill>
                <a:srgbClr val="243A42"/>
              </a:solidFill>
              <a:latin typeface="Calibri"/>
              <a:ea typeface="Calibri"/>
              <a:cs typeface="Calibri"/>
              <a:sym typeface="Calibri"/>
            </a:endParaRPr>
          </a:p>
        </p:txBody>
      </p:sp>
      <p:sp>
        <p:nvSpPr>
          <p:cNvPr id="283" name="Google Shape;283;g3dec2639e5e_0_72"/>
          <p:cNvSpPr/>
          <p:nvPr/>
        </p:nvSpPr>
        <p:spPr>
          <a:xfrm>
            <a:off x="274320" y="960120"/>
            <a:ext cx="5577900" cy="273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dec2639e5e_0_72"/>
          <p:cNvSpPr/>
          <p:nvPr/>
        </p:nvSpPr>
        <p:spPr>
          <a:xfrm>
            <a:off x="6035040" y="699233"/>
            <a:ext cx="28347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800"/>
              <a:buFont typeface="Calibri"/>
              <a:buNone/>
            </a:pPr>
            <a:r>
              <a:rPr b="1" i="0" lang="en-US" sz="1900" u="none" cap="none" strike="noStrike">
                <a:solidFill>
                  <a:srgbClr val="E05C3A"/>
                </a:solidFill>
                <a:latin typeface="Calibri"/>
                <a:ea typeface="Calibri"/>
                <a:cs typeface="Calibri"/>
                <a:sym typeface="Calibri"/>
              </a:rPr>
              <a:t>USING THE RESPONSE</a:t>
            </a:r>
            <a:endParaRPr b="0" i="0" sz="1900" u="none" cap="none" strike="noStrike">
              <a:solidFill>
                <a:schemeClr val="dk1"/>
              </a:solidFill>
              <a:latin typeface="Calibri"/>
              <a:ea typeface="Calibri"/>
              <a:cs typeface="Calibri"/>
              <a:sym typeface="Calibri"/>
            </a:endParaRPr>
          </a:p>
        </p:txBody>
      </p:sp>
      <p:sp>
        <p:nvSpPr>
          <p:cNvPr id="285" name="Google Shape;285;g3dec2639e5e_0_72"/>
          <p:cNvSpPr/>
          <p:nvPr/>
        </p:nvSpPr>
        <p:spPr>
          <a:xfrm>
            <a:off x="6035040" y="960120"/>
            <a:ext cx="2834700" cy="273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dec2639e5e_0_72"/>
          <p:cNvSpPr/>
          <p:nvPr/>
        </p:nvSpPr>
        <p:spPr>
          <a:xfrm>
            <a:off x="274320" y="1042416"/>
            <a:ext cx="5577900" cy="7314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dec2639e5e_0_72"/>
          <p:cNvSpPr/>
          <p:nvPr/>
        </p:nvSpPr>
        <p:spPr>
          <a:xfrm>
            <a:off x="274320" y="1042416"/>
            <a:ext cx="347400" cy="7314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dec2639e5e_0_72"/>
          <p:cNvSpPr/>
          <p:nvPr/>
        </p:nvSpPr>
        <p:spPr>
          <a:xfrm>
            <a:off x="274320" y="1042416"/>
            <a:ext cx="3474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pic>
        <p:nvPicPr>
          <p:cNvPr descr="preencoded.png" id="289" name="Google Shape;289;g3dec2639e5e_0_72"/>
          <p:cNvPicPr preferRelativeResize="0"/>
          <p:nvPr/>
        </p:nvPicPr>
        <p:blipFill rotWithShape="1">
          <a:blip r:embed="rId3">
            <a:alphaModFix/>
          </a:blip>
          <a:srcRect b="0" l="0" r="0" t="0"/>
          <a:stretch/>
        </p:blipFill>
        <p:spPr>
          <a:xfrm>
            <a:off x="731520" y="1280160"/>
            <a:ext cx="256032" cy="256032"/>
          </a:xfrm>
          <a:prstGeom prst="rect">
            <a:avLst/>
          </a:prstGeom>
          <a:noFill/>
          <a:ln>
            <a:noFill/>
          </a:ln>
        </p:spPr>
      </p:pic>
      <p:sp>
        <p:nvSpPr>
          <p:cNvPr id="290" name="Google Shape;290;g3dec2639e5e_0_72"/>
          <p:cNvSpPr/>
          <p:nvPr/>
        </p:nvSpPr>
        <p:spPr>
          <a:xfrm>
            <a:off x="1078992" y="1042416"/>
            <a:ext cx="20118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600" u="none" cap="none" strike="noStrike">
                <a:solidFill>
                  <a:srgbClr val="FFFFFF"/>
                </a:solidFill>
                <a:latin typeface="Calibri"/>
                <a:ea typeface="Calibri"/>
                <a:cs typeface="Calibri"/>
                <a:sym typeface="Calibri"/>
              </a:rPr>
              <a:t>SET THE SCENE</a:t>
            </a:r>
            <a:endParaRPr b="0" i="0" sz="1600" u="none" cap="none" strike="noStrike">
              <a:solidFill>
                <a:schemeClr val="dk1"/>
              </a:solidFill>
              <a:latin typeface="Calibri"/>
              <a:ea typeface="Calibri"/>
              <a:cs typeface="Calibri"/>
              <a:sym typeface="Calibri"/>
            </a:endParaRPr>
          </a:p>
        </p:txBody>
      </p:sp>
      <p:sp>
        <p:nvSpPr>
          <p:cNvPr id="291" name="Google Shape;291;g3dec2639e5e_0_72"/>
          <p:cNvSpPr/>
          <p:nvPr/>
        </p:nvSpPr>
        <p:spPr>
          <a:xfrm>
            <a:off x="3044952" y="1133856"/>
            <a:ext cx="27300" cy="5487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dec2639e5e_0_72"/>
          <p:cNvSpPr/>
          <p:nvPr/>
        </p:nvSpPr>
        <p:spPr>
          <a:xfrm>
            <a:off x="3136392" y="1042416"/>
            <a:ext cx="26244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7AADA6"/>
              </a:buClr>
              <a:buSzPts val="850"/>
              <a:buFont typeface="Calibri"/>
              <a:buNone/>
            </a:pPr>
            <a:r>
              <a:rPr b="0" i="1" lang="en-US" sz="1050" u="none" cap="none" strike="noStrike">
                <a:solidFill>
                  <a:schemeClr val="lt1"/>
                </a:solidFill>
                <a:latin typeface="Calibri"/>
                <a:ea typeface="Calibri"/>
                <a:cs typeface="Calibri"/>
                <a:sym typeface="Calibri"/>
              </a:rPr>
              <a:t>"You are an experienced HS computer science teacher..."</a:t>
            </a:r>
            <a:endParaRPr b="0" i="0" sz="1050" u="none" cap="none" strike="noStrike">
              <a:solidFill>
                <a:schemeClr val="lt1"/>
              </a:solidFill>
              <a:latin typeface="Calibri"/>
              <a:ea typeface="Calibri"/>
              <a:cs typeface="Calibri"/>
              <a:sym typeface="Calibri"/>
            </a:endParaRPr>
          </a:p>
        </p:txBody>
      </p:sp>
      <p:sp>
        <p:nvSpPr>
          <p:cNvPr id="293" name="Google Shape;293;g3dec2639e5e_0_72"/>
          <p:cNvSpPr/>
          <p:nvPr/>
        </p:nvSpPr>
        <p:spPr>
          <a:xfrm>
            <a:off x="3044952" y="1773936"/>
            <a:ext cx="36600" cy="36600"/>
          </a:xfrm>
          <a:prstGeom prst="rect">
            <a:avLst/>
          </a:prstGeom>
          <a:solidFill>
            <a:srgbClr val="3A5A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dec2639e5e_0_72"/>
          <p:cNvSpPr/>
          <p:nvPr/>
        </p:nvSpPr>
        <p:spPr>
          <a:xfrm>
            <a:off x="274320" y="1810512"/>
            <a:ext cx="5577900" cy="7314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dec2639e5e_0_72"/>
          <p:cNvSpPr/>
          <p:nvPr/>
        </p:nvSpPr>
        <p:spPr>
          <a:xfrm>
            <a:off x="274320" y="1810512"/>
            <a:ext cx="347400" cy="7314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dec2639e5e_0_72"/>
          <p:cNvSpPr/>
          <p:nvPr/>
        </p:nvSpPr>
        <p:spPr>
          <a:xfrm>
            <a:off x="274320" y="1810512"/>
            <a:ext cx="3474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pic>
        <p:nvPicPr>
          <p:cNvPr descr="preencoded.png" id="297" name="Google Shape;297;g3dec2639e5e_0_72"/>
          <p:cNvPicPr preferRelativeResize="0"/>
          <p:nvPr/>
        </p:nvPicPr>
        <p:blipFill rotWithShape="1">
          <a:blip r:embed="rId4">
            <a:alphaModFix/>
          </a:blip>
          <a:srcRect b="0" l="0" r="0" t="0"/>
          <a:stretch/>
        </p:blipFill>
        <p:spPr>
          <a:xfrm>
            <a:off x="731520" y="2048256"/>
            <a:ext cx="256032" cy="256032"/>
          </a:xfrm>
          <a:prstGeom prst="rect">
            <a:avLst/>
          </a:prstGeom>
          <a:noFill/>
          <a:ln>
            <a:noFill/>
          </a:ln>
        </p:spPr>
      </p:pic>
      <p:sp>
        <p:nvSpPr>
          <p:cNvPr id="298" name="Google Shape;298;g3dec2639e5e_0_72"/>
          <p:cNvSpPr/>
          <p:nvPr/>
        </p:nvSpPr>
        <p:spPr>
          <a:xfrm>
            <a:off x="1078992" y="1810512"/>
            <a:ext cx="20118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600" u="none" cap="none" strike="noStrike">
                <a:solidFill>
                  <a:srgbClr val="FFFFFF"/>
                </a:solidFill>
                <a:latin typeface="Calibri"/>
                <a:ea typeface="Calibri"/>
                <a:cs typeface="Calibri"/>
                <a:sym typeface="Calibri"/>
              </a:rPr>
              <a:t>SPECIFIC</a:t>
            </a:r>
            <a:endParaRPr b="0" i="0" sz="1600" u="none" cap="none" strike="noStrike">
              <a:solidFill>
                <a:schemeClr val="dk1"/>
              </a:solidFill>
              <a:latin typeface="Calibri"/>
              <a:ea typeface="Calibri"/>
              <a:cs typeface="Calibri"/>
              <a:sym typeface="Calibri"/>
            </a:endParaRPr>
          </a:p>
        </p:txBody>
      </p:sp>
      <p:sp>
        <p:nvSpPr>
          <p:cNvPr id="299" name="Google Shape;299;g3dec2639e5e_0_72"/>
          <p:cNvSpPr/>
          <p:nvPr/>
        </p:nvSpPr>
        <p:spPr>
          <a:xfrm>
            <a:off x="3044952" y="1901952"/>
            <a:ext cx="27300" cy="5487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dec2639e5e_0_72"/>
          <p:cNvSpPr/>
          <p:nvPr/>
        </p:nvSpPr>
        <p:spPr>
          <a:xfrm>
            <a:off x="3136392" y="1960269"/>
            <a:ext cx="26244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7AADA6"/>
              </a:buClr>
              <a:buSzPts val="850"/>
              <a:buFont typeface="Calibri"/>
              <a:buNone/>
            </a:pPr>
            <a:r>
              <a:rPr b="0" i="1" lang="en-US" sz="1050" u="none" cap="none" strike="noStrike">
                <a:solidFill>
                  <a:schemeClr val="lt1"/>
                </a:solidFill>
                <a:latin typeface="Calibri"/>
                <a:ea typeface="Calibri"/>
                <a:cs typeface="Calibri"/>
                <a:sym typeface="Calibri"/>
              </a:rPr>
              <a:t>"...Design a 60-min lesson using the PRIMM method to introduce Python for loops to Grade 10 students."</a:t>
            </a:r>
            <a:endParaRPr b="0" i="0" sz="1050" u="none" cap="none" strike="noStrike">
              <a:solidFill>
                <a:schemeClr val="lt1"/>
              </a:solidFill>
              <a:latin typeface="Calibri"/>
              <a:ea typeface="Calibri"/>
              <a:cs typeface="Calibri"/>
              <a:sym typeface="Calibri"/>
            </a:endParaRPr>
          </a:p>
        </p:txBody>
      </p:sp>
      <p:sp>
        <p:nvSpPr>
          <p:cNvPr id="301" name="Google Shape;301;g3dec2639e5e_0_72"/>
          <p:cNvSpPr/>
          <p:nvPr/>
        </p:nvSpPr>
        <p:spPr>
          <a:xfrm>
            <a:off x="3044952" y="2542032"/>
            <a:ext cx="36600" cy="36600"/>
          </a:xfrm>
          <a:prstGeom prst="rect">
            <a:avLst/>
          </a:prstGeom>
          <a:solidFill>
            <a:srgbClr val="3A5A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dec2639e5e_0_72"/>
          <p:cNvSpPr/>
          <p:nvPr/>
        </p:nvSpPr>
        <p:spPr>
          <a:xfrm>
            <a:off x="274320" y="2578608"/>
            <a:ext cx="5577900" cy="7314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dec2639e5e_0_72"/>
          <p:cNvSpPr/>
          <p:nvPr/>
        </p:nvSpPr>
        <p:spPr>
          <a:xfrm>
            <a:off x="274320" y="2578608"/>
            <a:ext cx="347400" cy="7314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dec2639e5e_0_72"/>
          <p:cNvSpPr/>
          <p:nvPr/>
        </p:nvSpPr>
        <p:spPr>
          <a:xfrm>
            <a:off x="274320" y="2578608"/>
            <a:ext cx="3474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pic>
        <p:nvPicPr>
          <p:cNvPr descr="preencoded.png" id="305" name="Google Shape;305;g3dec2639e5e_0_72"/>
          <p:cNvPicPr preferRelativeResize="0"/>
          <p:nvPr/>
        </p:nvPicPr>
        <p:blipFill rotWithShape="1">
          <a:blip r:embed="rId5">
            <a:alphaModFix/>
          </a:blip>
          <a:srcRect b="0" l="0" r="0" t="0"/>
          <a:stretch/>
        </p:blipFill>
        <p:spPr>
          <a:xfrm>
            <a:off x="731520" y="2816352"/>
            <a:ext cx="256032" cy="256032"/>
          </a:xfrm>
          <a:prstGeom prst="rect">
            <a:avLst/>
          </a:prstGeom>
          <a:noFill/>
          <a:ln>
            <a:noFill/>
          </a:ln>
        </p:spPr>
      </p:pic>
      <p:sp>
        <p:nvSpPr>
          <p:cNvPr id="306" name="Google Shape;306;g3dec2639e5e_0_72"/>
          <p:cNvSpPr/>
          <p:nvPr/>
        </p:nvSpPr>
        <p:spPr>
          <a:xfrm>
            <a:off x="1078992" y="2578608"/>
            <a:ext cx="20118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600" u="none" cap="none" strike="noStrike">
                <a:solidFill>
                  <a:srgbClr val="FFFFFF"/>
                </a:solidFill>
                <a:latin typeface="Calibri"/>
                <a:ea typeface="Calibri"/>
                <a:cs typeface="Calibri"/>
                <a:sym typeface="Calibri"/>
              </a:rPr>
              <a:t>SIMPLIFY LANGUAGE</a:t>
            </a:r>
            <a:endParaRPr b="0" i="0" sz="1600" u="none" cap="none" strike="noStrike">
              <a:solidFill>
                <a:schemeClr val="dk1"/>
              </a:solidFill>
              <a:latin typeface="Calibri"/>
              <a:ea typeface="Calibri"/>
              <a:cs typeface="Calibri"/>
              <a:sym typeface="Calibri"/>
            </a:endParaRPr>
          </a:p>
        </p:txBody>
      </p:sp>
      <p:sp>
        <p:nvSpPr>
          <p:cNvPr id="307" name="Google Shape;307;g3dec2639e5e_0_72"/>
          <p:cNvSpPr/>
          <p:nvPr/>
        </p:nvSpPr>
        <p:spPr>
          <a:xfrm>
            <a:off x="3044952" y="2670048"/>
            <a:ext cx="27300" cy="5487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dec2639e5e_0_72"/>
          <p:cNvSpPr/>
          <p:nvPr/>
        </p:nvSpPr>
        <p:spPr>
          <a:xfrm>
            <a:off x="3136392" y="2578608"/>
            <a:ext cx="26244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7AADA6"/>
              </a:buClr>
              <a:buSzPts val="850"/>
              <a:buFont typeface="Calibri"/>
              <a:buNone/>
            </a:pPr>
            <a:r>
              <a:rPr b="0" i="1" lang="en-US" sz="1050" u="none" cap="none" strike="noStrike">
                <a:solidFill>
                  <a:schemeClr val="lt1"/>
                </a:solidFill>
                <a:latin typeface="Calibri"/>
                <a:ea typeface="Calibri"/>
                <a:cs typeface="Calibri"/>
                <a:sym typeface="Calibri"/>
              </a:rPr>
              <a:t>"...Use plain language. Students have no prior coding experience."</a:t>
            </a:r>
            <a:endParaRPr b="0" i="0" sz="1050" u="none" cap="none" strike="noStrike">
              <a:solidFill>
                <a:schemeClr val="lt1"/>
              </a:solidFill>
              <a:latin typeface="Calibri"/>
              <a:ea typeface="Calibri"/>
              <a:cs typeface="Calibri"/>
              <a:sym typeface="Calibri"/>
            </a:endParaRPr>
          </a:p>
        </p:txBody>
      </p:sp>
      <p:sp>
        <p:nvSpPr>
          <p:cNvPr id="309" name="Google Shape;309;g3dec2639e5e_0_72"/>
          <p:cNvSpPr/>
          <p:nvPr/>
        </p:nvSpPr>
        <p:spPr>
          <a:xfrm>
            <a:off x="3044952" y="3310128"/>
            <a:ext cx="36600" cy="36600"/>
          </a:xfrm>
          <a:prstGeom prst="rect">
            <a:avLst/>
          </a:prstGeom>
          <a:solidFill>
            <a:srgbClr val="3A5A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dec2639e5e_0_72"/>
          <p:cNvSpPr/>
          <p:nvPr/>
        </p:nvSpPr>
        <p:spPr>
          <a:xfrm>
            <a:off x="274320" y="3346704"/>
            <a:ext cx="5577900" cy="7314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dec2639e5e_0_72"/>
          <p:cNvSpPr/>
          <p:nvPr/>
        </p:nvSpPr>
        <p:spPr>
          <a:xfrm>
            <a:off x="274320" y="3346704"/>
            <a:ext cx="347400" cy="7314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dec2639e5e_0_72"/>
          <p:cNvSpPr/>
          <p:nvPr/>
        </p:nvSpPr>
        <p:spPr>
          <a:xfrm>
            <a:off x="274320" y="3346704"/>
            <a:ext cx="3474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pic>
        <p:nvPicPr>
          <p:cNvPr descr="preencoded.png" id="313" name="Google Shape;313;g3dec2639e5e_0_72"/>
          <p:cNvPicPr preferRelativeResize="0"/>
          <p:nvPr/>
        </p:nvPicPr>
        <p:blipFill rotWithShape="1">
          <a:blip r:embed="rId6">
            <a:alphaModFix/>
          </a:blip>
          <a:srcRect b="0" l="0" r="0" t="0"/>
          <a:stretch/>
        </p:blipFill>
        <p:spPr>
          <a:xfrm>
            <a:off x="731520" y="3584448"/>
            <a:ext cx="256032" cy="256032"/>
          </a:xfrm>
          <a:prstGeom prst="rect">
            <a:avLst/>
          </a:prstGeom>
          <a:noFill/>
          <a:ln>
            <a:noFill/>
          </a:ln>
        </p:spPr>
      </p:pic>
      <p:sp>
        <p:nvSpPr>
          <p:cNvPr id="314" name="Google Shape;314;g3dec2639e5e_0_72"/>
          <p:cNvSpPr/>
          <p:nvPr/>
        </p:nvSpPr>
        <p:spPr>
          <a:xfrm>
            <a:off x="1078992" y="3346704"/>
            <a:ext cx="20118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600" u="none" cap="none" strike="noStrike">
                <a:solidFill>
                  <a:srgbClr val="FFFFFF"/>
                </a:solidFill>
                <a:latin typeface="Calibri"/>
                <a:ea typeface="Calibri"/>
                <a:cs typeface="Calibri"/>
                <a:sym typeface="Calibri"/>
              </a:rPr>
              <a:t>STRUCTURE OUTPUT</a:t>
            </a:r>
            <a:endParaRPr b="0" i="0" sz="1600" u="none" cap="none" strike="noStrike">
              <a:solidFill>
                <a:schemeClr val="dk1"/>
              </a:solidFill>
              <a:latin typeface="Calibri"/>
              <a:ea typeface="Calibri"/>
              <a:cs typeface="Calibri"/>
              <a:sym typeface="Calibri"/>
            </a:endParaRPr>
          </a:p>
        </p:txBody>
      </p:sp>
      <p:sp>
        <p:nvSpPr>
          <p:cNvPr id="315" name="Google Shape;315;g3dec2639e5e_0_72"/>
          <p:cNvSpPr/>
          <p:nvPr/>
        </p:nvSpPr>
        <p:spPr>
          <a:xfrm>
            <a:off x="3044952" y="3438144"/>
            <a:ext cx="27300" cy="5487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dec2639e5e_0_72"/>
          <p:cNvSpPr/>
          <p:nvPr/>
        </p:nvSpPr>
        <p:spPr>
          <a:xfrm>
            <a:off x="3136392" y="3346704"/>
            <a:ext cx="26244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7AADA6"/>
              </a:buClr>
              <a:buSzPts val="850"/>
              <a:buFont typeface="Calibri"/>
              <a:buNone/>
            </a:pPr>
            <a:r>
              <a:rPr b="0" i="1" lang="en-US" sz="1050" u="none" cap="none" strike="noStrike">
                <a:solidFill>
                  <a:schemeClr val="lt1"/>
                </a:solidFill>
                <a:latin typeface="Calibri"/>
                <a:ea typeface="Calibri"/>
                <a:cs typeface="Calibri"/>
                <a:sym typeface="Calibri"/>
              </a:rPr>
              <a:t>"...Format as a table with columns: PRIMM phase, time, activity, and teacher notes."</a:t>
            </a:r>
            <a:endParaRPr b="0" i="0" sz="1050" u="none" cap="none" strike="noStrike">
              <a:solidFill>
                <a:schemeClr val="lt1"/>
              </a:solidFill>
              <a:latin typeface="Calibri"/>
              <a:ea typeface="Calibri"/>
              <a:cs typeface="Calibri"/>
              <a:sym typeface="Calibri"/>
            </a:endParaRPr>
          </a:p>
        </p:txBody>
      </p:sp>
      <p:sp>
        <p:nvSpPr>
          <p:cNvPr id="317" name="Google Shape;317;g3dec2639e5e_0_72"/>
          <p:cNvSpPr/>
          <p:nvPr/>
        </p:nvSpPr>
        <p:spPr>
          <a:xfrm>
            <a:off x="3044952" y="4078224"/>
            <a:ext cx="36600" cy="36600"/>
          </a:xfrm>
          <a:prstGeom prst="rect">
            <a:avLst/>
          </a:prstGeom>
          <a:solidFill>
            <a:srgbClr val="3A5A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ec2639e5e_0_72"/>
          <p:cNvSpPr/>
          <p:nvPr/>
        </p:nvSpPr>
        <p:spPr>
          <a:xfrm>
            <a:off x="274320" y="4114800"/>
            <a:ext cx="5577900" cy="731400"/>
          </a:xfrm>
          <a:prstGeom prst="rect">
            <a:avLst/>
          </a:prstGeom>
          <a:solidFill>
            <a:srgbClr val="0D7A6B"/>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dec2639e5e_0_72"/>
          <p:cNvSpPr/>
          <p:nvPr/>
        </p:nvSpPr>
        <p:spPr>
          <a:xfrm>
            <a:off x="274320" y="4114800"/>
            <a:ext cx="347400" cy="731400"/>
          </a:xfrm>
          <a:prstGeom prst="rect">
            <a:avLst/>
          </a:prstGeom>
          <a:solidFill>
            <a:srgbClr val="0A63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dec2639e5e_0_72"/>
          <p:cNvSpPr/>
          <p:nvPr/>
        </p:nvSpPr>
        <p:spPr>
          <a:xfrm>
            <a:off x="274320" y="4114800"/>
            <a:ext cx="3474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pic>
        <p:nvPicPr>
          <p:cNvPr descr="preencoded.png" id="321" name="Google Shape;321;g3dec2639e5e_0_72"/>
          <p:cNvPicPr preferRelativeResize="0"/>
          <p:nvPr/>
        </p:nvPicPr>
        <p:blipFill rotWithShape="1">
          <a:blip r:embed="rId7">
            <a:alphaModFix/>
          </a:blip>
          <a:srcRect b="0" l="0" r="0" t="0"/>
          <a:stretch/>
        </p:blipFill>
        <p:spPr>
          <a:xfrm>
            <a:off x="731520" y="4352544"/>
            <a:ext cx="256032" cy="256032"/>
          </a:xfrm>
          <a:prstGeom prst="rect">
            <a:avLst/>
          </a:prstGeom>
          <a:noFill/>
          <a:ln>
            <a:noFill/>
          </a:ln>
        </p:spPr>
      </p:pic>
      <p:sp>
        <p:nvSpPr>
          <p:cNvPr id="322" name="Google Shape;322;g3dec2639e5e_0_72"/>
          <p:cNvSpPr/>
          <p:nvPr/>
        </p:nvSpPr>
        <p:spPr>
          <a:xfrm>
            <a:off x="1078992" y="4114800"/>
            <a:ext cx="20118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600" u="none" cap="none" strike="noStrike">
                <a:solidFill>
                  <a:srgbClr val="FFFFFF"/>
                </a:solidFill>
                <a:latin typeface="Calibri"/>
                <a:ea typeface="Calibri"/>
                <a:cs typeface="Calibri"/>
                <a:sym typeface="Calibri"/>
              </a:rPr>
              <a:t>SHARE FEEDBACK</a:t>
            </a:r>
            <a:endParaRPr b="0" i="0" sz="1600" u="none" cap="none" strike="noStrike">
              <a:solidFill>
                <a:schemeClr val="dk1"/>
              </a:solidFill>
              <a:latin typeface="Calibri"/>
              <a:ea typeface="Calibri"/>
              <a:cs typeface="Calibri"/>
              <a:sym typeface="Calibri"/>
            </a:endParaRPr>
          </a:p>
        </p:txBody>
      </p:sp>
      <p:sp>
        <p:nvSpPr>
          <p:cNvPr id="323" name="Google Shape;323;g3dec2639e5e_0_72"/>
          <p:cNvSpPr/>
          <p:nvPr/>
        </p:nvSpPr>
        <p:spPr>
          <a:xfrm>
            <a:off x="3044952" y="4206240"/>
            <a:ext cx="27300" cy="548700"/>
          </a:xfrm>
          <a:prstGeom prst="rect">
            <a:avLst/>
          </a:prstGeom>
          <a:solidFill>
            <a:srgbClr val="0A63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ec2639e5e_0_72"/>
          <p:cNvSpPr/>
          <p:nvPr/>
        </p:nvSpPr>
        <p:spPr>
          <a:xfrm>
            <a:off x="3136392" y="4264557"/>
            <a:ext cx="26244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D0EEE9"/>
              </a:buClr>
              <a:buSzPts val="850"/>
              <a:buFont typeface="Calibri"/>
              <a:buNone/>
            </a:pPr>
            <a:r>
              <a:rPr b="0" i="1" lang="en-US" sz="1050" u="none" cap="none" strike="noStrike">
                <a:solidFill>
                  <a:srgbClr val="D0EEE9"/>
                </a:solidFill>
                <a:latin typeface="Calibri"/>
                <a:ea typeface="Calibri"/>
                <a:cs typeface="Calibri"/>
                <a:sym typeface="Calibri"/>
              </a:rPr>
              <a:t>"Now add a short student self-reflection tool after the Run phase, aligned to my IPDP goal of increasing student ownership of learning."</a:t>
            </a:r>
            <a:endParaRPr b="0" i="0" sz="1050" u="none" cap="none" strike="noStrike">
              <a:solidFill>
                <a:schemeClr val="dk1"/>
              </a:solidFill>
              <a:latin typeface="Calibri"/>
              <a:ea typeface="Calibri"/>
              <a:cs typeface="Calibri"/>
              <a:sym typeface="Calibri"/>
            </a:endParaRPr>
          </a:p>
        </p:txBody>
      </p:sp>
      <p:sp>
        <p:nvSpPr>
          <p:cNvPr id="325" name="Google Shape;325;g3dec2639e5e_0_72"/>
          <p:cNvSpPr/>
          <p:nvPr/>
        </p:nvSpPr>
        <p:spPr>
          <a:xfrm>
            <a:off x="6035040" y="1042416"/>
            <a:ext cx="2834700" cy="12618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dec2639e5e_0_72"/>
          <p:cNvSpPr/>
          <p:nvPr/>
        </p:nvSpPr>
        <p:spPr>
          <a:xfrm>
            <a:off x="6035040" y="1042416"/>
            <a:ext cx="2834700" cy="36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g3dec2639e5e_0_72"/>
          <p:cNvPicPr preferRelativeResize="0"/>
          <p:nvPr/>
        </p:nvPicPr>
        <p:blipFill rotWithShape="1">
          <a:blip r:embed="rId8">
            <a:alphaModFix/>
          </a:blip>
          <a:srcRect b="0" l="0" r="0" t="0"/>
          <a:stretch/>
        </p:blipFill>
        <p:spPr>
          <a:xfrm>
            <a:off x="6153920" y="1513323"/>
            <a:ext cx="347472" cy="347472"/>
          </a:xfrm>
          <a:prstGeom prst="rect">
            <a:avLst/>
          </a:prstGeom>
          <a:noFill/>
          <a:ln>
            <a:noFill/>
          </a:ln>
        </p:spPr>
      </p:pic>
      <p:sp>
        <p:nvSpPr>
          <p:cNvPr id="328" name="Google Shape;328;g3dec2639e5e_0_72"/>
          <p:cNvSpPr/>
          <p:nvPr/>
        </p:nvSpPr>
        <p:spPr>
          <a:xfrm>
            <a:off x="6675120" y="1280014"/>
            <a:ext cx="2011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700" u="none" cap="none" strike="noStrike">
                <a:solidFill>
                  <a:srgbClr val="FFFFFF"/>
                </a:solidFill>
                <a:latin typeface="Calibri"/>
                <a:ea typeface="Calibri"/>
                <a:cs typeface="Calibri"/>
                <a:sym typeface="Calibri"/>
              </a:rPr>
              <a:t>Always Verify</a:t>
            </a:r>
            <a:endParaRPr b="0" i="0" sz="1700" u="none" cap="none" strike="noStrike">
              <a:solidFill>
                <a:schemeClr val="dk1"/>
              </a:solidFill>
              <a:latin typeface="Calibri"/>
              <a:ea typeface="Calibri"/>
              <a:cs typeface="Calibri"/>
              <a:sym typeface="Calibri"/>
            </a:endParaRPr>
          </a:p>
        </p:txBody>
      </p:sp>
      <p:sp>
        <p:nvSpPr>
          <p:cNvPr id="329" name="Google Shape;329;g3dec2639e5e_0_72"/>
          <p:cNvSpPr/>
          <p:nvPr/>
        </p:nvSpPr>
        <p:spPr>
          <a:xfrm>
            <a:off x="6675120" y="1609344"/>
            <a:ext cx="20574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8ABDB5"/>
              </a:buClr>
              <a:buSzPts val="900"/>
              <a:buFont typeface="Calibri"/>
              <a:buNone/>
            </a:pPr>
            <a:r>
              <a:rPr b="0" i="0" lang="en-US" sz="1100" u="none" cap="none" strike="noStrike">
                <a:solidFill>
                  <a:schemeClr val="lt1"/>
                </a:solidFill>
                <a:latin typeface="Calibri"/>
                <a:ea typeface="Calibri"/>
                <a:cs typeface="Calibri"/>
                <a:sym typeface="Calibri"/>
              </a:rPr>
              <a:t>Every output is a draft. Read it before you use it.</a:t>
            </a:r>
            <a:endParaRPr b="0" i="0" sz="1100" u="none" cap="none" strike="noStrike">
              <a:solidFill>
                <a:schemeClr val="lt1"/>
              </a:solidFill>
              <a:latin typeface="Calibri"/>
              <a:ea typeface="Calibri"/>
              <a:cs typeface="Calibri"/>
              <a:sym typeface="Calibri"/>
            </a:endParaRPr>
          </a:p>
        </p:txBody>
      </p:sp>
      <p:sp>
        <p:nvSpPr>
          <p:cNvPr id="330" name="Google Shape;330;g3dec2639e5e_0_72"/>
          <p:cNvSpPr/>
          <p:nvPr/>
        </p:nvSpPr>
        <p:spPr>
          <a:xfrm>
            <a:off x="6035040" y="2395728"/>
            <a:ext cx="2834700" cy="12618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3dec2639e5e_0_72"/>
          <p:cNvSpPr/>
          <p:nvPr/>
        </p:nvSpPr>
        <p:spPr>
          <a:xfrm>
            <a:off x="6035040" y="2395728"/>
            <a:ext cx="2834700" cy="36600"/>
          </a:xfrm>
          <a:prstGeom prst="rect">
            <a:avLst/>
          </a:prstGeom>
          <a:solidFill>
            <a:srgbClr val="C88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2" name="Google Shape;332;g3dec2639e5e_0_72"/>
          <p:cNvPicPr preferRelativeResize="0"/>
          <p:nvPr/>
        </p:nvPicPr>
        <p:blipFill rotWithShape="1">
          <a:blip r:embed="rId9">
            <a:alphaModFix/>
          </a:blip>
          <a:srcRect b="0" l="0" r="0" t="0"/>
          <a:stretch/>
        </p:blipFill>
        <p:spPr>
          <a:xfrm>
            <a:off x="6153920" y="2916960"/>
            <a:ext cx="347472" cy="347472"/>
          </a:xfrm>
          <a:prstGeom prst="rect">
            <a:avLst/>
          </a:prstGeom>
          <a:noFill/>
          <a:ln>
            <a:noFill/>
          </a:ln>
        </p:spPr>
      </p:pic>
      <p:sp>
        <p:nvSpPr>
          <p:cNvPr id="333" name="Google Shape;333;g3dec2639e5e_0_72"/>
          <p:cNvSpPr/>
          <p:nvPr/>
        </p:nvSpPr>
        <p:spPr>
          <a:xfrm>
            <a:off x="6675120" y="2447285"/>
            <a:ext cx="2011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700" u="none" cap="none" strike="noStrike">
                <a:solidFill>
                  <a:srgbClr val="FFFFFF"/>
                </a:solidFill>
                <a:latin typeface="Calibri"/>
                <a:ea typeface="Calibri"/>
                <a:cs typeface="Calibri"/>
                <a:sym typeface="Calibri"/>
              </a:rPr>
              <a:t>Iterate</a:t>
            </a:r>
            <a:endParaRPr b="0" i="0" sz="1700" u="none" cap="none" strike="noStrike">
              <a:solidFill>
                <a:schemeClr val="dk1"/>
              </a:solidFill>
              <a:latin typeface="Calibri"/>
              <a:ea typeface="Calibri"/>
              <a:cs typeface="Calibri"/>
              <a:sym typeface="Calibri"/>
            </a:endParaRPr>
          </a:p>
        </p:txBody>
      </p:sp>
      <p:sp>
        <p:nvSpPr>
          <p:cNvPr id="334" name="Google Shape;334;g3dec2639e5e_0_72"/>
          <p:cNvSpPr/>
          <p:nvPr/>
        </p:nvSpPr>
        <p:spPr>
          <a:xfrm>
            <a:off x="6675120" y="2918882"/>
            <a:ext cx="20574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8ABDB5"/>
              </a:buClr>
              <a:buSzPts val="900"/>
              <a:buFont typeface="Calibri"/>
              <a:buNone/>
            </a:pPr>
            <a:r>
              <a:rPr b="0" i="0" lang="en-US" sz="1100" u="none" cap="none" strike="noStrike">
                <a:solidFill>
                  <a:schemeClr val="lt1"/>
                </a:solidFill>
                <a:latin typeface="Calibri"/>
                <a:ea typeface="Calibri"/>
                <a:cs typeface="Calibri"/>
                <a:sym typeface="Calibri"/>
              </a:rPr>
              <a:t>The first response is a starting point, not the answer.  Add your own documents, </a:t>
            </a:r>
            <a:r>
              <a:rPr lang="en-US" sz="1100">
                <a:solidFill>
                  <a:schemeClr val="lt1"/>
                </a:solidFill>
                <a:latin typeface="Calibri"/>
                <a:ea typeface="Calibri"/>
                <a:cs typeface="Calibri"/>
                <a:sym typeface="Calibri"/>
              </a:rPr>
              <a:t>slides, and resources to add context.</a:t>
            </a:r>
            <a:endParaRPr b="0" i="0" sz="1100" u="none" cap="none" strike="noStrike">
              <a:solidFill>
                <a:schemeClr val="lt1"/>
              </a:solidFill>
              <a:latin typeface="Calibri"/>
              <a:ea typeface="Calibri"/>
              <a:cs typeface="Calibri"/>
              <a:sym typeface="Calibri"/>
            </a:endParaRPr>
          </a:p>
        </p:txBody>
      </p:sp>
      <p:sp>
        <p:nvSpPr>
          <p:cNvPr id="335" name="Google Shape;335;g3dec2639e5e_0_72"/>
          <p:cNvSpPr/>
          <p:nvPr/>
        </p:nvSpPr>
        <p:spPr>
          <a:xfrm>
            <a:off x="6035040" y="3749040"/>
            <a:ext cx="2834700" cy="1261800"/>
          </a:xfrm>
          <a:prstGeom prst="rect">
            <a:avLst/>
          </a:prstGeom>
          <a:solidFill>
            <a:srgbClr val="243A42"/>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dec2639e5e_0_72"/>
          <p:cNvSpPr/>
          <p:nvPr/>
        </p:nvSpPr>
        <p:spPr>
          <a:xfrm>
            <a:off x="6035040" y="3749040"/>
            <a:ext cx="2834700" cy="366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7" name="Google Shape;337;g3dec2639e5e_0_72"/>
          <p:cNvPicPr preferRelativeResize="0"/>
          <p:nvPr/>
        </p:nvPicPr>
        <p:blipFill rotWithShape="1">
          <a:blip r:embed="rId10">
            <a:alphaModFix/>
          </a:blip>
          <a:srcRect b="0" l="0" r="0" t="0"/>
          <a:stretch/>
        </p:blipFill>
        <p:spPr>
          <a:xfrm>
            <a:off x="6153920" y="4178822"/>
            <a:ext cx="347472" cy="347472"/>
          </a:xfrm>
          <a:prstGeom prst="rect">
            <a:avLst/>
          </a:prstGeom>
          <a:noFill/>
          <a:ln>
            <a:noFill/>
          </a:ln>
        </p:spPr>
      </p:pic>
      <p:sp>
        <p:nvSpPr>
          <p:cNvPr id="338" name="Google Shape;338;g3dec2639e5e_0_72"/>
          <p:cNvSpPr/>
          <p:nvPr/>
        </p:nvSpPr>
        <p:spPr>
          <a:xfrm>
            <a:off x="6675120" y="3964751"/>
            <a:ext cx="2011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700" u="none" cap="none" strike="noStrike">
                <a:solidFill>
                  <a:srgbClr val="FFFFFF"/>
                </a:solidFill>
                <a:latin typeface="Calibri"/>
                <a:ea typeface="Calibri"/>
                <a:cs typeface="Calibri"/>
                <a:sym typeface="Calibri"/>
              </a:rPr>
              <a:t>Protect Privacy</a:t>
            </a:r>
            <a:endParaRPr b="0" i="0" sz="1700" u="none" cap="none" strike="noStrike">
              <a:solidFill>
                <a:schemeClr val="dk1"/>
              </a:solidFill>
              <a:latin typeface="Calibri"/>
              <a:ea typeface="Calibri"/>
              <a:cs typeface="Calibri"/>
              <a:sym typeface="Calibri"/>
            </a:endParaRPr>
          </a:p>
        </p:txBody>
      </p:sp>
      <p:sp>
        <p:nvSpPr>
          <p:cNvPr id="339" name="Google Shape;339;g3dec2639e5e_0_72"/>
          <p:cNvSpPr/>
          <p:nvPr/>
        </p:nvSpPr>
        <p:spPr>
          <a:xfrm>
            <a:off x="6675120" y="4272194"/>
            <a:ext cx="20574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8ABDB5"/>
              </a:buClr>
              <a:buSzPts val="900"/>
              <a:buFont typeface="Calibri"/>
              <a:buNone/>
            </a:pPr>
            <a:r>
              <a:rPr b="0" i="0" lang="en-US" sz="1100" u="none" cap="none" strike="noStrike">
                <a:solidFill>
                  <a:schemeClr val="lt1"/>
                </a:solidFill>
                <a:latin typeface="Calibri"/>
                <a:ea typeface="Calibri"/>
                <a:cs typeface="Calibri"/>
                <a:sym typeface="Calibri"/>
              </a:rPr>
              <a:t>No student names, grades, or IEP info</a:t>
            </a:r>
            <a:endParaRPr b="0" i="0" sz="1100" u="none" cap="none" strike="noStrike">
              <a:solidFill>
                <a:schemeClr val="lt1"/>
              </a:solidFill>
              <a:latin typeface="Calibri"/>
              <a:ea typeface="Calibri"/>
              <a:cs typeface="Calibri"/>
              <a:sym typeface="Calibri"/>
            </a:endParaRPr>
          </a:p>
        </p:txBody>
      </p:sp>
      <p:sp>
        <p:nvSpPr>
          <p:cNvPr id="340" name="Google Shape;340;g3dec2639e5e_0_72"/>
          <p:cNvSpPr/>
          <p:nvPr/>
        </p:nvSpPr>
        <p:spPr>
          <a:xfrm>
            <a:off x="5943600" y="749808"/>
            <a:ext cx="36600" cy="43434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dec2639e5e_0_72"/>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346" name="Shape 346"/>
        <p:cNvGrpSpPr/>
        <p:nvPr/>
      </p:nvGrpSpPr>
      <p:grpSpPr>
        <a:xfrm>
          <a:off x="0" y="0"/>
          <a:ext cx="0" cy="0"/>
          <a:chOff x="0" y="0"/>
          <a:chExt cx="0" cy="0"/>
        </a:xfrm>
      </p:grpSpPr>
      <p:sp>
        <p:nvSpPr>
          <p:cNvPr id="347" name="Google Shape;347;p8"/>
          <p:cNvSpPr/>
          <p:nvPr/>
        </p:nvSpPr>
        <p:spPr>
          <a:xfrm>
            <a:off x="0" y="0"/>
            <a:ext cx="411480" cy="51435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594360" y="1828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00"/>
              <a:buFont typeface="Calibri"/>
              <a:buNone/>
            </a:pPr>
            <a:r>
              <a:rPr b="1" i="0" lang="en-US" sz="2000" u="none" cap="none" strike="noStrike">
                <a:solidFill>
                  <a:srgbClr val="E05C3A"/>
                </a:solidFill>
                <a:latin typeface="Calibri"/>
                <a:ea typeface="Calibri"/>
                <a:cs typeface="Calibri"/>
                <a:sym typeface="Calibri"/>
              </a:rPr>
              <a:t>PRACTICAL EXAMPLE 1  ·  SAVE TIME ON EMAILS &amp; ADMIN</a:t>
            </a:r>
            <a:endParaRPr b="0" i="0" sz="2000" u="none" cap="none" strike="noStrike">
              <a:solidFill>
                <a:schemeClr val="dk1"/>
              </a:solidFill>
              <a:latin typeface="Calibri"/>
              <a:ea typeface="Calibri"/>
              <a:cs typeface="Calibri"/>
              <a:sym typeface="Calibri"/>
            </a:endParaRPr>
          </a:p>
        </p:txBody>
      </p:sp>
      <p:sp>
        <p:nvSpPr>
          <p:cNvPr id="349" name="Google Shape;349;p8"/>
          <p:cNvSpPr/>
          <p:nvPr/>
        </p:nvSpPr>
        <p:spPr>
          <a:xfrm>
            <a:off x="594360" y="548640"/>
            <a:ext cx="8229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600"/>
              <a:buFont typeface="Calibri"/>
              <a:buNone/>
            </a:pPr>
            <a:r>
              <a:rPr b="1" i="0" lang="en-US" sz="1600" u="none" cap="none" strike="noStrike">
                <a:solidFill>
                  <a:srgbClr val="1A2E35"/>
                </a:solidFill>
                <a:latin typeface="Calibri"/>
                <a:ea typeface="Calibri"/>
                <a:cs typeface="Calibri"/>
                <a:sym typeface="Calibri"/>
              </a:rPr>
              <a:t>Write, polish, and tone-check communications in seconds.</a:t>
            </a:r>
            <a:endParaRPr b="0" i="0" sz="1600" u="none" cap="none" strike="noStrike">
              <a:solidFill>
                <a:schemeClr val="dk1"/>
              </a:solidFill>
              <a:latin typeface="Calibri"/>
              <a:ea typeface="Calibri"/>
              <a:cs typeface="Calibri"/>
              <a:sym typeface="Calibri"/>
            </a:endParaRPr>
          </a:p>
        </p:txBody>
      </p:sp>
      <p:sp>
        <p:nvSpPr>
          <p:cNvPr id="350" name="Google Shape;350;p8"/>
          <p:cNvSpPr/>
          <p:nvPr/>
        </p:nvSpPr>
        <p:spPr>
          <a:xfrm>
            <a:off x="59436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59436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73152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600" u="none" cap="none" strike="noStrike">
                <a:solidFill>
                  <a:srgbClr val="FFFFFF"/>
                </a:solidFill>
                <a:latin typeface="Calibri"/>
                <a:ea typeface="Calibri"/>
                <a:cs typeface="Calibri"/>
                <a:sym typeface="Calibri"/>
              </a:rPr>
              <a:t>Parent Email</a:t>
            </a:r>
            <a:endParaRPr b="0" i="0" sz="1600" u="none" cap="none" strike="noStrike">
              <a:solidFill>
                <a:schemeClr val="dk1"/>
              </a:solidFill>
              <a:latin typeface="Calibri"/>
              <a:ea typeface="Calibri"/>
              <a:cs typeface="Calibri"/>
              <a:sym typeface="Calibri"/>
            </a:endParaRPr>
          </a:p>
        </p:txBody>
      </p:sp>
      <p:sp>
        <p:nvSpPr>
          <p:cNvPr id="353" name="Google Shape;353;p8"/>
          <p:cNvSpPr/>
          <p:nvPr/>
        </p:nvSpPr>
        <p:spPr>
          <a:xfrm>
            <a:off x="73152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150" u="none" cap="none" strike="noStrike">
                <a:solidFill>
                  <a:srgbClr val="F7F4F0"/>
                </a:solidFill>
                <a:latin typeface="Calibri"/>
                <a:ea typeface="Calibri"/>
                <a:cs typeface="Calibri"/>
                <a:sym typeface="Calibri"/>
              </a:rPr>
              <a:t>Write a professional but warm email to a parent explaining that their child has several missing assignments. Keep the tone supportive, not accusatory.</a:t>
            </a:r>
            <a:endParaRPr b="0" i="0" sz="1150" u="none" cap="none" strike="noStrike">
              <a:solidFill>
                <a:srgbClr val="F7F4F0"/>
              </a:solidFill>
              <a:latin typeface="Calibri"/>
              <a:ea typeface="Calibri"/>
              <a:cs typeface="Calibri"/>
              <a:sym typeface="Calibri"/>
            </a:endParaRPr>
          </a:p>
        </p:txBody>
      </p:sp>
      <p:sp>
        <p:nvSpPr>
          <p:cNvPr id="354" name="Google Shape;354;p8"/>
          <p:cNvSpPr/>
          <p:nvPr/>
        </p:nvSpPr>
        <p:spPr>
          <a:xfrm>
            <a:off x="342900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342900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356616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600" u="none" cap="none" strike="noStrike">
                <a:solidFill>
                  <a:srgbClr val="FFFFFF"/>
                </a:solidFill>
                <a:latin typeface="Calibri"/>
                <a:ea typeface="Calibri"/>
                <a:cs typeface="Calibri"/>
                <a:sym typeface="Calibri"/>
              </a:rPr>
              <a:t>Tone Check</a:t>
            </a:r>
            <a:endParaRPr b="0" i="0" sz="1600" u="none" cap="none" strike="noStrike">
              <a:solidFill>
                <a:schemeClr val="dk1"/>
              </a:solidFill>
              <a:latin typeface="Calibri"/>
              <a:ea typeface="Calibri"/>
              <a:cs typeface="Calibri"/>
              <a:sym typeface="Calibri"/>
            </a:endParaRPr>
          </a:p>
        </p:txBody>
      </p:sp>
      <p:sp>
        <p:nvSpPr>
          <p:cNvPr id="357" name="Google Shape;357;p8"/>
          <p:cNvSpPr/>
          <p:nvPr/>
        </p:nvSpPr>
        <p:spPr>
          <a:xfrm>
            <a:off x="356616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150" u="none" cap="none" strike="noStrike">
                <a:solidFill>
                  <a:srgbClr val="F7F4F0"/>
                </a:solidFill>
                <a:latin typeface="Calibri"/>
                <a:ea typeface="Calibri"/>
                <a:cs typeface="Calibri"/>
                <a:sym typeface="Calibri"/>
              </a:rPr>
              <a:t>I need to send this email to a parent. Rewrite it to sound more polite and professional while keeping my main message intact:</a:t>
            </a:r>
            <a:endParaRPr b="0" i="0" sz="1150" u="none" cap="none" strike="noStrike">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950"/>
              <a:buFont typeface="Calibri"/>
              <a:buNone/>
            </a:pPr>
            <a:r>
              <a:t/>
            </a:r>
            <a:endParaRPr b="0" i="0" sz="1150" u="none" cap="none" strike="noStrike">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rgbClr val="A0B8BF"/>
              </a:buClr>
              <a:buSzPts val="950"/>
              <a:buFont typeface="Calibri"/>
              <a:buNone/>
            </a:pPr>
            <a:r>
              <a:rPr b="0" i="0" lang="en-US" sz="1150" u="none" cap="none" strike="noStrike">
                <a:solidFill>
                  <a:srgbClr val="F7F4F0"/>
                </a:solidFill>
                <a:latin typeface="Calibri"/>
                <a:ea typeface="Calibri"/>
                <a:cs typeface="Calibri"/>
                <a:sym typeface="Calibri"/>
              </a:rPr>
              <a:t>[paste your draft]</a:t>
            </a:r>
            <a:endParaRPr b="0" i="0" sz="1150" u="none" cap="none" strike="noStrike">
              <a:solidFill>
                <a:srgbClr val="F7F4F0"/>
              </a:solidFill>
              <a:latin typeface="Calibri"/>
              <a:ea typeface="Calibri"/>
              <a:cs typeface="Calibri"/>
              <a:sym typeface="Calibri"/>
            </a:endParaRPr>
          </a:p>
        </p:txBody>
      </p:sp>
      <p:sp>
        <p:nvSpPr>
          <p:cNvPr id="358" name="Google Shape;358;p8"/>
          <p:cNvSpPr/>
          <p:nvPr/>
        </p:nvSpPr>
        <p:spPr>
          <a:xfrm>
            <a:off x="6263640" y="1097280"/>
            <a:ext cx="2651700" cy="310890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626364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6400800" y="1256621"/>
            <a:ext cx="23775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600" u="none" cap="none" strike="noStrike">
                <a:solidFill>
                  <a:srgbClr val="FFFFFF"/>
                </a:solidFill>
                <a:latin typeface="Calibri"/>
                <a:ea typeface="Calibri"/>
                <a:cs typeface="Calibri"/>
                <a:sym typeface="Calibri"/>
              </a:rPr>
              <a:t>Newsletter / Announcement</a:t>
            </a:r>
            <a:endParaRPr b="0" i="0" sz="1600" u="none" cap="none" strike="noStrike">
              <a:solidFill>
                <a:schemeClr val="dk1"/>
              </a:solidFill>
              <a:latin typeface="Calibri"/>
              <a:ea typeface="Calibri"/>
              <a:cs typeface="Calibri"/>
              <a:sym typeface="Calibri"/>
            </a:endParaRPr>
          </a:p>
        </p:txBody>
      </p:sp>
      <p:sp>
        <p:nvSpPr>
          <p:cNvPr id="361" name="Google Shape;361;p8"/>
          <p:cNvSpPr/>
          <p:nvPr/>
        </p:nvSpPr>
        <p:spPr>
          <a:xfrm>
            <a:off x="6400800" y="1839864"/>
            <a:ext cx="2377500" cy="201180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150" u="none" cap="none" strike="noStrike">
                <a:solidFill>
                  <a:srgbClr val="F7F4F0"/>
                </a:solidFill>
                <a:latin typeface="Calibri"/>
                <a:ea typeface="Calibri"/>
                <a:cs typeface="Calibri"/>
                <a:sym typeface="Calibri"/>
              </a:rPr>
              <a:t>Write a short newsletter update for parents about our upcoming [event]. Keep it friendly, clear, and under 150 words.</a:t>
            </a:r>
            <a:endParaRPr b="0" i="0" sz="1150" u="none" cap="none" strike="noStrike">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rgbClr val="A0B8BF"/>
              </a:buClr>
              <a:buSzPts val="950"/>
              <a:buFont typeface="Calibri"/>
              <a:buNone/>
            </a:pPr>
            <a:r>
              <a:t/>
            </a:r>
            <a:endParaRPr sz="1150">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rgbClr val="A0B8BF"/>
              </a:buClr>
              <a:buSzPts val="950"/>
              <a:buFont typeface="Calibri"/>
              <a:buNone/>
            </a:pPr>
            <a:r>
              <a:rPr lang="en-US" sz="1150">
                <a:solidFill>
                  <a:srgbClr val="F7F4F0"/>
                </a:solidFill>
                <a:latin typeface="Calibri"/>
                <a:ea typeface="Calibri"/>
                <a:cs typeface="Calibri"/>
                <a:sym typeface="Calibri"/>
              </a:rPr>
              <a:t>**Attach helpful documents as AI can read and implement information straight from the source.  Be sure to verify!</a:t>
            </a:r>
            <a:endParaRPr sz="1150">
              <a:solidFill>
                <a:srgbClr val="F7F4F0"/>
              </a:solidFill>
              <a:latin typeface="Calibri"/>
              <a:ea typeface="Calibri"/>
              <a:cs typeface="Calibri"/>
              <a:sym typeface="Calibri"/>
            </a:endParaRPr>
          </a:p>
        </p:txBody>
      </p:sp>
      <p:sp>
        <p:nvSpPr>
          <p:cNvPr id="362" name="Google Shape;362;p8"/>
          <p:cNvSpPr/>
          <p:nvPr/>
        </p:nvSpPr>
        <p:spPr>
          <a:xfrm>
            <a:off x="594360" y="4206240"/>
            <a:ext cx="8138160" cy="594360"/>
          </a:xfrm>
          <a:prstGeom prst="rect">
            <a:avLst/>
          </a:prstGeom>
          <a:solidFill>
            <a:srgbClr val="FDF0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368" name="Shape 368"/>
        <p:cNvGrpSpPr/>
        <p:nvPr/>
      </p:nvGrpSpPr>
      <p:grpSpPr>
        <a:xfrm>
          <a:off x="0" y="0"/>
          <a:ext cx="0" cy="0"/>
          <a:chOff x="0" y="0"/>
          <a:chExt cx="0" cy="0"/>
        </a:xfrm>
      </p:grpSpPr>
      <p:sp>
        <p:nvSpPr>
          <p:cNvPr id="369" name="Google Shape;369;p9"/>
          <p:cNvSpPr/>
          <p:nvPr/>
        </p:nvSpPr>
        <p:spPr>
          <a:xfrm>
            <a:off x="0" y="0"/>
            <a:ext cx="411480" cy="51435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9"/>
          <p:cNvSpPr/>
          <p:nvPr/>
        </p:nvSpPr>
        <p:spPr>
          <a:xfrm>
            <a:off x="594360" y="1828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900"/>
              <a:buFont typeface="Calibri"/>
              <a:buNone/>
            </a:pPr>
            <a:r>
              <a:rPr b="1" i="0" lang="en-US" sz="2000" u="none" cap="none" strike="noStrike">
                <a:solidFill>
                  <a:srgbClr val="0D7A6B"/>
                </a:solidFill>
                <a:latin typeface="Calibri"/>
                <a:ea typeface="Calibri"/>
                <a:cs typeface="Calibri"/>
                <a:sym typeface="Calibri"/>
              </a:rPr>
              <a:t>PRACTICAL EXAMPLE 2  ·  CREATE MATERIALS FAST</a:t>
            </a:r>
            <a:endParaRPr b="0" i="0" sz="2000" u="none" cap="none" strike="noStrike">
              <a:solidFill>
                <a:schemeClr val="dk1"/>
              </a:solidFill>
              <a:latin typeface="Calibri"/>
              <a:ea typeface="Calibri"/>
              <a:cs typeface="Calibri"/>
              <a:sym typeface="Calibri"/>
            </a:endParaRPr>
          </a:p>
        </p:txBody>
      </p:sp>
      <p:sp>
        <p:nvSpPr>
          <p:cNvPr id="371" name="Google Shape;371;p9"/>
          <p:cNvSpPr/>
          <p:nvPr/>
        </p:nvSpPr>
        <p:spPr>
          <a:xfrm>
            <a:off x="594360" y="548640"/>
            <a:ext cx="8229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600"/>
              <a:buFont typeface="Calibri"/>
              <a:buNone/>
            </a:pPr>
            <a:r>
              <a:rPr b="1" i="0" lang="en-US" sz="1600" u="none" cap="none" strike="noStrike">
                <a:solidFill>
                  <a:srgbClr val="1A2E35"/>
                </a:solidFill>
                <a:latin typeface="Calibri"/>
                <a:ea typeface="Calibri"/>
                <a:cs typeface="Calibri"/>
                <a:sym typeface="Calibri"/>
              </a:rPr>
              <a:t>Worksheets, rubrics, and activities without starting from scratch.</a:t>
            </a:r>
            <a:endParaRPr b="0" i="0" sz="1600" u="none" cap="none" strike="noStrike">
              <a:solidFill>
                <a:schemeClr val="dk1"/>
              </a:solidFill>
              <a:latin typeface="Calibri"/>
              <a:ea typeface="Calibri"/>
              <a:cs typeface="Calibri"/>
              <a:sym typeface="Calibri"/>
            </a:endParaRPr>
          </a:p>
        </p:txBody>
      </p:sp>
      <p:sp>
        <p:nvSpPr>
          <p:cNvPr id="372" name="Google Shape;372;p9"/>
          <p:cNvSpPr/>
          <p:nvPr/>
        </p:nvSpPr>
        <p:spPr>
          <a:xfrm>
            <a:off x="59436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594360" y="1097280"/>
            <a:ext cx="2651760" cy="54864"/>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p:nvPr/>
        </p:nvSpPr>
        <p:spPr>
          <a:xfrm>
            <a:off x="73152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Worksheet / Activity</a:t>
            </a:r>
            <a:endParaRPr b="0" i="0" sz="1500" u="none" cap="none" strike="noStrike">
              <a:solidFill>
                <a:schemeClr val="dk1"/>
              </a:solidFill>
              <a:latin typeface="Calibri"/>
              <a:ea typeface="Calibri"/>
              <a:cs typeface="Calibri"/>
              <a:sym typeface="Calibri"/>
            </a:endParaRPr>
          </a:p>
        </p:txBody>
      </p:sp>
      <p:sp>
        <p:nvSpPr>
          <p:cNvPr id="375" name="Google Shape;375;p9"/>
          <p:cNvSpPr/>
          <p:nvPr/>
        </p:nvSpPr>
        <p:spPr>
          <a:xfrm>
            <a:off x="73152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Create a worksheet for [grade] students on [topic]. Include 5 comprehension questions, 2 short-answer questions, and one reflection prompt.</a:t>
            </a:r>
            <a:endParaRPr b="0" i="0" sz="1250" u="none" cap="none" strike="noStrike">
              <a:solidFill>
                <a:srgbClr val="F7F4F0"/>
              </a:solidFill>
              <a:latin typeface="Calibri"/>
              <a:ea typeface="Calibri"/>
              <a:cs typeface="Calibri"/>
              <a:sym typeface="Calibri"/>
            </a:endParaRPr>
          </a:p>
        </p:txBody>
      </p:sp>
      <p:sp>
        <p:nvSpPr>
          <p:cNvPr id="376" name="Google Shape;376;p9"/>
          <p:cNvSpPr/>
          <p:nvPr/>
        </p:nvSpPr>
        <p:spPr>
          <a:xfrm>
            <a:off x="342900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3429000" y="1097280"/>
            <a:ext cx="2651760" cy="54864"/>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356616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Rubric</a:t>
            </a:r>
            <a:endParaRPr b="0" i="0" sz="1500" u="none" cap="none" strike="noStrike">
              <a:solidFill>
                <a:schemeClr val="dk1"/>
              </a:solidFill>
              <a:latin typeface="Calibri"/>
              <a:ea typeface="Calibri"/>
              <a:cs typeface="Calibri"/>
              <a:sym typeface="Calibri"/>
            </a:endParaRPr>
          </a:p>
        </p:txBody>
      </p:sp>
      <p:sp>
        <p:nvSpPr>
          <p:cNvPr id="379" name="Google Shape;379;p9"/>
          <p:cNvSpPr/>
          <p:nvPr/>
        </p:nvSpPr>
        <p:spPr>
          <a:xfrm>
            <a:off x="356616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Create a rubric for a [assignment type] completed by [grade] students. Include 4 criteria, 4 performance levels, and student-friendly descriptions.</a:t>
            </a:r>
            <a:endParaRPr b="0" i="0" sz="1250" u="none" cap="none" strike="noStrike">
              <a:solidFill>
                <a:srgbClr val="F7F4F0"/>
              </a:solidFill>
              <a:latin typeface="Calibri"/>
              <a:ea typeface="Calibri"/>
              <a:cs typeface="Calibri"/>
              <a:sym typeface="Calibri"/>
            </a:endParaRPr>
          </a:p>
        </p:txBody>
      </p:sp>
      <p:sp>
        <p:nvSpPr>
          <p:cNvPr id="380" name="Google Shape;380;p9"/>
          <p:cNvSpPr/>
          <p:nvPr/>
        </p:nvSpPr>
        <p:spPr>
          <a:xfrm>
            <a:off x="626364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6263640" y="1097280"/>
            <a:ext cx="2651760" cy="54864"/>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640080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Atlas / Unit Planning</a:t>
            </a:r>
            <a:endParaRPr b="0" i="0" sz="1500" u="none" cap="none" strike="noStrike">
              <a:solidFill>
                <a:schemeClr val="dk1"/>
              </a:solidFill>
              <a:latin typeface="Calibri"/>
              <a:ea typeface="Calibri"/>
              <a:cs typeface="Calibri"/>
              <a:sym typeface="Calibri"/>
            </a:endParaRPr>
          </a:p>
        </p:txBody>
      </p:sp>
      <p:sp>
        <p:nvSpPr>
          <p:cNvPr id="383" name="Google Shape;383;p9"/>
          <p:cNvSpPr/>
          <p:nvPr/>
        </p:nvSpPr>
        <p:spPr>
          <a:xfrm>
            <a:off x="640080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I'm updating an Atlas unit on [topic] for [grade]. Help me write a concise unit overview, 3 essential questions, and 2 enduring understandings.</a:t>
            </a:r>
            <a:endParaRPr b="0" i="0" sz="1250" u="none" cap="none" strike="noStrike">
              <a:solidFill>
                <a:srgbClr val="F7F4F0"/>
              </a:solidFill>
              <a:latin typeface="Calibri"/>
              <a:ea typeface="Calibri"/>
              <a:cs typeface="Calibri"/>
              <a:sym typeface="Calibri"/>
            </a:endParaRPr>
          </a:p>
        </p:txBody>
      </p:sp>
      <p:sp>
        <p:nvSpPr>
          <p:cNvPr id="384" name="Google Shape;384;p9"/>
          <p:cNvSpPr/>
          <p:nvPr/>
        </p:nvSpPr>
        <p:spPr>
          <a:xfrm>
            <a:off x="594360" y="4206240"/>
            <a:ext cx="8138160" cy="594360"/>
          </a:xfrm>
          <a:prstGeom prst="rect">
            <a:avLst/>
          </a:prstGeom>
          <a:solidFill>
            <a:srgbClr val="FDF0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390" name="Shape 390"/>
        <p:cNvGrpSpPr/>
        <p:nvPr/>
      </p:nvGrpSpPr>
      <p:grpSpPr>
        <a:xfrm>
          <a:off x="0" y="0"/>
          <a:ext cx="0" cy="0"/>
          <a:chOff x="0" y="0"/>
          <a:chExt cx="0" cy="0"/>
        </a:xfrm>
      </p:grpSpPr>
      <p:sp>
        <p:nvSpPr>
          <p:cNvPr id="391" name="Google Shape;391;p10"/>
          <p:cNvSpPr/>
          <p:nvPr/>
        </p:nvSpPr>
        <p:spPr>
          <a:xfrm>
            <a:off x="0" y="0"/>
            <a:ext cx="411480" cy="51435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0"/>
          <p:cNvSpPr/>
          <p:nvPr/>
        </p:nvSpPr>
        <p:spPr>
          <a:xfrm>
            <a:off x="594360" y="1828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00"/>
              <a:buFont typeface="Calibri"/>
              <a:buNone/>
            </a:pPr>
            <a:r>
              <a:rPr b="1" i="0" lang="en-US" sz="2000" u="none" cap="none" strike="noStrike">
                <a:solidFill>
                  <a:srgbClr val="E05C3A"/>
                </a:solidFill>
                <a:latin typeface="Calibri"/>
                <a:ea typeface="Calibri"/>
                <a:cs typeface="Calibri"/>
                <a:sym typeface="Calibri"/>
              </a:rPr>
              <a:t>PRACTICAL EXAMPLE 3  ·  DIFFERENTIATION &amp; STUDENT FEEDBACK</a:t>
            </a:r>
            <a:endParaRPr b="0" i="0" sz="2000" u="none" cap="none" strike="noStrike">
              <a:solidFill>
                <a:schemeClr val="dk1"/>
              </a:solidFill>
              <a:latin typeface="Calibri"/>
              <a:ea typeface="Calibri"/>
              <a:cs typeface="Calibri"/>
              <a:sym typeface="Calibri"/>
            </a:endParaRPr>
          </a:p>
        </p:txBody>
      </p:sp>
      <p:sp>
        <p:nvSpPr>
          <p:cNvPr id="393" name="Google Shape;393;p10"/>
          <p:cNvSpPr/>
          <p:nvPr/>
        </p:nvSpPr>
        <p:spPr>
          <a:xfrm>
            <a:off x="594360" y="548640"/>
            <a:ext cx="8229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1600"/>
              <a:buFont typeface="Calibri"/>
              <a:buNone/>
            </a:pPr>
            <a:r>
              <a:rPr b="1" i="0" lang="en-US" sz="1600" u="none" cap="none" strike="noStrike">
                <a:solidFill>
                  <a:srgbClr val="1A2E35"/>
                </a:solidFill>
                <a:latin typeface="Calibri"/>
                <a:ea typeface="Calibri"/>
                <a:cs typeface="Calibri"/>
                <a:sym typeface="Calibri"/>
              </a:rPr>
              <a:t>Meet more learners where they are — without doubling your workload.</a:t>
            </a:r>
            <a:endParaRPr b="0" i="0" sz="1600" u="none" cap="none" strike="noStrike">
              <a:solidFill>
                <a:schemeClr val="dk1"/>
              </a:solidFill>
              <a:latin typeface="Calibri"/>
              <a:ea typeface="Calibri"/>
              <a:cs typeface="Calibri"/>
              <a:sym typeface="Calibri"/>
            </a:endParaRPr>
          </a:p>
        </p:txBody>
      </p:sp>
      <p:sp>
        <p:nvSpPr>
          <p:cNvPr id="394" name="Google Shape;394;p10"/>
          <p:cNvSpPr/>
          <p:nvPr/>
        </p:nvSpPr>
        <p:spPr>
          <a:xfrm>
            <a:off x="59436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p:nvPr/>
        </p:nvSpPr>
        <p:spPr>
          <a:xfrm>
            <a:off x="59436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0"/>
          <p:cNvSpPr/>
          <p:nvPr/>
        </p:nvSpPr>
        <p:spPr>
          <a:xfrm>
            <a:off x="73152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Reading Differentiation</a:t>
            </a:r>
            <a:endParaRPr b="0" i="0" sz="1500" u="none" cap="none" strike="noStrike">
              <a:solidFill>
                <a:schemeClr val="dk1"/>
              </a:solidFill>
              <a:latin typeface="Calibri"/>
              <a:ea typeface="Calibri"/>
              <a:cs typeface="Calibri"/>
              <a:sym typeface="Calibri"/>
            </a:endParaRPr>
          </a:p>
        </p:txBody>
      </p:sp>
      <p:sp>
        <p:nvSpPr>
          <p:cNvPr id="397" name="Google Shape;397;p10"/>
          <p:cNvSpPr/>
          <p:nvPr/>
        </p:nvSpPr>
        <p:spPr>
          <a:xfrm>
            <a:off x="73152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Rewrite this passage for a [grade] reader. Keep the key ideas but simplify the vocabulary.</a:t>
            </a:r>
            <a:endParaRPr b="0" i="0" sz="1250" u="none" cap="none" strike="noStrike">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950"/>
              <a:buFont typeface="Calibri"/>
              <a:buNone/>
            </a:pPr>
            <a:r>
              <a:t/>
            </a:r>
            <a:endParaRPr b="0" i="0" sz="1250" u="none" cap="none" strike="noStrike">
              <a:solidFill>
                <a:srgbClr val="F7F4F0"/>
              </a:solidFill>
              <a:latin typeface="Calibri"/>
              <a:ea typeface="Calibri"/>
              <a:cs typeface="Calibri"/>
              <a:sym typeface="Calibri"/>
            </a:endParaRPr>
          </a:p>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Follow-up: Create 3 comprehension questions at two difficulty levels.</a:t>
            </a:r>
            <a:endParaRPr b="0" i="0" sz="1250" u="none" cap="none" strike="noStrike">
              <a:solidFill>
                <a:srgbClr val="F7F4F0"/>
              </a:solidFill>
              <a:latin typeface="Calibri"/>
              <a:ea typeface="Calibri"/>
              <a:cs typeface="Calibri"/>
              <a:sym typeface="Calibri"/>
            </a:endParaRPr>
          </a:p>
        </p:txBody>
      </p:sp>
      <p:sp>
        <p:nvSpPr>
          <p:cNvPr id="398" name="Google Shape;398;p10"/>
          <p:cNvSpPr/>
          <p:nvPr/>
        </p:nvSpPr>
        <p:spPr>
          <a:xfrm>
            <a:off x="342900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0"/>
          <p:cNvSpPr/>
          <p:nvPr/>
        </p:nvSpPr>
        <p:spPr>
          <a:xfrm>
            <a:off x="342900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0"/>
          <p:cNvSpPr/>
          <p:nvPr/>
        </p:nvSpPr>
        <p:spPr>
          <a:xfrm>
            <a:off x="356616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Leveled Groups / Support</a:t>
            </a:r>
            <a:endParaRPr b="0" i="0" sz="1500" u="none" cap="none" strike="noStrike">
              <a:solidFill>
                <a:schemeClr val="dk1"/>
              </a:solidFill>
              <a:latin typeface="Calibri"/>
              <a:ea typeface="Calibri"/>
              <a:cs typeface="Calibri"/>
              <a:sym typeface="Calibri"/>
            </a:endParaRPr>
          </a:p>
        </p:txBody>
      </p:sp>
      <p:sp>
        <p:nvSpPr>
          <p:cNvPr id="401" name="Google Shape;401;p10"/>
          <p:cNvSpPr/>
          <p:nvPr/>
        </p:nvSpPr>
        <p:spPr>
          <a:xfrm>
            <a:off x="356616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Based on these student skill gaps: [list gaps], suggest how I might group students and what targeted activities each group could work on.</a:t>
            </a:r>
            <a:endParaRPr b="0" i="0" sz="1250" u="none" cap="none" strike="noStrike">
              <a:solidFill>
                <a:srgbClr val="F7F4F0"/>
              </a:solidFill>
              <a:latin typeface="Calibri"/>
              <a:ea typeface="Calibri"/>
              <a:cs typeface="Calibri"/>
              <a:sym typeface="Calibri"/>
            </a:endParaRPr>
          </a:p>
        </p:txBody>
      </p:sp>
      <p:sp>
        <p:nvSpPr>
          <p:cNvPr id="402" name="Google Shape;402;p10"/>
          <p:cNvSpPr/>
          <p:nvPr/>
        </p:nvSpPr>
        <p:spPr>
          <a:xfrm>
            <a:off x="6263640" y="1097280"/>
            <a:ext cx="2651760" cy="3108960"/>
          </a:xfrm>
          <a:prstGeom prst="rect">
            <a:avLst/>
          </a:prstGeom>
          <a:solidFill>
            <a:srgbClr val="1A2E35"/>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6263640" y="1097280"/>
            <a:ext cx="2651760" cy="54864"/>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
          <p:cNvSpPr/>
          <p:nvPr/>
        </p:nvSpPr>
        <p:spPr>
          <a:xfrm>
            <a:off x="6400800" y="118872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Individualized Feedback</a:t>
            </a:r>
            <a:endParaRPr b="0" i="0" sz="1500" u="none" cap="none" strike="noStrike">
              <a:solidFill>
                <a:schemeClr val="dk1"/>
              </a:solidFill>
              <a:latin typeface="Calibri"/>
              <a:ea typeface="Calibri"/>
              <a:cs typeface="Calibri"/>
              <a:sym typeface="Calibri"/>
            </a:endParaRPr>
          </a:p>
        </p:txBody>
      </p:sp>
      <p:sp>
        <p:nvSpPr>
          <p:cNvPr id="405" name="Google Shape;405;p10"/>
          <p:cNvSpPr/>
          <p:nvPr/>
        </p:nvSpPr>
        <p:spPr>
          <a:xfrm>
            <a:off x="6400800" y="1600200"/>
            <a:ext cx="237744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A0B8BF"/>
              </a:buClr>
              <a:buSzPts val="950"/>
              <a:buFont typeface="Calibri"/>
              <a:buNone/>
            </a:pPr>
            <a:r>
              <a:rPr b="0" i="0" lang="en-US" sz="1250" u="none" cap="none" strike="noStrike">
                <a:solidFill>
                  <a:srgbClr val="F7F4F0"/>
                </a:solidFill>
                <a:latin typeface="Calibri"/>
                <a:ea typeface="Calibri"/>
                <a:cs typeface="Calibri"/>
                <a:sym typeface="Calibri"/>
              </a:rPr>
              <a:t>Here is a student's response: [paste work]. Write constructive, encouraging written feedback that identifies one strength and one clear area for improvement.</a:t>
            </a:r>
            <a:endParaRPr b="0" i="0" sz="1250" u="none" cap="none" strike="noStrike">
              <a:solidFill>
                <a:srgbClr val="F7F4F0"/>
              </a:solidFill>
              <a:latin typeface="Calibri"/>
              <a:ea typeface="Calibri"/>
              <a:cs typeface="Calibri"/>
              <a:sym typeface="Calibri"/>
            </a:endParaRPr>
          </a:p>
        </p:txBody>
      </p:sp>
      <p:sp>
        <p:nvSpPr>
          <p:cNvPr id="406" name="Google Shape;406;p10"/>
          <p:cNvSpPr/>
          <p:nvPr/>
        </p:nvSpPr>
        <p:spPr>
          <a:xfrm>
            <a:off x="594360" y="4206240"/>
            <a:ext cx="8138160" cy="594360"/>
          </a:xfrm>
          <a:prstGeom prst="rect">
            <a:avLst/>
          </a:prstGeom>
          <a:solidFill>
            <a:srgbClr val="FDF0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412" name="Shape 412"/>
        <p:cNvGrpSpPr/>
        <p:nvPr/>
      </p:nvGrpSpPr>
      <p:grpSpPr>
        <a:xfrm>
          <a:off x="0" y="0"/>
          <a:ext cx="0" cy="0"/>
          <a:chOff x="0" y="0"/>
          <a:chExt cx="0" cy="0"/>
        </a:xfrm>
      </p:grpSpPr>
      <p:sp>
        <p:nvSpPr>
          <p:cNvPr id="413" name="Google Shape;413;g3dea38c97fa_0_245"/>
          <p:cNvSpPr/>
          <p:nvPr/>
        </p:nvSpPr>
        <p:spPr>
          <a:xfrm>
            <a:off x="0" y="0"/>
            <a:ext cx="9144000" cy="685800"/>
          </a:xfrm>
          <a:prstGeom prst="rect">
            <a:avLst/>
          </a:prstGeom>
          <a:solidFill>
            <a:srgbClr val="1A2E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dea38c97fa_0_245"/>
          <p:cNvSpPr/>
          <p:nvPr/>
        </p:nvSpPr>
        <p:spPr>
          <a:xfrm>
            <a:off x="457200" y="0"/>
            <a:ext cx="8229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2000" u="none" cap="none" strike="noStrike">
                <a:solidFill>
                  <a:srgbClr val="FFFFFF"/>
                </a:solidFill>
                <a:latin typeface="Calibri"/>
                <a:ea typeface="Calibri"/>
                <a:cs typeface="Calibri"/>
                <a:sym typeface="Calibri"/>
              </a:rPr>
              <a:t>USING AI WELL  ·  </a:t>
            </a:r>
            <a:r>
              <a:rPr b="1" i="0" lang="en-US" sz="2000" u="none" cap="none" strike="noStrike">
                <a:solidFill>
                  <a:srgbClr val="FFFFFF"/>
                </a:solidFill>
                <a:latin typeface="Calibri"/>
                <a:ea typeface="Calibri"/>
                <a:cs typeface="Calibri"/>
                <a:sym typeface="Calibri"/>
              </a:rPr>
              <a:t>TWO WAYS TO USE AI</a:t>
            </a:r>
            <a:endParaRPr b="0" i="0" sz="2000" u="none" cap="none" strike="noStrike">
              <a:solidFill>
                <a:schemeClr val="dk1"/>
              </a:solidFill>
              <a:latin typeface="Calibri"/>
              <a:ea typeface="Calibri"/>
              <a:cs typeface="Calibri"/>
              <a:sym typeface="Calibri"/>
            </a:endParaRPr>
          </a:p>
        </p:txBody>
      </p:sp>
      <p:sp>
        <p:nvSpPr>
          <p:cNvPr id="415" name="Google Shape;415;g3dea38c97fa_0_245"/>
          <p:cNvSpPr/>
          <p:nvPr/>
        </p:nvSpPr>
        <p:spPr>
          <a:xfrm>
            <a:off x="441623" y="804672"/>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2200"/>
              <a:buFont typeface="Calibri"/>
              <a:buNone/>
            </a:pPr>
            <a:r>
              <a:rPr b="1" i="0" lang="en-US" sz="2200" u="none" cap="none" strike="noStrike">
                <a:solidFill>
                  <a:srgbClr val="1A2E35"/>
                </a:solidFill>
                <a:latin typeface="Calibri"/>
                <a:ea typeface="Calibri"/>
                <a:cs typeface="Calibri"/>
                <a:sym typeface="Calibri"/>
              </a:rPr>
              <a:t>Most teachers (students, people) only know Fast AI.</a:t>
            </a:r>
            <a:endParaRPr b="0" i="0" sz="2200" u="none" cap="none" strike="noStrike">
              <a:solidFill>
                <a:schemeClr val="dk1"/>
              </a:solidFill>
              <a:latin typeface="Calibri"/>
              <a:ea typeface="Calibri"/>
              <a:cs typeface="Calibri"/>
              <a:sym typeface="Calibri"/>
            </a:endParaRPr>
          </a:p>
        </p:txBody>
      </p:sp>
      <p:sp>
        <p:nvSpPr>
          <p:cNvPr id="416" name="Google Shape;416;g3dea38c97fa_0_245"/>
          <p:cNvSpPr/>
          <p:nvPr/>
        </p:nvSpPr>
        <p:spPr>
          <a:xfrm>
            <a:off x="365760" y="1353312"/>
            <a:ext cx="4069200" cy="3429000"/>
          </a:xfrm>
          <a:prstGeom prst="rect">
            <a:avLst/>
          </a:prstGeom>
          <a:solidFill>
            <a:srgbClr val="243A42"/>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dea38c97fa_0_245"/>
          <p:cNvSpPr/>
          <p:nvPr/>
        </p:nvSpPr>
        <p:spPr>
          <a:xfrm>
            <a:off x="365760" y="1353312"/>
            <a:ext cx="4069200" cy="54900"/>
          </a:xfrm>
          <a:prstGeom prst="rect">
            <a:avLst/>
          </a:prstGeom>
          <a:solidFill>
            <a:srgbClr val="4A66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dea38c97fa_0_245"/>
          <p:cNvSpPr/>
          <p:nvPr/>
        </p:nvSpPr>
        <p:spPr>
          <a:xfrm>
            <a:off x="566928" y="1499616"/>
            <a:ext cx="402300" cy="402300"/>
          </a:xfrm>
          <a:prstGeom prst="ellipse">
            <a:avLst/>
          </a:prstGeom>
          <a:solidFill>
            <a:srgbClr val="4A66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9" name="Google Shape;419;g3dea38c97fa_0_245"/>
          <p:cNvPicPr preferRelativeResize="0"/>
          <p:nvPr/>
        </p:nvPicPr>
        <p:blipFill rotWithShape="1">
          <a:blip r:embed="rId3">
            <a:alphaModFix/>
          </a:blip>
          <a:srcRect b="0" l="0" r="0" t="0"/>
          <a:stretch/>
        </p:blipFill>
        <p:spPr>
          <a:xfrm>
            <a:off x="612648" y="1545336"/>
            <a:ext cx="310896" cy="310896"/>
          </a:xfrm>
          <a:prstGeom prst="rect">
            <a:avLst/>
          </a:prstGeom>
          <a:noFill/>
          <a:ln>
            <a:noFill/>
          </a:ln>
          <a:effectLst>
            <a:outerShdw blurRad="57150" rotWithShape="0" algn="bl" dir="5400000" dist="19050">
              <a:srgbClr val="000000">
                <a:alpha val="50000"/>
              </a:srgbClr>
            </a:outerShdw>
          </a:effectLst>
        </p:spPr>
      </p:pic>
      <p:sp>
        <p:nvSpPr>
          <p:cNvPr id="420" name="Google Shape;420;g3dea38c97fa_0_245"/>
          <p:cNvSpPr/>
          <p:nvPr/>
        </p:nvSpPr>
        <p:spPr>
          <a:xfrm>
            <a:off x="1078992" y="1499616"/>
            <a:ext cx="32004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670"/>
              </a:buClr>
              <a:buSzPts val="1800"/>
              <a:buFont typeface="Calibri"/>
              <a:buNone/>
            </a:pPr>
            <a:r>
              <a:rPr b="1" i="0" lang="en-US" sz="2000" u="none" cap="none" strike="noStrike">
                <a:solidFill>
                  <a:schemeClr val="lt1"/>
                </a:solidFill>
                <a:latin typeface="Calibri"/>
                <a:ea typeface="Calibri"/>
                <a:cs typeface="Calibri"/>
                <a:sym typeface="Calibri"/>
              </a:rPr>
              <a:t>FAST AI</a:t>
            </a:r>
            <a:endParaRPr b="0" i="0" sz="2000" u="none" cap="none" strike="noStrike">
              <a:solidFill>
                <a:schemeClr val="lt1"/>
              </a:solidFill>
              <a:latin typeface="Calibri"/>
              <a:ea typeface="Calibri"/>
              <a:cs typeface="Calibri"/>
              <a:sym typeface="Calibri"/>
            </a:endParaRPr>
          </a:p>
        </p:txBody>
      </p:sp>
      <p:sp>
        <p:nvSpPr>
          <p:cNvPr id="421" name="Google Shape;421;g3dea38c97fa_0_245"/>
          <p:cNvSpPr/>
          <p:nvPr/>
        </p:nvSpPr>
        <p:spPr>
          <a:xfrm>
            <a:off x="566928" y="1917529"/>
            <a:ext cx="370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8D1"/>
              </a:buClr>
              <a:buSzPts val="1000"/>
              <a:buFont typeface="Calibri"/>
              <a:buNone/>
            </a:pPr>
            <a:r>
              <a:rPr b="1" i="1" lang="en-US" sz="1500" u="none" cap="none" strike="noStrike">
                <a:solidFill>
                  <a:srgbClr val="A8D8D1"/>
                </a:solidFill>
                <a:latin typeface="Calibri"/>
                <a:ea typeface="Calibri"/>
                <a:cs typeface="Calibri"/>
                <a:sym typeface="Calibri"/>
              </a:rPr>
              <a:t>Saves time. Gets things done.</a:t>
            </a:r>
            <a:endParaRPr b="0" i="0" sz="1500" u="none" cap="none" strike="noStrike">
              <a:solidFill>
                <a:schemeClr val="dk1"/>
              </a:solidFill>
              <a:latin typeface="Calibri"/>
              <a:ea typeface="Calibri"/>
              <a:cs typeface="Calibri"/>
              <a:sym typeface="Calibri"/>
            </a:endParaRPr>
          </a:p>
        </p:txBody>
      </p:sp>
      <p:sp>
        <p:nvSpPr>
          <p:cNvPr id="422" name="Google Shape;422;g3dea38c97fa_0_245"/>
          <p:cNvSpPr/>
          <p:nvPr/>
        </p:nvSpPr>
        <p:spPr>
          <a:xfrm>
            <a:off x="566928" y="2243854"/>
            <a:ext cx="3703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8ABDB5"/>
              </a:buClr>
              <a:buSzPts val="950"/>
              <a:buFont typeface="Calibri"/>
              <a:buNone/>
            </a:pPr>
            <a:r>
              <a:rPr b="0" i="0" lang="en-US" sz="1150" u="none" cap="none" strike="noStrike">
                <a:solidFill>
                  <a:srgbClr val="8ABDB5"/>
                </a:solidFill>
                <a:latin typeface="Calibri"/>
                <a:ea typeface="Calibri"/>
                <a:cs typeface="Calibri"/>
                <a:sym typeface="Calibri"/>
              </a:rPr>
              <a:t>You give AI a task, it gives you an output in seconds.</a:t>
            </a:r>
            <a:endParaRPr sz="1150">
              <a:solidFill>
                <a:srgbClr val="8ABDB5"/>
              </a:solidFill>
              <a:latin typeface="Calibri"/>
              <a:ea typeface="Calibri"/>
              <a:cs typeface="Calibri"/>
              <a:sym typeface="Calibri"/>
            </a:endParaRPr>
          </a:p>
          <a:p>
            <a:pPr indent="0" lvl="0" marL="0" marR="0" rtl="0" algn="l">
              <a:lnSpc>
                <a:spcPct val="140000"/>
              </a:lnSpc>
              <a:spcBef>
                <a:spcPts val="0"/>
              </a:spcBef>
              <a:spcAft>
                <a:spcPts val="0"/>
              </a:spcAft>
              <a:buClr>
                <a:srgbClr val="8ABDB5"/>
              </a:buClr>
              <a:buSzPts val="950"/>
              <a:buFont typeface="Calibri"/>
              <a:buNone/>
            </a:pPr>
            <a:r>
              <a:rPr b="0" i="0" lang="en-US" sz="1150" u="none" cap="none" strike="noStrike">
                <a:solidFill>
                  <a:srgbClr val="8ABDB5"/>
                </a:solidFill>
                <a:latin typeface="Calibri"/>
                <a:ea typeface="Calibri"/>
                <a:cs typeface="Calibri"/>
                <a:sym typeface="Calibri"/>
              </a:rPr>
              <a:t>You use it, move on. Most people start here and stay here.</a:t>
            </a:r>
            <a:endParaRPr b="0" i="0" sz="1150" u="none" cap="none" strike="noStrike">
              <a:solidFill>
                <a:schemeClr val="dk1"/>
              </a:solidFill>
              <a:latin typeface="Calibri"/>
              <a:ea typeface="Calibri"/>
              <a:cs typeface="Calibri"/>
              <a:sym typeface="Calibri"/>
            </a:endParaRPr>
          </a:p>
        </p:txBody>
      </p:sp>
      <p:sp>
        <p:nvSpPr>
          <p:cNvPr id="423" name="Google Shape;423;g3dea38c97fa_0_245"/>
          <p:cNvSpPr/>
          <p:nvPr/>
        </p:nvSpPr>
        <p:spPr>
          <a:xfrm>
            <a:off x="566928" y="2926080"/>
            <a:ext cx="3666600" cy="18300"/>
          </a:xfrm>
          <a:prstGeom prst="rect">
            <a:avLst/>
          </a:prstGeom>
          <a:solidFill>
            <a:srgbClr val="2E4A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dea38c97fa_0_245"/>
          <p:cNvSpPr/>
          <p:nvPr/>
        </p:nvSpPr>
        <p:spPr>
          <a:xfrm>
            <a:off x="548728" y="3210582"/>
            <a:ext cx="370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850"/>
              <a:buFont typeface="Calibri"/>
              <a:buNone/>
            </a:pPr>
            <a:r>
              <a:rPr b="1" i="0" lang="en-US" sz="1500" u="none" cap="none" strike="noStrike">
                <a:solidFill>
                  <a:srgbClr val="A8D8D1"/>
                </a:solidFill>
                <a:latin typeface="Calibri"/>
                <a:ea typeface="Calibri"/>
                <a:cs typeface="Calibri"/>
                <a:sym typeface="Calibri"/>
              </a:rPr>
              <a:t>What it looks like:</a:t>
            </a:r>
            <a:endParaRPr b="0" i="0" sz="1500" u="none" cap="none" strike="noStrike">
              <a:solidFill>
                <a:srgbClr val="A8D8D1"/>
              </a:solidFill>
              <a:latin typeface="Calibri"/>
              <a:ea typeface="Calibri"/>
              <a:cs typeface="Calibri"/>
              <a:sym typeface="Calibri"/>
            </a:endParaRPr>
          </a:p>
        </p:txBody>
      </p:sp>
      <p:sp>
        <p:nvSpPr>
          <p:cNvPr id="425" name="Google Shape;425;g3dea38c97fa_0_245"/>
          <p:cNvSpPr/>
          <p:nvPr/>
        </p:nvSpPr>
        <p:spPr>
          <a:xfrm>
            <a:off x="566925" y="3485893"/>
            <a:ext cx="3703200" cy="1242900"/>
          </a:xfrm>
          <a:prstGeom prst="rect">
            <a:avLst/>
          </a:prstGeom>
          <a:noFill/>
          <a:ln>
            <a:noFill/>
          </a:ln>
        </p:spPr>
        <p:txBody>
          <a:bodyPr anchorCtr="0" anchor="ctr" bIns="45700" lIns="91425" spcFirstLastPara="1" rIns="91425" wrap="square" tIns="45700">
            <a:noAutofit/>
          </a:bodyPr>
          <a:lstStyle/>
          <a:p>
            <a:pPr indent="-371475" lvl="0" marL="342900" marR="0" rtl="0" algn="l">
              <a:spcBef>
                <a:spcPts val="0"/>
              </a:spcBef>
              <a:spcAft>
                <a:spcPts val="0"/>
              </a:spcAft>
              <a:buClr>
                <a:srgbClr val="C8DDD9"/>
              </a:buClr>
              <a:buSzPts val="1400"/>
              <a:buFont typeface="Calibri"/>
              <a:buChar char="•"/>
            </a:pPr>
            <a:r>
              <a:rPr b="0" i="0" lang="en-US" u="none" cap="none" strike="noStrike">
                <a:solidFill>
                  <a:srgbClr val="C8DDD9"/>
                </a:solidFill>
                <a:latin typeface="Calibri"/>
                <a:ea typeface="Calibri"/>
                <a:cs typeface="Calibri"/>
                <a:sym typeface="Calibri"/>
              </a:rPr>
              <a:t>Draft a</a:t>
            </a:r>
            <a:r>
              <a:rPr lang="en-US">
                <a:solidFill>
                  <a:srgbClr val="C8DDD9"/>
                </a:solidFill>
                <a:latin typeface="Calibri"/>
                <a:ea typeface="Calibri"/>
                <a:cs typeface="Calibri"/>
                <a:sym typeface="Calibri"/>
              </a:rPr>
              <a:t>n</a:t>
            </a:r>
            <a:r>
              <a:rPr b="0" i="0" lang="en-US" u="none" cap="none" strike="noStrike">
                <a:solidFill>
                  <a:srgbClr val="C8DDD9"/>
                </a:solidFill>
                <a:latin typeface="Calibri"/>
                <a:ea typeface="Calibri"/>
                <a:cs typeface="Calibri"/>
                <a:sym typeface="Calibri"/>
              </a:rPr>
              <a:t> email</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C8DDD9"/>
              </a:buClr>
              <a:buSzPts val="1400"/>
              <a:buFont typeface="Calibri"/>
              <a:buChar char="•"/>
            </a:pPr>
            <a:r>
              <a:rPr b="0" i="0" lang="en-US" u="none" cap="none" strike="noStrike">
                <a:solidFill>
                  <a:srgbClr val="C8DDD9"/>
                </a:solidFill>
                <a:latin typeface="Calibri"/>
                <a:ea typeface="Calibri"/>
                <a:cs typeface="Calibri"/>
                <a:sym typeface="Calibri"/>
              </a:rPr>
              <a:t>Generate a rubric</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C8DDD9"/>
              </a:buClr>
              <a:buSzPts val="1400"/>
              <a:buFont typeface="Calibri"/>
              <a:buChar char="•"/>
            </a:pPr>
            <a:r>
              <a:rPr b="0" i="0" lang="en-US" u="none" cap="none" strike="noStrike">
                <a:solidFill>
                  <a:srgbClr val="C8DDD9"/>
                </a:solidFill>
                <a:latin typeface="Calibri"/>
                <a:ea typeface="Calibri"/>
                <a:cs typeface="Calibri"/>
                <a:sym typeface="Calibri"/>
              </a:rPr>
              <a:t>Create a worksheet</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C8DDD9"/>
              </a:buClr>
              <a:buSzPts val="1400"/>
              <a:buFont typeface="Calibri"/>
              <a:buChar char="•"/>
            </a:pPr>
            <a:r>
              <a:rPr b="0" i="0" lang="en-US" u="none" cap="none" strike="noStrike">
                <a:solidFill>
                  <a:srgbClr val="C8DDD9"/>
                </a:solidFill>
                <a:latin typeface="Calibri"/>
                <a:ea typeface="Calibri"/>
                <a:cs typeface="Calibri"/>
                <a:sym typeface="Calibri"/>
              </a:rPr>
              <a:t>Summarize a document</a:t>
            </a:r>
            <a:endParaRPr b="0" i="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u="none" cap="none" strike="noStrike">
              <a:solidFill>
                <a:schemeClr val="dk1"/>
              </a:solidFill>
              <a:latin typeface="Calibri"/>
              <a:ea typeface="Calibri"/>
              <a:cs typeface="Calibri"/>
              <a:sym typeface="Calibri"/>
            </a:endParaRPr>
          </a:p>
        </p:txBody>
      </p:sp>
      <p:sp>
        <p:nvSpPr>
          <p:cNvPr id="426" name="Google Shape;426;g3dea38c97fa_0_245"/>
          <p:cNvSpPr/>
          <p:nvPr/>
        </p:nvSpPr>
        <p:spPr>
          <a:xfrm>
            <a:off x="4709160" y="1353312"/>
            <a:ext cx="4069200" cy="3429000"/>
          </a:xfrm>
          <a:prstGeom prst="rect">
            <a:avLst/>
          </a:prstGeom>
          <a:solidFill>
            <a:srgbClr val="E0F2EF"/>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dea38c97fa_0_245"/>
          <p:cNvSpPr/>
          <p:nvPr/>
        </p:nvSpPr>
        <p:spPr>
          <a:xfrm>
            <a:off x="4709160" y="1353312"/>
            <a:ext cx="4069200" cy="549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dea38c97fa_0_245"/>
          <p:cNvSpPr/>
          <p:nvPr/>
        </p:nvSpPr>
        <p:spPr>
          <a:xfrm>
            <a:off x="4910328" y="1499616"/>
            <a:ext cx="402300" cy="402300"/>
          </a:xfrm>
          <a:prstGeom prst="ellipse">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9" name="Google Shape;429;g3dea38c97fa_0_245"/>
          <p:cNvPicPr preferRelativeResize="0"/>
          <p:nvPr/>
        </p:nvPicPr>
        <p:blipFill rotWithShape="1">
          <a:blip r:embed="rId4">
            <a:alphaModFix/>
          </a:blip>
          <a:srcRect b="0" l="0" r="0" t="0"/>
          <a:stretch/>
        </p:blipFill>
        <p:spPr>
          <a:xfrm>
            <a:off x="4956048" y="1545336"/>
            <a:ext cx="310896" cy="310896"/>
          </a:xfrm>
          <a:prstGeom prst="rect">
            <a:avLst/>
          </a:prstGeom>
          <a:noFill/>
          <a:ln>
            <a:noFill/>
          </a:ln>
          <a:effectLst>
            <a:outerShdw blurRad="57150" rotWithShape="0" algn="bl" dir="5400000" dist="19050">
              <a:srgbClr val="000000">
                <a:alpha val="50000"/>
              </a:srgbClr>
            </a:outerShdw>
          </a:effectLst>
        </p:spPr>
      </p:pic>
      <p:sp>
        <p:nvSpPr>
          <p:cNvPr id="430" name="Google Shape;430;g3dea38c97fa_0_245"/>
          <p:cNvSpPr/>
          <p:nvPr/>
        </p:nvSpPr>
        <p:spPr>
          <a:xfrm>
            <a:off x="5422392" y="1499616"/>
            <a:ext cx="32004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800"/>
              <a:buFont typeface="Calibri"/>
              <a:buNone/>
            </a:pPr>
            <a:r>
              <a:rPr b="1" i="0" lang="en-US" sz="2000" u="none" cap="none" strike="noStrike">
                <a:solidFill>
                  <a:srgbClr val="0D7A6B"/>
                </a:solidFill>
                <a:latin typeface="Calibri"/>
                <a:ea typeface="Calibri"/>
                <a:cs typeface="Calibri"/>
                <a:sym typeface="Calibri"/>
              </a:rPr>
              <a:t>SLOW AI</a:t>
            </a:r>
            <a:endParaRPr b="0" i="0" sz="2000" u="none" cap="none" strike="noStrike">
              <a:solidFill>
                <a:schemeClr val="dk1"/>
              </a:solidFill>
              <a:latin typeface="Calibri"/>
              <a:ea typeface="Calibri"/>
              <a:cs typeface="Calibri"/>
              <a:sym typeface="Calibri"/>
            </a:endParaRPr>
          </a:p>
        </p:txBody>
      </p:sp>
      <p:sp>
        <p:nvSpPr>
          <p:cNvPr id="431" name="Google Shape;431;g3dea38c97fa_0_245"/>
          <p:cNvSpPr/>
          <p:nvPr/>
        </p:nvSpPr>
        <p:spPr>
          <a:xfrm>
            <a:off x="4910328" y="1917529"/>
            <a:ext cx="370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1000"/>
              <a:buFont typeface="Calibri"/>
              <a:buNone/>
            </a:pPr>
            <a:r>
              <a:rPr b="1" i="1" lang="en-US" sz="1500" u="none" cap="none" strike="noStrike">
                <a:solidFill>
                  <a:srgbClr val="0D7A6B"/>
                </a:solidFill>
                <a:latin typeface="Calibri"/>
                <a:ea typeface="Calibri"/>
                <a:cs typeface="Calibri"/>
                <a:sym typeface="Calibri"/>
              </a:rPr>
              <a:t>Makes you better. Sharpens your thinking.</a:t>
            </a:r>
            <a:endParaRPr b="0" i="0" sz="1500" u="none" cap="none" strike="noStrike">
              <a:solidFill>
                <a:schemeClr val="dk1"/>
              </a:solidFill>
              <a:latin typeface="Calibri"/>
              <a:ea typeface="Calibri"/>
              <a:cs typeface="Calibri"/>
              <a:sym typeface="Calibri"/>
            </a:endParaRPr>
          </a:p>
        </p:txBody>
      </p:sp>
      <p:sp>
        <p:nvSpPr>
          <p:cNvPr id="432" name="Google Shape;432;g3dea38c97fa_0_245"/>
          <p:cNvSpPr/>
          <p:nvPr/>
        </p:nvSpPr>
        <p:spPr>
          <a:xfrm>
            <a:off x="4910328" y="2243854"/>
            <a:ext cx="3703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4A6670"/>
              </a:buClr>
              <a:buSzPts val="950"/>
              <a:buFont typeface="Calibri"/>
              <a:buNone/>
            </a:pPr>
            <a:r>
              <a:rPr b="0" i="0" lang="en-US" sz="1150" u="none" cap="none" strike="noStrike">
                <a:solidFill>
                  <a:srgbClr val="4A6670"/>
                </a:solidFill>
                <a:latin typeface="Calibri"/>
                <a:ea typeface="Calibri"/>
                <a:cs typeface="Calibri"/>
                <a:sym typeface="Calibri"/>
              </a:rPr>
              <a:t>You use AI as a thinking partner, not just a generator.</a:t>
            </a:r>
            <a:endParaRPr sz="1150">
              <a:solidFill>
                <a:srgbClr val="4A6670"/>
              </a:solidFill>
              <a:latin typeface="Calibri"/>
              <a:ea typeface="Calibri"/>
              <a:cs typeface="Calibri"/>
              <a:sym typeface="Calibri"/>
            </a:endParaRPr>
          </a:p>
          <a:p>
            <a:pPr indent="0" lvl="0" marL="0" marR="0" rtl="0" algn="l">
              <a:lnSpc>
                <a:spcPct val="140000"/>
              </a:lnSpc>
              <a:spcBef>
                <a:spcPts val="0"/>
              </a:spcBef>
              <a:spcAft>
                <a:spcPts val="0"/>
              </a:spcAft>
              <a:buClr>
                <a:srgbClr val="4A6670"/>
              </a:buClr>
              <a:buSzPts val="950"/>
              <a:buFont typeface="Calibri"/>
              <a:buNone/>
            </a:pPr>
            <a:r>
              <a:rPr lang="en-US" sz="1150">
                <a:solidFill>
                  <a:srgbClr val="4A6670"/>
                </a:solidFill>
                <a:latin typeface="Calibri"/>
                <a:ea typeface="Calibri"/>
                <a:cs typeface="Calibri"/>
                <a:sym typeface="Calibri"/>
              </a:rPr>
              <a:t>Intentionally</a:t>
            </a:r>
            <a:r>
              <a:rPr b="0" i="0" lang="en-US" sz="1150" u="none" cap="none" strike="noStrike">
                <a:solidFill>
                  <a:srgbClr val="4A6670"/>
                </a:solidFill>
                <a:latin typeface="Calibri"/>
                <a:ea typeface="Calibri"/>
                <a:cs typeface="Calibri"/>
                <a:sym typeface="Calibri"/>
              </a:rPr>
              <a:t> pushi</a:t>
            </a:r>
            <a:r>
              <a:rPr lang="en-US" sz="1150">
                <a:solidFill>
                  <a:srgbClr val="4A6670"/>
                </a:solidFill>
                <a:latin typeface="Calibri"/>
                <a:ea typeface="Calibri"/>
                <a:cs typeface="Calibri"/>
                <a:sym typeface="Calibri"/>
              </a:rPr>
              <a:t>ng</a:t>
            </a:r>
            <a:r>
              <a:rPr b="0" i="0" lang="en-US" sz="1150" u="none" cap="none" strike="noStrike">
                <a:solidFill>
                  <a:srgbClr val="4A6670"/>
                </a:solidFill>
                <a:latin typeface="Calibri"/>
                <a:ea typeface="Calibri"/>
                <a:cs typeface="Calibri"/>
                <a:sym typeface="Calibri"/>
              </a:rPr>
              <a:t> back, challeng</a:t>
            </a:r>
            <a:r>
              <a:rPr lang="en-US" sz="1150">
                <a:solidFill>
                  <a:srgbClr val="4A6670"/>
                </a:solidFill>
                <a:latin typeface="Calibri"/>
                <a:ea typeface="Calibri"/>
                <a:cs typeface="Calibri"/>
                <a:sym typeface="Calibri"/>
              </a:rPr>
              <a:t>ing</a:t>
            </a:r>
            <a:r>
              <a:rPr b="0" i="0" lang="en-US" sz="1150" u="none" cap="none" strike="noStrike">
                <a:solidFill>
                  <a:srgbClr val="4A6670"/>
                </a:solidFill>
                <a:latin typeface="Calibri"/>
                <a:ea typeface="Calibri"/>
                <a:cs typeface="Calibri"/>
                <a:sym typeface="Calibri"/>
              </a:rPr>
              <a:t> its output, and asking it to challenge yours.</a:t>
            </a:r>
            <a:endParaRPr b="0" i="0" sz="1150" u="none" cap="none" strike="noStrike">
              <a:solidFill>
                <a:schemeClr val="dk1"/>
              </a:solidFill>
              <a:latin typeface="Calibri"/>
              <a:ea typeface="Calibri"/>
              <a:cs typeface="Calibri"/>
              <a:sym typeface="Calibri"/>
            </a:endParaRPr>
          </a:p>
        </p:txBody>
      </p:sp>
      <p:sp>
        <p:nvSpPr>
          <p:cNvPr id="433" name="Google Shape;433;g3dea38c97fa_0_245"/>
          <p:cNvSpPr/>
          <p:nvPr/>
        </p:nvSpPr>
        <p:spPr>
          <a:xfrm>
            <a:off x="4910328" y="2926080"/>
            <a:ext cx="3666600" cy="18300"/>
          </a:xfrm>
          <a:prstGeom prst="rect">
            <a:avLst/>
          </a:prstGeom>
          <a:solidFill>
            <a:srgbClr val="C8DD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dea38c97fa_0_245"/>
          <p:cNvSpPr/>
          <p:nvPr/>
        </p:nvSpPr>
        <p:spPr>
          <a:xfrm>
            <a:off x="4892128" y="3210582"/>
            <a:ext cx="370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A6B"/>
              </a:buClr>
              <a:buSzPts val="850"/>
              <a:buFont typeface="Calibri"/>
              <a:buNone/>
            </a:pPr>
            <a:r>
              <a:rPr b="1" i="0" lang="en-US" sz="1500" u="none" cap="none" strike="noStrike">
                <a:solidFill>
                  <a:srgbClr val="0D7A6B"/>
                </a:solidFill>
                <a:latin typeface="Calibri"/>
                <a:ea typeface="Calibri"/>
                <a:cs typeface="Calibri"/>
                <a:sym typeface="Calibri"/>
              </a:rPr>
              <a:t>What it looks like:</a:t>
            </a:r>
            <a:endParaRPr b="0" i="0" sz="1500" u="none" cap="none" strike="noStrike">
              <a:solidFill>
                <a:schemeClr val="dk1"/>
              </a:solidFill>
              <a:latin typeface="Calibri"/>
              <a:ea typeface="Calibri"/>
              <a:cs typeface="Calibri"/>
              <a:sym typeface="Calibri"/>
            </a:endParaRPr>
          </a:p>
        </p:txBody>
      </p:sp>
      <p:sp>
        <p:nvSpPr>
          <p:cNvPr id="435" name="Google Shape;435;g3dea38c97fa_0_245"/>
          <p:cNvSpPr/>
          <p:nvPr/>
        </p:nvSpPr>
        <p:spPr>
          <a:xfrm>
            <a:off x="4910326" y="3413275"/>
            <a:ext cx="3703200" cy="1315500"/>
          </a:xfrm>
          <a:prstGeom prst="rect">
            <a:avLst/>
          </a:prstGeom>
          <a:noFill/>
          <a:ln>
            <a:noFill/>
          </a:ln>
        </p:spPr>
        <p:txBody>
          <a:bodyPr anchorCtr="0" anchor="ctr" bIns="45700" lIns="91425" spcFirstLastPara="1" rIns="91425" wrap="square" tIns="45700">
            <a:noAutofit/>
          </a:bodyPr>
          <a:lstStyle/>
          <a:p>
            <a:pPr indent="-371475" lvl="0" marL="342900" marR="0" rtl="0" algn="l">
              <a:spcBef>
                <a:spcPts val="0"/>
              </a:spcBef>
              <a:spcAft>
                <a:spcPts val="0"/>
              </a:spcAft>
              <a:buClr>
                <a:srgbClr val="1A2E35"/>
              </a:buClr>
              <a:buSzPts val="1400"/>
              <a:buFont typeface="Calibri"/>
              <a:buChar char="•"/>
            </a:pPr>
            <a:r>
              <a:rPr b="0" i="0" lang="en-US" u="none" cap="none" strike="noStrike">
                <a:solidFill>
                  <a:srgbClr val="1A2E35"/>
                </a:solidFill>
                <a:latin typeface="Calibri"/>
                <a:ea typeface="Calibri"/>
                <a:cs typeface="Calibri"/>
                <a:sym typeface="Calibri"/>
              </a:rPr>
              <a:t>Ask AI to poke holes in your lesson plan</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1A2E35"/>
              </a:buClr>
              <a:buSzPts val="1400"/>
              <a:buFont typeface="Calibri"/>
              <a:buChar char="•"/>
            </a:pPr>
            <a:r>
              <a:rPr b="0" i="0" lang="en-US" u="none" cap="none" strike="noStrike">
                <a:solidFill>
                  <a:srgbClr val="1A2E35"/>
                </a:solidFill>
                <a:latin typeface="Calibri"/>
                <a:ea typeface="Calibri"/>
                <a:cs typeface="Calibri"/>
                <a:sym typeface="Calibri"/>
              </a:rPr>
              <a:t>Ask for possibilities, not answers</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1A2E35"/>
              </a:buClr>
              <a:buSzPts val="1400"/>
              <a:buFont typeface="Calibri"/>
              <a:buChar char="•"/>
            </a:pPr>
            <a:r>
              <a:rPr b="0" i="0" lang="en-US" u="none" cap="none" strike="noStrike">
                <a:solidFill>
                  <a:srgbClr val="1A2E35"/>
                </a:solidFill>
                <a:latin typeface="Calibri"/>
                <a:ea typeface="Calibri"/>
                <a:cs typeface="Calibri"/>
                <a:sym typeface="Calibri"/>
              </a:rPr>
              <a:t>Ask it to argue against your approach</a:t>
            </a:r>
            <a:endParaRPr b="0" i="0" u="none" cap="none" strike="noStrike">
              <a:solidFill>
                <a:schemeClr val="dk1"/>
              </a:solidFill>
              <a:latin typeface="Calibri"/>
              <a:ea typeface="Calibri"/>
              <a:cs typeface="Calibri"/>
              <a:sym typeface="Calibri"/>
            </a:endParaRPr>
          </a:p>
          <a:p>
            <a:pPr indent="-371475" lvl="0" marL="342900" marR="0" rtl="0" algn="l">
              <a:spcBef>
                <a:spcPts val="200"/>
              </a:spcBef>
              <a:spcAft>
                <a:spcPts val="0"/>
              </a:spcAft>
              <a:buClr>
                <a:srgbClr val="1A2E35"/>
              </a:buClr>
              <a:buSzPts val="1400"/>
              <a:buFont typeface="Calibri"/>
              <a:buChar char="•"/>
            </a:pPr>
            <a:r>
              <a:rPr b="0" i="0" lang="en-US" u="none" cap="none" strike="noStrike">
                <a:solidFill>
                  <a:srgbClr val="1A2E35"/>
                </a:solidFill>
                <a:latin typeface="Calibri"/>
                <a:ea typeface="Calibri"/>
                <a:cs typeface="Calibri"/>
                <a:sym typeface="Calibri"/>
              </a:rPr>
              <a:t>Ask what you might be missing</a:t>
            </a:r>
            <a:endParaRPr b="0" i="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u="none" cap="none" strike="noStrike">
              <a:solidFill>
                <a:schemeClr val="dk1"/>
              </a:solidFill>
              <a:latin typeface="Calibri"/>
              <a:ea typeface="Calibri"/>
              <a:cs typeface="Calibri"/>
              <a:sym typeface="Calibri"/>
            </a:endParaRPr>
          </a:p>
        </p:txBody>
      </p:sp>
      <p:sp>
        <p:nvSpPr>
          <p:cNvPr id="436" name="Google Shape;436;g3dea38c97fa_0_245"/>
          <p:cNvSpPr/>
          <p:nvPr/>
        </p:nvSpPr>
        <p:spPr>
          <a:xfrm>
            <a:off x="4315968" y="2651760"/>
            <a:ext cx="512100" cy="512100"/>
          </a:xfrm>
          <a:prstGeom prst="ellipse">
            <a:avLst/>
          </a:prstGeom>
          <a:solidFill>
            <a:srgbClr val="1A2E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dea38c97fa_0_245"/>
          <p:cNvSpPr/>
          <p:nvPr/>
        </p:nvSpPr>
        <p:spPr>
          <a:xfrm>
            <a:off x="4315968" y="2630057"/>
            <a:ext cx="512100" cy="512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2000" u="none" cap="none" strike="noStrike">
                <a:solidFill>
                  <a:srgbClr val="FFFFFF"/>
                </a:solidFill>
                <a:latin typeface="Calibri"/>
                <a:ea typeface="Calibri"/>
                <a:cs typeface="Calibri"/>
                <a:sym typeface="Calibri"/>
              </a:rPr>
              <a:t>vs</a:t>
            </a:r>
            <a:endParaRPr b="0" i="0" sz="2000" u="none" cap="none" strike="noStrike">
              <a:solidFill>
                <a:schemeClr val="dk1"/>
              </a:solidFill>
              <a:latin typeface="Calibri"/>
              <a:ea typeface="Calibri"/>
              <a:cs typeface="Calibri"/>
              <a:sym typeface="Calibri"/>
            </a:endParaRPr>
          </a:p>
        </p:txBody>
      </p:sp>
      <p:sp>
        <p:nvSpPr>
          <p:cNvPr id="438" name="Google Shape;438;g3dea38c97fa_0_245"/>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443" name="Shape 443"/>
        <p:cNvGrpSpPr/>
        <p:nvPr/>
      </p:nvGrpSpPr>
      <p:grpSpPr>
        <a:xfrm>
          <a:off x="0" y="0"/>
          <a:ext cx="0" cy="0"/>
          <a:chOff x="0" y="0"/>
          <a:chExt cx="0" cy="0"/>
        </a:xfrm>
      </p:grpSpPr>
      <p:sp>
        <p:nvSpPr>
          <p:cNvPr id="444" name="Google Shape;444;g3dea38c97fa_0_209"/>
          <p:cNvSpPr/>
          <p:nvPr/>
        </p:nvSpPr>
        <p:spPr>
          <a:xfrm>
            <a:off x="0" y="0"/>
            <a:ext cx="9144000" cy="685800"/>
          </a:xfrm>
          <a:prstGeom prst="rect">
            <a:avLst/>
          </a:prstGeom>
          <a:solidFill>
            <a:srgbClr val="1A2E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dea38c97fa_0_209"/>
          <p:cNvSpPr/>
          <p:nvPr/>
        </p:nvSpPr>
        <p:spPr>
          <a:xfrm>
            <a:off x="457200" y="0"/>
            <a:ext cx="8229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2000" u="none" cap="none" strike="noStrike">
                <a:solidFill>
                  <a:srgbClr val="FFFFFF"/>
                </a:solidFill>
                <a:latin typeface="Calibri"/>
                <a:ea typeface="Calibri"/>
                <a:cs typeface="Calibri"/>
                <a:sym typeface="Calibri"/>
              </a:rPr>
              <a:t>USING AI WELL  ·  COMPARE &amp; ITERATE</a:t>
            </a:r>
            <a:endParaRPr b="0" i="0" sz="2000" u="none" cap="none" strike="noStrike">
              <a:solidFill>
                <a:schemeClr val="dk1"/>
              </a:solidFill>
              <a:latin typeface="Calibri"/>
              <a:ea typeface="Calibri"/>
              <a:cs typeface="Calibri"/>
              <a:sym typeface="Calibri"/>
            </a:endParaRPr>
          </a:p>
        </p:txBody>
      </p:sp>
      <p:sp>
        <p:nvSpPr>
          <p:cNvPr id="446" name="Google Shape;446;g3dea38c97fa_0_209"/>
          <p:cNvSpPr/>
          <p:nvPr/>
        </p:nvSpPr>
        <p:spPr>
          <a:xfrm>
            <a:off x="365760" y="804672"/>
            <a:ext cx="8412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35"/>
              </a:buClr>
              <a:buSzPts val="2200"/>
              <a:buFont typeface="Calibri"/>
              <a:buNone/>
            </a:pPr>
            <a:r>
              <a:rPr b="1" i="0" lang="en-US" sz="2200" u="none" cap="none" strike="noStrike">
                <a:solidFill>
                  <a:srgbClr val="1A2E35"/>
                </a:solidFill>
                <a:latin typeface="Calibri"/>
                <a:ea typeface="Calibri"/>
                <a:cs typeface="Calibri"/>
                <a:sym typeface="Calibri"/>
              </a:rPr>
              <a:t>Skilled AI users don't just accept the first result.</a:t>
            </a:r>
            <a:endParaRPr b="0" i="0" sz="2200" u="none" cap="none" strike="noStrike">
              <a:solidFill>
                <a:schemeClr val="dk1"/>
              </a:solidFill>
              <a:latin typeface="Calibri"/>
              <a:ea typeface="Calibri"/>
              <a:cs typeface="Calibri"/>
              <a:sym typeface="Calibri"/>
            </a:endParaRPr>
          </a:p>
        </p:txBody>
      </p:sp>
      <p:sp>
        <p:nvSpPr>
          <p:cNvPr id="447" name="Google Shape;447;g3dea38c97fa_0_209"/>
          <p:cNvSpPr/>
          <p:nvPr/>
        </p:nvSpPr>
        <p:spPr>
          <a:xfrm>
            <a:off x="365760" y="1417320"/>
            <a:ext cx="2651700" cy="3246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dea38c97fa_0_209"/>
          <p:cNvSpPr/>
          <p:nvPr/>
        </p:nvSpPr>
        <p:spPr>
          <a:xfrm>
            <a:off x="365760" y="1417320"/>
            <a:ext cx="2651700" cy="549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g3dea38c97fa_0_209"/>
          <p:cNvSpPr/>
          <p:nvPr/>
        </p:nvSpPr>
        <p:spPr>
          <a:xfrm>
            <a:off x="548640" y="1563624"/>
            <a:ext cx="347400" cy="347400"/>
          </a:xfrm>
          <a:prstGeom prst="ellipse">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dea38c97fa_0_209"/>
          <p:cNvSpPr/>
          <p:nvPr/>
        </p:nvSpPr>
        <p:spPr>
          <a:xfrm>
            <a:off x="548640" y="1563624"/>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pic>
        <p:nvPicPr>
          <p:cNvPr descr="preencoded.png" id="451" name="Google Shape;451;g3dea38c97fa_0_209"/>
          <p:cNvPicPr preferRelativeResize="0"/>
          <p:nvPr/>
        </p:nvPicPr>
        <p:blipFill rotWithShape="1">
          <a:blip r:embed="rId3">
            <a:alphaModFix/>
          </a:blip>
          <a:srcRect b="0" l="0" r="0" t="0"/>
          <a:stretch/>
        </p:blipFill>
        <p:spPr>
          <a:xfrm>
            <a:off x="2468880" y="1581912"/>
            <a:ext cx="320040" cy="320040"/>
          </a:xfrm>
          <a:prstGeom prst="rect">
            <a:avLst/>
          </a:prstGeom>
          <a:noFill/>
          <a:ln>
            <a:noFill/>
          </a:ln>
        </p:spPr>
      </p:pic>
      <p:sp>
        <p:nvSpPr>
          <p:cNvPr id="452" name="Google Shape;452;g3dea38c97fa_0_209"/>
          <p:cNvSpPr/>
          <p:nvPr/>
        </p:nvSpPr>
        <p:spPr>
          <a:xfrm>
            <a:off x="548640" y="2110686"/>
            <a:ext cx="2331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E35"/>
              </a:buClr>
              <a:buSzPts val="1200"/>
              <a:buFont typeface="Calibri"/>
              <a:buNone/>
            </a:pPr>
            <a:r>
              <a:rPr b="1" i="0" lang="en-US" u="none" cap="none" strike="noStrike">
                <a:solidFill>
                  <a:srgbClr val="1A2E35"/>
                </a:solidFill>
                <a:latin typeface="Calibri"/>
                <a:ea typeface="Calibri"/>
                <a:cs typeface="Calibri"/>
                <a:sym typeface="Calibri"/>
              </a:rPr>
              <a:t>Try the same prompt in</a:t>
            </a:r>
            <a:r>
              <a:rPr b="1" lang="en-US">
                <a:solidFill>
                  <a:srgbClr val="1A2E35"/>
                </a:solidFill>
                <a:latin typeface="Calibri"/>
                <a:ea typeface="Calibri"/>
                <a:cs typeface="Calibri"/>
                <a:sym typeface="Calibri"/>
              </a:rPr>
              <a:t> multiple</a:t>
            </a:r>
            <a:r>
              <a:rPr b="1" i="0" lang="en-US" u="none" cap="none" strike="noStrike">
                <a:solidFill>
                  <a:srgbClr val="1A2E35"/>
                </a:solidFill>
                <a:latin typeface="Calibri"/>
                <a:ea typeface="Calibri"/>
                <a:cs typeface="Calibri"/>
                <a:sym typeface="Calibri"/>
              </a:rPr>
              <a:t> tools</a:t>
            </a:r>
            <a:endParaRPr b="0" i="0" u="none" cap="none" strike="noStrike">
              <a:solidFill>
                <a:schemeClr val="dk1"/>
              </a:solidFill>
              <a:latin typeface="Calibri"/>
              <a:ea typeface="Calibri"/>
              <a:cs typeface="Calibri"/>
              <a:sym typeface="Calibri"/>
            </a:endParaRPr>
          </a:p>
        </p:txBody>
      </p:sp>
      <p:sp>
        <p:nvSpPr>
          <p:cNvPr id="453" name="Google Shape;453;g3dea38c97fa_0_209"/>
          <p:cNvSpPr/>
          <p:nvPr/>
        </p:nvSpPr>
        <p:spPr>
          <a:xfrm>
            <a:off x="548640" y="2690184"/>
            <a:ext cx="2331600" cy="11886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rgbClr val="4A6670"/>
              </a:buClr>
              <a:buSzPts val="950"/>
              <a:buFont typeface="Calibri"/>
              <a:buNone/>
            </a:pPr>
            <a:r>
              <a:rPr b="0" i="0" lang="en-US" sz="1150" u="none" cap="none" strike="noStrike">
                <a:solidFill>
                  <a:srgbClr val="4A6670"/>
                </a:solidFill>
                <a:latin typeface="Calibri"/>
                <a:ea typeface="Calibri"/>
                <a:cs typeface="Calibri"/>
                <a:sym typeface="Calibri"/>
              </a:rPr>
              <a:t>ChatGPT and Claude can give you very different </a:t>
            </a:r>
            <a:r>
              <a:rPr lang="en-US" sz="1150">
                <a:solidFill>
                  <a:srgbClr val="4A6670"/>
                </a:solidFill>
                <a:latin typeface="Calibri"/>
                <a:ea typeface="Calibri"/>
                <a:cs typeface="Calibri"/>
                <a:sym typeface="Calibri"/>
              </a:rPr>
              <a:t>outputs from the same prompt.</a:t>
            </a:r>
            <a:endParaRPr b="0" i="0" sz="1150" u="none" cap="none" strike="noStrike">
              <a:solidFill>
                <a:schemeClr val="dk1"/>
              </a:solidFill>
              <a:latin typeface="Calibri"/>
              <a:ea typeface="Calibri"/>
              <a:cs typeface="Calibri"/>
              <a:sym typeface="Calibri"/>
            </a:endParaRPr>
          </a:p>
        </p:txBody>
      </p:sp>
      <p:sp>
        <p:nvSpPr>
          <p:cNvPr id="454" name="Google Shape;454;g3dea38c97fa_0_209"/>
          <p:cNvSpPr/>
          <p:nvPr/>
        </p:nvSpPr>
        <p:spPr>
          <a:xfrm>
            <a:off x="3246120" y="1417320"/>
            <a:ext cx="2651700" cy="3246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dea38c97fa_0_209"/>
          <p:cNvSpPr/>
          <p:nvPr/>
        </p:nvSpPr>
        <p:spPr>
          <a:xfrm>
            <a:off x="3246120" y="1417320"/>
            <a:ext cx="2651700" cy="549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dea38c97fa_0_209"/>
          <p:cNvSpPr/>
          <p:nvPr/>
        </p:nvSpPr>
        <p:spPr>
          <a:xfrm>
            <a:off x="3429000" y="1563624"/>
            <a:ext cx="347400" cy="347400"/>
          </a:xfrm>
          <a:prstGeom prst="ellipse">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dea38c97fa_0_209"/>
          <p:cNvSpPr/>
          <p:nvPr/>
        </p:nvSpPr>
        <p:spPr>
          <a:xfrm>
            <a:off x="3429000" y="1563624"/>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pic>
        <p:nvPicPr>
          <p:cNvPr descr="preencoded.png" id="458" name="Google Shape;458;g3dea38c97fa_0_209"/>
          <p:cNvPicPr preferRelativeResize="0"/>
          <p:nvPr/>
        </p:nvPicPr>
        <p:blipFill rotWithShape="1">
          <a:blip r:embed="rId4">
            <a:alphaModFix/>
          </a:blip>
          <a:srcRect b="0" l="0" r="0" t="0"/>
          <a:stretch/>
        </p:blipFill>
        <p:spPr>
          <a:xfrm>
            <a:off x="5349240" y="1581912"/>
            <a:ext cx="320040" cy="320040"/>
          </a:xfrm>
          <a:prstGeom prst="rect">
            <a:avLst/>
          </a:prstGeom>
          <a:noFill/>
          <a:ln>
            <a:noFill/>
          </a:ln>
        </p:spPr>
      </p:pic>
      <p:sp>
        <p:nvSpPr>
          <p:cNvPr id="459" name="Google Shape;459;g3dea38c97fa_0_209"/>
          <p:cNvSpPr/>
          <p:nvPr/>
        </p:nvSpPr>
        <p:spPr>
          <a:xfrm>
            <a:off x="3429000" y="1984248"/>
            <a:ext cx="2331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E35"/>
              </a:buClr>
              <a:buSzPts val="1200"/>
              <a:buFont typeface="Calibri"/>
              <a:buNone/>
            </a:pPr>
            <a:r>
              <a:rPr b="1" i="0" lang="en-US" u="none" cap="none" strike="noStrike">
                <a:solidFill>
                  <a:srgbClr val="1A2E35"/>
                </a:solidFill>
                <a:latin typeface="Calibri"/>
                <a:ea typeface="Calibri"/>
                <a:cs typeface="Calibri"/>
                <a:sym typeface="Calibri"/>
              </a:rPr>
              <a:t>Iterate, don't restart</a:t>
            </a:r>
            <a:endParaRPr b="0" i="0" u="none" cap="none" strike="noStrike">
              <a:solidFill>
                <a:schemeClr val="dk1"/>
              </a:solidFill>
              <a:latin typeface="Calibri"/>
              <a:ea typeface="Calibri"/>
              <a:cs typeface="Calibri"/>
              <a:sym typeface="Calibri"/>
            </a:endParaRPr>
          </a:p>
        </p:txBody>
      </p:sp>
      <p:sp>
        <p:nvSpPr>
          <p:cNvPr id="460" name="Google Shape;460;g3dea38c97fa_0_209"/>
          <p:cNvSpPr/>
          <p:nvPr/>
        </p:nvSpPr>
        <p:spPr>
          <a:xfrm>
            <a:off x="3429000" y="2690172"/>
            <a:ext cx="2331600" cy="15918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rgbClr val="4A6670"/>
              </a:buClr>
              <a:buSzPts val="950"/>
              <a:buFont typeface="Calibri"/>
              <a:buNone/>
            </a:pPr>
            <a:r>
              <a:rPr b="0" i="0" lang="en-US" sz="1150" u="none" cap="none" strike="noStrike">
                <a:solidFill>
                  <a:srgbClr val="4A6670"/>
                </a:solidFill>
                <a:latin typeface="Calibri"/>
                <a:ea typeface="Calibri"/>
                <a:cs typeface="Calibri"/>
                <a:sym typeface="Calibri"/>
              </a:rPr>
              <a:t>Follow up in the same chat rather than starting over.</a:t>
            </a:r>
            <a:endParaRPr b="0" i="0" sz="1150" u="none" cap="none" strike="noStrike">
              <a:solidFill>
                <a:srgbClr val="4A6670"/>
              </a:solidFill>
              <a:latin typeface="Calibri"/>
              <a:ea typeface="Calibri"/>
              <a:cs typeface="Calibri"/>
              <a:sym typeface="Calibri"/>
            </a:endParaRPr>
          </a:p>
          <a:p>
            <a:pPr indent="0" lvl="0" marL="0" marR="0" rtl="0" algn="l">
              <a:lnSpc>
                <a:spcPct val="140000"/>
              </a:lnSpc>
              <a:spcBef>
                <a:spcPts val="0"/>
              </a:spcBef>
              <a:spcAft>
                <a:spcPts val="0"/>
              </a:spcAft>
              <a:buClr>
                <a:srgbClr val="4A6670"/>
              </a:buClr>
              <a:buSzPts val="950"/>
              <a:buFont typeface="Calibri"/>
              <a:buNone/>
            </a:pPr>
            <a:r>
              <a:t/>
            </a:r>
            <a:endParaRPr sz="1150">
              <a:solidFill>
                <a:srgbClr val="4A6670"/>
              </a:solidFill>
              <a:latin typeface="Calibri"/>
              <a:ea typeface="Calibri"/>
              <a:cs typeface="Calibri"/>
              <a:sym typeface="Calibri"/>
            </a:endParaRPr>
          </a:p>
          <a:p>
            <a:pPr indent="0" lvl="0" marL="0" marR="0" rtl="0" algn="l">
              <a:lnSpc>
                <a:spcPct val="140000"/>
              </a:lnSpc>
              <a:spcBef>
                <a:spcPts val="0"/>
              </a:spcBef>
              <a:spcAft>
                <a:spcPts val="0"/>
              </a:spcAft>
              <a:buClr>
                <a:srgbClr val="4A6670"/>
              </a:buClr>
              <a:buSzPts val="950"/>
              <a:buFont typeface="Calibri"/>
              <a:buNone/>
            </a:pPr>
            <a:r>
              <a:rPr lang="en-US" sz="1150">
                <a:solidFill>
                  <a:srgbClr val="4A6670"/>
                </a:solidFill>
                <a:latin typeface="Calibri"/>
                <a:ea typeface="Calibri"/>
                <a:cs typeface="Calibri"/>
                <a:sym typeface="Calibri"/>
              </a:rPr>
              <a:t>“Make it shorter.”</a:t>
            </a:r>
            <a:endParaRPr sz="1150">
              <a:solidFill>
                <a:srgbClr val="4A6670"/>
              </a:solidFill>
              <a:latin typeface="Calibri"/>
              <a:ea typeface="Calibri"/>
              <a:cs typeface="Calibri"/>
              <a:sym typeface="Calibri"/>
            </a:endParaRPr>
          </a:p>
          <a:p>
            <a:pPr indent="0" lvl="0" marL="0" marR="0" rtl="0" algn="l">
              <a:lnSpc>
                <a:spcPct val="140000"/>
              </a:lnSpc>
              <a:spcBef>
                <a:spcPts val="0"/>
              </a:spcBef>
              <a:spcAft>
                <a:spcPts val="0"/>
              </a:spcAft>
              <a:buClr>
                <a:srgbClr val="4A6670"/>
              </a:buClr>
              <a:buSzPts val="950"/>
              <a:buFont typeface="Calibri"/>
              <a:buNone/>
            </a:pPr>
            <a:r>
              <a:rPr lang="en-US" sz="1150">
                <a:solidFill>
                  <a:srgbClr val="4A6670"/>
                </a:solidFill>
                <a:latin typeface="Calibri"/>
                <a:ea typeface="Calibri"/>
                <a:cs typeface="Calibri"/>
                <a:sym typeface="Calibri"/>
              </a:rPr>
              <a:t>“Use a friendlier tone.”</a:t>
            </a:r>
            <a:endParaRPr sz="1150">
              <a:solidFill>
                <a:srgbClr val="4A6670"/>
              </a:solidFill>
              <a:latin typeface="Calibri"/>
              <a:ea typeface="Calibri"/>
              <a:cs typeface="Calibri"/>
              <a:sym typeface="Calibri"/>
            </a:endParaRPr>
          </a:p>
          <a:p>
            <a:pPr indent="0" lvl="0" marL="0" marR="0" rtl="0" algn="l">
              <a:lnSpc>
                <a:spcPct val="140000"/>
              </a:lnSpc>
              <a:spcBef>
                <a:spcPts val="0"/>
              </a:spcBef>
              <a:spcAft>
                <a:spcPts val="0"/>
              </a:spcAft>
              <a:buClr>
                <a:srgbClr val="4A6670"/>
              </a:buClr>
              <a:buSzPts val="950"/>
              <a:buFont typeface="Calibri"/>
              <a:buNone/>
            </a:pPr>
            <a:r>
              <a:rPr lang="en-US" sz="1150">
                <a:solidFill>
                  <a:srgbClr val="4A6670"/>
                </a:solidFill>
                <a:latin typeface="Calibri"/>
                <a:ea typeface="Calibri"/>
                <a:cs typeface="Calibri"/>
                <a:sym typeface="Calibri"/>
              </a:rPr>
              <a:t>“Add a concrete example.”</a:t>
            </a:r>
            <a:endParaRPr b="0" i="0" sz="1150" u="none" cap="none" strike="noStrike">
              <a:solidFill>
                <a:srgbClr val="4A6670"/>
              </a:solidFill>
              <a:latin typeface="Calibri"/>
              <a:ea typeface="Calibri"/>
              <a:cs typeface="Calibri"/>
              <a:sym typeface="Calibri"/>
            </a:endParaRPr>
          </a:p>
        </p:txBody>
      </p:sp>
      <p:sp>
        <p:nvSpPr>
          <p:cNvPr id="461" name="Google Shape;461;g3dea38c97fa_0_209"/>
          <p:cNvSpPr/>
          <p:nvPr/>
        </p:nvSpPr>
        <p:spPr>
          <a:xfrm>
            <a:off x="3428963" y="3319145"/>
            <a:ext cx="2286000" cy="18300"/>
          </a:xfrm>
          <a:prstGeom prst="rect">
            <a:avLst/>
          </a:prstGeom>
          <a:solidFill>
            <a:srgbClr val="E8E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dea38c97fa_0_209"/>
          <p:cNvSpPr/>
          <p:nvPr/>
        </p:nvSpPr>
        <p:spPr>
          <a:xfrm>
            <a:off x="6126480" y="1417320"/>
            <a:ext cx="2651700" cy="3246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dea38c97fa_0_209"/>
          <p:cNvSpPr/>
          <p:nvPr/>
        </p:nvSpPr>
        <p:spPr>
          <a:xfrm>
            <a:off x="6126480" y="1417320"/>
            <a:ext cx="2651700" cy="54900"/>
          </a:xfrm>
          <a:prstGeom prst="rect">
            <a:avLst/>
          </a:prstGeom>
          <a:solidFill>
            <a:srgbClr val="C88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dea38c97fa_0_209"/>
          <p:cNvSpPr/>
          <p:nvPr/>
        </p:nvSpPr>
        <p:spPr>
          <a:xfrm>
            <a:off x="6309360" y="1563624"/>
            <a:ext cx="347400" cy="347400"/>
          </a:xfrm>
          <a:prstGeom prst="ellipse">
            <a:avLst/>
          </a:prstGeom>
          <a:solidFill>
            <a:srgbClr val="C88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dea38c97fa_0_209"/>
          <p:cNvSpPr/>
          <p:nvPr/>
        </p:nvSpPr>
        <p:spPr>
          <a:xfrm>
            <a:off x="6309360" y="1563624"/>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pic>
        <p:nvPicPr>
          <p:cNvPr descr="preencoded.png" id="466" name="Google Shape;466;g3dea38c97fa_0_209"/>
          <p:cNvPicPr preferRelativeResize="0"/>
          <p:nvPr/>
        </p:nvPicPr>
        <p:blipFill rotWithShape="1">
          <a:blip r:embed="rId5">
            <a:alphaModFix/>
          </a:blip>
          <a:srcRect b="0" l="0" r="0" t="0"/>
          <a:stretch/>
        </p:blipFill>
        <p:spPr>
          <a:xfrm>
            <a:off x="8229600" y="1581912"/>
            <a:ext cx="320040" cy="320040"/>
          </a:xfrm>
          <a:prstGeom prst="rect">
            <a:avLst/>
          </a:prstGeom>
          <a:noFill/>
          <a:ln>
            <a:noFill/>
          </a:ln>
        </p:spPr>
      </p:pic>
      <p:sp>
        <p:nvSpPr>
          <p:cNvPr id="467" name="Google Shape;467;g3dea38c97fa_0_209"/>
          <p:cNvSpPr/>
          <p:nvPr/>
        </p:nvSpPr>
        <p:spPr>
          <a:xfrm>
            <a:off x="6309360" y="1984248"/>
            <a:ext cx="2331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E35"/>
              </a:buClr>
              <a:buSzPts val="1200"/>
              <a:buFont typeface="Calibri"/>
              <a:buNone/>
            </a:pPr>
            <a:r>
              <a:rPr b="1" i="0" lang="en-US" u="none" cap="none" strike="noStrike">
                <a:solidFill>
                  <a:srgbClr val="1A2E35"/>
                </a:solidFill>
                <a:latin typeface="Calibri"/>
                <a:ea typeface="Calibri"/>
                <a:cs typeface="Calibri"/>
                <a:sym typeface="Calibri"/>
              </a:rPr>
              <a:t>You decide what's good</a:t>
            </a:r>
            <a:endParaRPr b="0" i="0" u="none" cap="none" strike="noStrike">
              <a:solidFill>
                <a:schemeClr val="dk1"/>
              </a:solidFill>
              <a:latin typeface="Calibri"/>
              <a:ea typeface="Calibri"/>
              <a:cs typeface="Calibri"/>
              <a:sym typeface="Calibri"/>
            </a:endParaRPr>
          </a:p>
        </p:txBody>
      </p:sp>
      <p:sp>
        <p:nvSpPr>
          <p:cNvPr id="468" name="Google Shape;468;g3dea38c97fa_0_209"/>
          <p:cNvSpPr/>
          <p:nvPr/>
        </p:nvSpPr>
        <p:spPr>
          <a:xfrm>
            <a:off x="6309360" y="2690184"/>
            <a:ext cx="2331600" cy="11886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rgbClr val="4A6670"/>
              </a:buClr>
              <a:buSzPts val="950"/>
              <a:buFont typeface="Calibri"/>
              <a:buNone/>
            </a:pPr>
            <a:r>
              <a:rPr lang="en-US" sz="1150">
                <a:solidFill>
                  <a:srgbClr val="4A6670"/>
                </a:solidFill>
                <a:latin typeface="Calibri"/>
                <a:ea typeface="Calibri"/>
                <a:cs typeface="Calibri"/>
                <a:sym typeface="Calibri"/>
              </a:rPr>
              <a:t>Y</a:t>
            </a:r>
            <a:r>
              <a:rPr b="0" i="0" lang="en-US" sz="1150" u="none" cap="none" strike="noStrike">
                <a:solidFill>
                  <a:srgbClr val="4A6670"/>
                </a:solidFill>
                <a:latin typeface="Calibri"/>
                <a:ea typeface="Calibri"/>
                <a:cs typeface="Calibri"/>
                <a:sym typeface="Calibri"/>
              </a:rPr>
              <a:t>our professional judgment determines what gets used.</a:t>
            </a:r>
            <a:endParaRPr b="0" i="0" sz="1150" u="none" cap="none" strike="noStrike">
              <a:solidFill>
                <a:schemeClr val="dk1"/>
              </a:solidFill>
              <a:latin typeface="Calibri"/>
              <a:ea typeface="Calibri"/>
              <a:cs typeface="Calibri"/>
              <a:sym typeface="Calibri"/>
            </a:endParaRPr>
          </a:p>
        </p:txBody>
      </p:sp>
      <p:sp>
        <p:nvSpPr>
          <p:cNvPr id="469" name="Google Shape;469;g3dea38c97fa_0_209"/>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474" name="Shape 474"/>
        <p:cNvGrpSpPr/>
        <p:nvPr/>
      </p:nvGrpSpPr>
      <p:grpSpPr>
        <a:xfrm>
          <a:off x="0" y="0"/>
          <a:ext cx="0" cy="0"/>
          <a:chOff x="0" y="0"/>
          <a:chExt cx="0" cy="0"/>
        </a:xfrm>
      </p:grpSpPr>
      <p:sp>
        <p:nvSpPr>
          <p:cNvPr id="475" name="Google Shape;475;g3d683ea5a12_1_32"/>
          <p:cNvSpPr/>
          <p:nvPr/>
        </p:nvSpPr>
        <p:spPr>
          <a:xfrm>
            <a:off x="0" y="0"/>
            <a:ext cx="9144000" cy="7773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d683ea5a12_1_32"/>
          <p:cNvSpPr/>
          <p:nvPr/>
        </p:nvSpPr>
        <p:spPr>
          <a:xfrm>
            <a:off x="45720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2000" u="none" cap="none" strike="noStrike">
                <a:solidFill>
                  <a:srgbClr val="FFFFFF"/>
                </a:solidFill>
                <a:latin typeface="Calibri"/>
                <a:ea typeface="Calibri"/>
                <a:cs typeface="Calibri"/>
                <a:sym typeface="Calibri"/>
              </a:rPr>
              <a:t>YOUR TURN </a:t>
            </a:r>
            <a:endParaRPr b="0" i="0" sz="2000" u="none" cap="none" strike="noStrike">
              <a:solidFill>
                <a:schemeClr val="dk1"/>
              </a:solidFill>
              <a:latin typeface="Calibri"/>
              <a:ea typeface="Calibri"/>
              <a:cs typeface="Calibri"/>
              <a:sym typeface="Calibri"/>
            </a:endParaRPr>
          </a:p>
        </p:txBody>
      </p:sp>
      <p:sp>
        <p:nvSpPr>
          <p:cNvPr id="477" name="Google Shape;477;g3d683ea5a12_1_32"/>
          <p:cNvSpPr/>
          <p:nvPr/>
        </p:nvSpPr>
        <p:spPr>
          <a:xfrm>
            <a:off x="457200" y="914400"/>
            <a:ext cx="82296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243A42"/>
                </a:solidFill>
                <a:latin typeface="Calibri"/>
                <a:ea typeface="Calibri"/>
                <a:cs typeface="Calibri"/>
                <a:sym typeface="Calibri"/>
              </a:rPr>
              <a:t>Hands-On Practice</a:t>
            </a:r>
            <a:endParaRPr b="0" i="0" sz="3600" u="none" cap="none" strike="noStrike">
              <a:solidFill>
                <a:srgbClr val="243A42"/>
              </a:solidFill>
              <a:latin typeface="Calibri"/>
              <a:ea typeface="Calibri"/>
              <a:cs typeface="Calibri"/>
              <a:sym typeface="Calibri"/>
            </a:endParaRPr>
          </a:p>
        </p:txBody>
      </p:sp>
      <p:sp>
        <p:nvSpPr>
          <p:cNvPr id="478" name="Google Shape;478;g3d683ea5a12_1_32"/>
          <p:cNvSpPr/>
          <p:nvPr/>
        </p:nvSpPr>
        <p:spPr>
          <a:xfrm>
            <a:off x="457200" y="155448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BDB5"/>
              </a:buClr>
              <a:buSzPts val="1200"/>
              <a:buFont typeface="Calibri"/>
              <a:buNone/>
            </a:pPr>
            <a:r>
              <a:rPr b="0" i="0" lang="en-US" sz="1500" u="none" cap="none" strike="noStrike">
                <a:solidFill>
                  <a:srgbClr val="243A42"/>
                </a:solidFill>
                <a:latin typeface="Calibri"/>
                <a:ea typeface="Calibri"/>
                <a:cs typeface="Calibri"/>
                <a:sym typeface="Calibri"/>
              </a:rPr>
              <a:t>Pick one task below and build something you can actually use in the next 7 days.</a:t>
            </a:r>
            <a:endParaRPr b="0" i="0" sz="1500" u="none" cap="none" strike="noStrike">
              <a:solidFill>
                <a:srgbClr val="243A42"/>
              </a:solidFill>
              <a:latin typeface="Calibri"/>
              <a:ea typeface="Calibri"/>
              <a:cs typeface="Calibri"/>
              <a:sym typeface="Calibri"/>
            </a:endParaRPr>
          </a:p>
        </p:txBody>
      </p:sp>
      <p:sp>
        <p:nvSpPr>
          <p:cNvPr id="479" name="Google Shape;479;g3d683ea5a12_1_32"/>
          <p:cNvSpPr/>
          <p:nvPr/>
        </p:nvSpPr>
        <p:spPr>
          <a:xfrm>
            <a:off x="457200" y="2103120"/>
            <a:ext cx="1920300" cy="173730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3d683ea5a12_1_32"/>
          <p:cNvSpPr/>
          <p:nvPr/>
        </p:nvSpPr>
        <p:spPr>
          <a:xfrm>
            <a:off x="457200" y="2103120"/>
            <a:ext cx="1920300" cy="45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1" name="Google Shape;481;g3d683ea5a12_1_32"/>
          <p:cNvPicPr preferRelativeResize="0"/>
          <p:nvPr/>
        </p:nvPicPr>
        <p:blipFill rotWithShape="1">
          <a:blip r:embed="rId3">
            <a:alphaModFix/>
          </a:blip>
          <a:srcRect b="0" l="0" r="0" t="0"/>
          <a:stretch/>
        </p:blipFill>
        <p:spPr>
          <a:xfrm>
            <a:off x="1124712" y="2240280"/>
            <a:ext cx="594360" cy="594360"/>
          </a:xfrm>
          <a:prstGeom prst="rect">
            <a:avLst/>
          </a:prstGeom>
          <a:noFill/>
          <a:ln>
            <a:noFill/>
          </a:ln>
        </p:spPr>
      </p:pic>
      <p:sp>
        <p:nvSpPr>
          <p:cNvPr id="482" name="Google Shape;482;g3d683ea5a12_1_32"/>
          <p:cNvSpPr/>
          <p:nvPr/>
        </p:nvSpPr>
        <p:spPr>
          <a:xfrm>
            <a:off x="502920" y="2926080"/>
            <a:ext cx="18288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Draft or</a:t>
            </a:r>
            <a:endParaRPr b="0" i="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Polish an Email</a:t>
            </a:r>
            <a:endParaRPr b="0" i="0" u="none" cap="none" strike="noStrike">
              <a:solidFill>
                <a:schemeClr val="dk1"/>
              </a:solidFill>
              <a:latin typeface="Calibri"/>
              <a:ea typeface="Calibri"/>
              <a:cs typeface="Calibri"/>
              <a:sym typeface="Calibri"/>
            </a:endParaRPr>
          </a:p>
        </p:txBody>
      </p:sp>
      <p:sp>
        <p:nvSpPr>
          <p:cNvPr id="483" name="Google Shape;483;g3d683ea5a12_1_32"/>
          <p:cNvSpPr/>
          <p:nvPr/>
        </p:nvSpPr>
        <p:spPr>
          <a:xfrm>
            <a:off x="2560320" y="2103120"/>
            <a:ext cx="1920300" cy="173730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d683ea5a12_1_32"/>
          <p:cNvSpPr/>
          <p:nvPr/>
        </p:nvSpPr>
        <p:spPr>
          <a:xfrm>
            <a:off x="2560320" y="2103120"/>
            <a:ext cx="1920300" cy="45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5" name="Google Shape;485;g3d683ea5a12_1_32"/>
          <p:cNvPicPr preferRelativeResize="0"/>
          <p:nvPr/>
        </p:nvPicPr>
        <p:blipFill rotWithShape="1">
          <a:blip r:embed="rId4">
            <a:alphaModFix/>
          </a:blip>
          <a:srcRect b="0" l="0" r="0" t="0"/>
          <a:stretch/>
        </p:blipFill>
        <p:spPr>
          <a:xfrm>
            <a:off x="3227832" y="2240280"/>
            <a:ext cx="594360" cy="594360"/>
          </a:xfrm>
          <a:prstGeom prst="rect">
            <a:avLst/>
          </a:prstGeom>
          <a:noFill/>
          <a:ln>
            <a:noFill/>
          </a:ln>
        </p:spPr>
      </p:pic>
      <p:sp>
        <p:nvSpPr>
          <p:cNvPr id="486" name="Google Shape;486;g3d683ea5a12_1_32"/>
          <p:cNvSpPr/>
          <p:nvPr/>
        </p:nvSpPr>
        <p:spPr>
          <a:xfrm>
            <a:off x="2606040" y="2926080"/>
            <a:ext cx="18288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Create or </a:t>
            </a:r>
            <a:r>
              <a:rPr b="1" lang="en-US">
                <a:solidFill>
                  <a:srgbClr val="FFFFFF"/>
                </a:solidFill>
                <a:latin typeface="Calibri"/>
                <a:ea typeface="Calibri"/>
                <a:cs typeface="Calibri"/>
                <a:sym typeface="Calibri"/>
              </a:rPr>
              <a:t>Improve </a:t>
            </a:r>
            <a:r>
              <a:rPr b="1" i="0" lang="en-US" u="none" cap="none" strike="noStrike">
                <a:solidFill>
                  <a:srgbClr val="FFFFFF"/>
                </a:solidFill>
                <a:latin typeface="Calibri"/>
                <a:ea typeface="Calibri"/>
                <a:cs typeface="Calibri"/>
                <a:sym typeface="Calibri"/>
              </a:rPr>
              <a:t>a</a:t>
            </a:r>
            <a:endParaRPr b="0" i="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Worksheet or Rubric</a:t>
            </a:r>
            <a:endParaRPr b="0" i="0" u="none" cap="none" strike="noStrike">
              <a:solidFill>
                <a:schemeClr val="dk1"/>
              </a:solidFill>
              <a:latin typeface="Calibri"/>
              <a:ea typeface="Calibri"/>
              <a:cs typeface="Calibri"/>
              <a:sym typeface="Calibri"/>
            </a:endParaRPr>
          </a:p>
        </p:txBody>
      </p:sp>
      <p:sp>
        <p:nvSpPr>
          <p:cNvPr id="487" name="Google Shape;487;g3d683ea5a12_1_32"/>
          <p:cNvSpPr/>
          <p:nvPr/>
        </p:nvSpPr>
        <p:spPr>
          <a:xfrm>
            <a:off x="4663440" y="2103120"/>
            <a:ext cx="1920300" cy="173730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d683ea5a12_1_32"/>
          <p:cNvSpPr/>
          <p:nvPr/>
        </p:nvSpPr>
        <p:spPr>
          <a:xfrm>
            <a:off x="4663440" y="2103120"/>
            <a:ext cx="1920300" cy="45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9" name="Google Shape;489;g3d683ea5a12_1_32"/>
          <p:cNvPicPr preferRelativeResize="0"/>
          <p:nvPr/>
        </p:nvPicPr>
        <p:blipFill rotWithShape="1">
          <a:blip r:embed="rId5">
            <a:alphaModFix/>
          </a:blip>
          <a:srcRect b="0" l="0" r="0" t="0"/>
          <a:stretch/>
        </p:blipFill>
        <p:spPr>
          <a:xfrm>
            <a:off x="5330952" y="2240280"/>
            <a:ext cx="594360" cy="594360"/>
          </a:xfrm>
          <a:prstGeom prst="rect">
            <a:avLst/>
          </a:prstGeom>
          <a:noFill/>
          <a:ln>
            <a:noFill/>
          </a:ln>
        </p:spPr>
      </p:pic>
      <p:sp>
        <p:nvSpPr>
          <p:cNvPr id="490" name="Google Shape;490;g3d683ea5a12_1_32"/>
          <p:cNvSpPr/>
          <p:nvPr/>
        </p:nvSpPr>
        <p:spPr>
          <a:xfrm>
            <a:off x="4709160" y="2926080"/>
            <a:ext cx="18288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Write</a:t>
            </a:r>
            <a:endParaRPr b="0" i="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Student Feedback</a:t>
            </a:r>
            <a:endParaRPr b="0" i="0" u="none" cap="none" strike="noStrike">
              <a:solidFill>
                <a:schemeClr val="dk1"/>
              </a:solidFill>
              <a:latin typeface="Calibri"/>
              <a:ea typeface="Calibri"/>
              <a:cs typeface="Calibri"/>
              <a:sym typeface="Calibri"/>
            </a:endParaRPr>
          </a:p>
        </p:txBody>
      </p:sp>
      <p:sp>
        <p:nvSpPr>
          <p:cNvPr id="491" name="Google Shape;491;g3d683ea5a12_1_32"/>
          <p:cNvSpPr/>
          <p:nvPr/>
        </p:nvSpPr>
        <p:spPr>
          <a:xfrm>
            <a:off x="6766560" y="2103120"/>
            <a:ext cx="1920300" cy="173730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g3d683ea5a12_1_32"/>
          <p:cNvSpPr/>
          <p:nvPr/>
        </p:nvSpPr>
        <p:spPr>
          <a:xfrm>
            <a:off x="6766560" y="2103120"/>
            <a:ext cx="1920300" cy="45600"/>
          </a:xfrm>
          <a:prstGeom prst="rect">
            <a:avLst/>
          </a:prstGeom>
          <a:solidFill>
            <a:srgbClr val="0D7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3" name="Google Shape;493;g3d683ea5a12_1_32"/>
          <p:cNvPicPr preferRelativeResize="0"/>
          <p:nvPr/>
        </p:nvPicPr>
        <p:blipFill rotWithShape="1">
          <a:blip r:embed="rId6">
            <a:alphaModFix/>
          </a:blip>
          <a:srcRect b="0" l="0" r="0" t="0"/>
          <a:stretch/>
        </p:blipFill>
        <p:spPr>
          <a:xfrm>
            <a:off x="7434072" y="2240280"/>
            <a:ext cx="594360" cy="594360"/>
          </a:xfrm>
          <a:prstGeom prst="rect">
            <a:avLst/>
          </a:prstGeom>
          <a:noFill/>
          <a:ln>
            <a:noFill/>
          </a:ln>
        </p:spPr>
      </p:pic>
      <p:sp>
        <p:nvSpPr>
          <p:cNvPr id="494" name="Google Shape;494;g3d683ea5a12_1_32"/>
          <p:cNvSpPr/>
          <p:nvPr/>
        </p:nvSpPr>
        <p:spPr>
          <a:xfrm>
            <a:off x="6812280" y="2926080"/>
            <a:ext cx="18288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Try Your</a:t>
            </a:r>
            <a:endParaRPr b="0" i="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u="none" cap="none" strike="noStrike">
                <a:solidFill>
                  <a:srgbClr val="FFFFFF"/>
                </a:solidFill>
                <a:latin typeface="Calibri"/>
                <a:ea typeface="Calibri"/>
                <a:cs typeface="Calibri"/>
                <a:sym typeface="Calibri"/>
              </a:rPr>
              <a:t>Own Task</a:t>
            </a:r>
            <a:endParaRPr b="0" i="0" u="none" cap="none" strike="noStrike">
              <a:solidFill>
                <a:schemeClr val="dk1"/>
              </a:solidFill>
              <a:latin typeface="Calibri"/>
              <a:ea typeface="Calibri"/>
              <a:cs typeface="Calibri"/>
              <a:sym typeface="Calibri"/>
            </a:endParaRPr>
          </a:p>
        </p:txBody>
      </p:sp>
      <p:sp>
        <p:nvSpPr>
          <p:cNvPr id="495" name="Google Shape;495;g3d683ea5a12_1_32"/>
          <p:cNvSpPr/>
          <p:nvPr/>
        </p:nvSpPr>
        <p:spPr>
          <a:xfrm>
            <a:off x="457200" y="4023360"/>
            <a:ext cx="8229600" cy="822900"/>
          </a:xfrm>
          <a:prstGeom prst="rect">
            <a:avLst/>
          </a:prstGeom>
          <a:solidFill>
            <a:srgbClr val="24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d683ea5a12_1_32"/>
          <p:cNvSpPr/>
          <p:nvPr/>
        </p:nvSpPr>
        <p:spPr>
          <a:xfrm>
            <a:off x="457200" y="4023360"/>
            <a:ext cx="45600" cy="822900"/>
          </a:xfrm>
          <a:prstGeom prst="rect">
            <a:avLst/>
          </a:prstGeom>
          <a:solidFill>
            <a:srgbClr val="E05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d683ea5a12_1_32"/>
          <p:cNvSpPr/>
          <p:nvPr/>
        </p:nvSpPr>
        <p:spPr>
          <a:xfrm>
            <a:off x="640080" y="4096512"/>
            <a:ext cx="2926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300">
                <a:solidFill>
                  <a:srgbClr val="E05C3A"/>
                </a:solidFill>
                <a:latin typeface="Calibri"/>
                <a:ea typeface="Calibri"/>
                <a:cs typeface="Calibri"/>
                <a:sym typeface="Calibri"/>
              </a:rPr>
              <a:t>Prepare to Share:</a:t>
            </a:r>
            <a:endParaRPr b="0" i="0" sz="1300" u="none" cap="none" strike="noStrike">
              <a:solidFill>
                <a:schemeClr val="dk1"/>
              </a:solidFill>
              <a:latin typeface="Calibri"/>
              <a:ea typeface="Calibri"/>
              <a:cs typeface="Calibri"/>
              <a:sym typeface="Calibri"/>
            </a:endParaRPr>
          </a:p>
        </p:txBody>
      </p:sp>
      <p:sp>
        <p:nvSpPr>
          <p:cNvPr id="498" name="Google Shape;498;g3d683ea5a12_1_32"/>
          <p:cNvSpPr/>
          <p:nvPr/>
        </p:nvSpPr>
        <p:spPr>
          <a:xfrm>
            <a:off x="640080" y="4407408"/>
            <a:ext cx="7863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BDB5"/>
              </a:buClr>
              <a:buSzPts val="1000"/>
              <a:buFont typeface="Calibri"/>
              <a:buNone/>
            </a:pPr>
            <a:r>
              <a:rPr b="0" i="0" lang="en-US" sz="1300" u="none" cap="none" strike="noStrike">
                <a:solidFill>
                  <a:srgbClr val="8ABDB5"/>
                </a:solidFill>
                <a:latin typeface="Calibri"/>
                <a:ea typeface="Calibri"/>
                <a:cs typeface="Calibri"/>
                <a:sym typeface="Calibri"/>
              </a:rPr>
              <a:t>What did you make?   ·   What still needs your judgment?   ·   Would you use this next week?</a:t>
            </a:r>
            <a:endParaRPr b="0" i="0" sz="1300" u="none" cap="none" strike="noStrike">
              <a:solidFill>
                <a:schemeClr val="dk1"/>
              </a:solidFill>
              <a:latin typeface="Calibri"/>
              <a:ea typeface="Calibri"/>
              <a:cs typeface="Calibri"/>
              <a:sym typeface="Calibri"/>
            </a:endParaRPr>
          </a:p>
        </p:txBody>
      </p:sp>
      <p:sp>
        <p:nvSpPr>
          <p:cNvPr id="499" name="Google Shape;499;g3d683ea5a12_1_32"/>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0"/>
        </a:solidFill>
      </p:bgPr>
    </p:bg>
    <p:spTree>
      <p:nvGrpSpPr>
        <p:cNvPr id="504" name="Shape 504"/>
        <p:cNvGrpSpPr/>
        <p:nvPr/>
      </p:nvGrpSpPr>
      <p:grpSpPr>
        <a:xfrm>
          <a:off x="0" y="0"/>
          <a:ext cx="0" cy="0"/>
          <a:chOff x="0" y="0"/>
          <a:chExt cx="0" cy="0"/>
        </a:xfrm>
      </p:grpSpPr>
      <p:sp>
        <p:nvSpPr>
          <p:cNvPr id="505" name="Google Shape;505;g3d683ea5a12_1_95"/>
          <p:cNvSpPr/>
          <p:nvPr/>
        </p:nvSpPr>
        <p:spPr>
          <a:xfrm>
            <a:off x="0" y="0"/>
            <a:ext cx="9144000" cy="777300"/>
          </a:xfrm>
          <a:prstGeom prst="rect">
            <a:avLst/>
          </a:prstGeom>
          <a:solidFill>
            <a:srgbClr val="1A2E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g3d683ea5a12_1_95"/>
          <p:cNvSpPr/>
          <p:nvPr/>
        </p:nvSpPr>
        <p:spPr>
          <a:xfrm>
            <a:off x="45720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libri"/>
                <a:ea typeface="Calibri"/>
                <a:cs typeface="Calibri"/>
                <a:sym typeface="Calibri"/>
              </a:rPr>
              <a:t>NEXT STEPS</a:t>
            </a:r>
            <a:endParaRPr/>
          </a:p>
        </p:txBody>
      </p:sp>
      <p:sp>
        <p:nvSpPr>
          <p:cNvPr id="507" name="Google Shape;507;g3d683ea5a12_1_95"/>
          <p:cNvSpPr/>
          <p:nvPr/>
        </p:nvSpPr>
        <p:spPr>
          <a:xfrm>
            <a:off x="320065" y="1167800"/>
            <a:ext cx="4161900" cy="1680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g3d683ea5a12_1_95"/>
          <p:cNvSpPr/>
          <p:nvPr/>
        </p:nvSpPr>
        <p:spPr>
          <a:xfrm>
            <a:off x="320065" y="1167800"/>
            <a:ext cx="164700" cy="1680000"/>
          </a:xfrm>
          <a:prstGeom prst="rect">
            <a:avLst/>
          </a:prstGeom>
          <a:solidFill>
            <a:srgbClr val="0D7A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g3d683ea5a12_1_95"/>
          <p:cNvSpPr/>
          <p:nvPr/>
        </p:nvSpPr>
        <p:spPr>
          <a:xfrm>
            <a:off x="576100" y="1257800"/>
            <a:ext cx="3697500" cy="380100"/>
          </a:xfrm>
          <a:prstGeom prst="rect">
            <a:avLst/>
          </a:prstGeom>
          <a:solidFill>
            <a:srgbClr val="0D7A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g3d683ea5a12_1_95"/>
          <p:cNvSpPr/>
          <p:nvPr/>
        </p:nvSpPr>
        <p:spPr>
          <a:xfrm>
            <a:off x="4662025" y="1167800"/>
            <a:ext cx="4161900" cy="1680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g3d683ea5a12_1_95"/>
          <p:cNvSpPr/>
          <p:nvPr/>
        </p:nvSpPr>
        <p:spPr>
          <a:xfrm>
            <a:off x="4662025" y="1167800"/>
            <a:ext cx="164700" cy="1680000"/>
          </a:xfrm>
          <a:prstGeom prst="rect">
            <a:avLst/>
          </a:prstGeom>
          <a:solidFill>
            <a:srgbClr val="4A66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g3d683ea5a12_1_95"/>
          <p:cNvSpPr/>
          <p:nvPr/>
        </p:nvSpPr>
        <p:spPr>
          <a:xfrm>
            <a:off x="4918050" y="1257800"/>
            <a:ext cx="3697500" cy="380100"/>
          </a:xfrm>
          <a:prstGeom prst="rect">
            <a:avLst/>
          </a:prstGeom>
          <a:solidFill>
            <a:srgbClr val="4A66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g3d683ea5a12_1_95"/>
          <p:cNvSpPr/>
          <p:nvPr/>
        </p:nvSpPr>
        <p:spPr>
          <a:xfrm>
            <a:off x="320065" y="3007800"/>
            <a:ext cx="4161900" cy="1680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g3d683ea5a12_1_95"/>
          <p:cNvSpPr/>
          <p:nvPr/>
        </p:nvSpPr>
        <p:spPr>
          <a:xfrm>
            <a:off x="320065" y="3007800"/>
            <a:ext cx="164700" cy="1680000"/>
          </a:xfrm>
          <a:prstGeom prst="rect">
            <a:avLst/>
          </a:prstGeom>
          <a:solidFill>
            <a:srgbClr val="E05B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g3d683ea5a12_1_95"/>
          <p:cNvSpPr/>
          <p:nvPr/>
        </p:nvSpPr>
        <p:spPr>
          <a:xfrm>
            <a:off x="576100" y="3097800"/>
            <a:ext cx="3697500" cy="380100"/>
          </a:xfrm>
          <a:prstGeom prst="rect">
            <a:avLst/>
          </a:prstGeom>
          <a:solidFill>
            <a:srgbClr val="E05B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g3d683ea5a12_1_95"/>
          <p:cNvSpPr/>
          <p:nvPr/>
        </p:nvSpPr>
        <p:spPr>
          <a:xfrm>
            <a:off x="4662025" y="3007800"/>
            <a:ext cx="4161900" cy="1680000"/>
          </a:xfrm>
          <a:prstGeom prst="rect">
            <a:avLst/>
          </a:prstGeom>
          <a:solidFill>
            <a:srgbClr val="FFFFFF"/>
          </a:solidFill>
          <a:ln>
            <a:noFill/>
          </a:ln>
          <a:effectLst>
            <a:outerShdw blurRad="1016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g3d683ea5a12_1_95"/>
          <p:cNvSpPr/>
          <p:nvPr/>
        </p:nvSpPr>
        <p:spPr>
          <a:xfrm>
            <a:off x="4662025" y="3007800"/>
            <a:ext cx="164700" cy="1680000"/>
          </a:xfrm>
          <a:prstGeom prst="rect">
            <a:avLst/>
          </a:prstGeom>
          <a:solidFill>
            <a:srgbClr val="0D7A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g3d683ea5a12_1_95"/>
          <p:cNvSpPr/>
          <p:nvPr/>
        </p:nvSpPr>
        <p:spPr>
          <a:xfrm>
            <a:off x="4918050" y="3097800"/>
            <a:ext cx="3697500" cy="380100"/>
          </a:xfrm>
          <a:prstGeom prst="rect">
            <a:avLst/>
          </a:prstGeom>
          <a:solidFill>
            <a:srgbClr val="0D7A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g3d683ea5a12_1_95"/>
          <p:cNvSpPr/>
          <p:nvPr/>
        </p:nvSpPr>
        <p:spPr>
          <a:xfrm>
            <a:off x="576107" y="1262900"/>
            <a:ext cx="3816000" cy="3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700" u="none" cap="none" strike="noStrike">
                <a:solidFill>
                  <a:schemeClr val="lt1"/>
                </a:solidFill>
                <a:latin typeface="Calibri"/>
                <a:ea typeface="Calibri"/>
                <a:cs typeface="Calibri"/>
                <a:sym typeface="Calibri"/>
              </a:rPr>
              <a:t>Keep Exploring on Your Own</a:t>
            </a:r>
            <a:endParaRPr sz="1800">
              <a:solidFill>
                <a:schemeClr val="lt1"/>
              </a:solidFill>
            </a:endParaRPr>
          </a:p>
        </p:txBody>
      </p:sp>
      <p:sp>
        <p:nvSpPr>
          <p:cNvPr id="520" name="Google Shape;520;g3d683ea5a12_1_95"/>
          <p:cNvSpPr/>
          <p:nvPr/>
        </p:nvSpPr>
        <p:spPr>
          <a:xfrm>
            <a:off x="512607" y="1748525"/>
            <a:ext cx="3816000" cy="2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100" u="none" cap="none" strike="noStrike">
                <a:solidFill>
                  <a:srgbClr val="4A6670"/>
                </a:solidFill>
                <a:latin typeface="Calibri"/>
                <a:ea typeface="Calibri"/>
                <a:cs typeface="Calibri"/>
                <a:sym typeface="Calibri"/>
              </a:rPr>
              <a:t>ChatGPT / Claude / Gemini / NotebookLM</a:t>
            </a:r>
            <a:endParaRPr b="1" sz="1600"/>
          </a:p>
        </p:txBody>
      </p:sp>
      <p:sp>
        <p:nvSpPr>
          <p:cNvPr id="521" name="Google Shape;521;g3d683ea5a12_1_95"/>
          <p:cNvSpPr/>
          <p:nvPr/>
        </p:nvSpPr>
        <p:spPr>
          <a:xfrm>
            <a:off x="512607" y="1978525"/>
            <a:ext cx="3816000" cy="6600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900"/>
              <a:buFont typeface="Arial"/>
              <a:buNone/>
            </a:pPr>
            <a:r>
              <a:rPr b="0" i="0" lang="en-US" sz="1100" u="none" cap="none" strike="noStrike">
                <a:solidFill>
                  <a:srgbClr val="1A2E35"/>
                </a:solidFill>
                <a:latin typeface="Calibri"/>
                <a:ea typeface="Calibri"/>
                <a:cs typeface="Calibri"/>
                <a:sym typeface="Calibri"/>
              </a:rPr>
              <a:t>Pick one tool and try it for two weeks</a:t>
            </a:r>
            <a:r>
              <a:rPr lang="en-US" sz="1100">
                <a:solidFill>
                  <a:srgbClr val="1A2E35"/>
                </a:solidFill>
                <a:latin typeface="Calibri"/>
                <a:ea typeface="Calibri"/>
                <a:cs typeface="Calibri"/>
                <a:sym typeface="Calibri"/>
              </a:rPr>
              <a:t>.</a:t>
            </a:r>
            <a:r>
              <a:rPr b="0" i="0" lang="en-US" sz="1100" u="none" cap="none" strike="noStrike">
                <a:solidFill>
                  <a:srgbClr val="1A2E35"/>
                </a:solidFill>
                <a:latin typeface="Calibri"/>
                <a:ea typeface="Calibri"/>
                <a:cs typeface="Calibri"/>
                <a:sym typeface="Calibri"/>
              </a:rPr>
              <a:t> </a:t>
            </a:r>
            <a:r>
              <a:rPr lang="en-US" sz="1100">
                <a:solidFill>
                  <a:srgbClr val="1A2E35"/>
                </a:solidFill>
                <a:latin typeface="Calibri"/>
                <a:ea typeface="Calibri"/>
                <a:cs typeface="Calibri"/>
                <a:sym typeface="Calibri"/>
              </a:rPr>
              <a:t>F</a:t>
            </a:r>
            <a:r>
              <a:rPr b="0" i="0" lang="en-US" sz="1100" u="none" cap="none" strike="noStrike">
                <a:solidFill>
                  <a:srgbClr val="1A2E35"/>
                </a:solidFill>
                <a:latin typeface="Calibri"/>
                <a:ea typeface="Calibri"/>
                <a:cs typeface="Calibri"/>
                <a:sym typeface="Calibri"/>
              </a:rPr>
              <a:t>ree tiers handle most tasks.</a:t>
            </a:r>
            <a:r>
              <a:rPr lang="en-US" sz="1100">
                <a:solidFill>
                  <a:srgbClr val="1A2E35"/>
                </a:solidFill>
                <a:latin typeface="Calibri"/>
                <a:ea typeface="Calibri"/>
                <a:cs typeface="Calibri"/>
                <a:sym typeface="Calibri"/>
              </a:rPr>
              <a:t> </a:t>
            </a:r>
            <a:r>
              <a:rPr b="0" i="0" lang="en-US" sz="1100" u="none" cap="none" strike="noStrike">
                <a:solidFill>
                  <a:srgbClr val="1A2E35"/>
                </a:solidFill>
                <a:latin typeface="Calibri"/>
                <a:ea typeface="Calibri"/>
                <a:cs typeface="Calibri"/>
                <a:sym typeface="Calibri"/>
              </a:rPr>
              <a:t>Also: earn a free Google certificate.</a:t>
            </a:r>
            <a:endParaRPr sz="1600"/>
          </a:p>
        </p:txBody>
      </p:sp>
      <p:sp>
        <p:nvSpPr>
          <p:cNvPr id="522" name="Google Shape;522;g3d683ea5a12_1_95"/>
          <p:cNvSpPr/>
          <p:nvPr/>
        </p:nvSpPr>
        <p:spPr>
          <a:xfrm>
            <a:off x="4918047" y="1262900"/>
            <a:ext cx="3816000" cy="3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700" u="none" cap="none" strike="noStrike">
                <a:solidFill>
                  <a:schemeClr val="lt1"/>
                </a:solidFill>
                <a:latin typeface="Calibri"/>
                <a:ea typeface="Calibri"/>
                <a:cs typeface="Calibri"/>
                <a:sym typeface="Calibri"/>
              </a:rPr>
              <a:t>AI Gets Better with Practice</a:t>
            </a:r>
            <a:endParaRPr sz="1800">
              <a:solidFill>
                <a:schemeClr val="lt1"/>
              </a:solidFill>
            </a:endParaRPr>
          </a:p>
        </p:txBody>
      </p:sp>
      <p:sp>
        <p:nvSpPr>
          <p:cNvPr id="523" name="Google Shape;523;g3d683ea5a12_1_95"/>
          <p:cNvSpPr/>
          <p:nvPr/>
        </p:nvSpPr>
        <p:spPr>
          <a:xfrm>
            <a:off x="4858797" y="1689525"/>
            <a:ext cx="3816000" cy="8799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900"/>
              <a:buFont typeface="Arial"/>
              <a:buNone/>
            </a:pPr>
            <a:r>
              <a:rPr b="0" i="0" lang="en-US" sz="1100" u="none" cap="none" strike="noStrike">
                <a:solidFill>
                  <a:srgbClr val="1A2E35"/>
                </a:solidFill>
                <a:latin typeface="Calibri"/>
                <a:ea typeface="Calibri"/>
                <a:cs typeface="Calibri"/>
                <a:sym typeface="Calibri"/>
              </a:rPr>
              <a:t>Using AI is a skill</a:t>
            </a:r>
            <a:r>
              <a:rPr lang="en-US" sz="1100">
                <a:solidFill>
                  <a:srgbClr val="1A2E35"/>
                </a:solidFill>
                <a:latin typeface="Calibri"/>
                <a:ea typeface="Calibri"/>
                <a:cs typeface="Calibri"/>
                <a:sym typeface="Calibri"/>
              </a:rPr>
              <a:t>. L</a:t>
            </a:r>
            <a:r>
              <a:rPr b="0" i="0" lang="en-US" sz="1100" u="none" cap="none" strike="noStrike">
                <a:solidFill>
                  <a:srgbClr val="1A2E35"/>
                </a:solidFill>
                <a:latin typeface="Calibri"/>
                <a:ea typeface="Calibri"/>
                <a:cs typeface="Calibri"/>
                <a:sym typeface="Calibri"/>
              </a:rPr>
              <a:t>ike any skill, you get better by doing it. The more you practice, the sharper your prompts, the faster you iterate, and the better your judgment gets. Experiment freely. You won’t break anything.</a:t>
            </a:r>
            <a:endParaRPr sz="1600"/>
          </a:p>
        </p:txBody>
      </p:sp>
      <p:sp>
        <p:nvSpPr>
          <p:cNvPr id="524" name="Google Shape;524;g3d683ea5a12_1_95"/>
          <p:cNvSpPr/>
          <p:nvPr/>
        </p:nvSpPr>
        <p:spPr>
          <a:xfrm>
            <a:off x="576107" y="3102900"/>
            <a:ext cx="3816000" cy="3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700" u="none" cap="none" strike="noStrike">
                <a:solidFill>
                  <a:schemeClr val="lt1"/>
                </a:solidFill>
                <a:latin typeface="Calibri"/>
                <a:ea typeface="Calibri"/>
                <a:cs typeface="Calibri"/>
                <a:sym typeface="Calibri"/>
              </a:rPr>
              <a:t>Shared Resource Folder</a:t>
            </a:r>
            <a:endParaRPr sz="1800">
              <a:solidFill>
                <a:schemeClr val="lt1"/>
              </a:solidFill>
            </a:endParaRPr>
          </a:p>
        </p:txBody>
      </p:sp>
      <p:sp>
        <p:nvSpPr>
          <p:cNvPr id="525" name="Google Shape;525;g3d683ea5a12_1_95"/>
          <p:cNvSpPr/>
          <p:nvPr/>
        </p:nvSpPr>
        <p:spPr>
          <a:xfrm>
            <a:off x="493032" y="3549150"/>
            <a:ext cx="3816000" cy="6600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900"/>
              <a:buFont typeface="Arial"/>
              <a:buNone/>
            </a:pPr>
            <a:r>
              <a:rPr b="0" i="0" lang="en-US" sz="1100" u="none" cap="none" strike="noStrike">
                <a:solidFill>
                  <a:srgbClr val="1A2E35"/>
                </a:solidFill>
                <a:latin typeface="Calibri"/>
                <a:ea typeface="Calibri"/>
                <a:cs typeface="Calibri"/>
                <a:sym typeface="Calibri"/>
              </a:rPr>
              <a:t>Everything from today</a:t>
            </a:r>
            <a:r>
              <a:rPr lang="en-US" sz="1100">
                <a:solidFill>
                  <a:srgbClr val="1A2E35"/>
                </a:solidFill>
                <a:latin typeface="Calibri"/>
                <a:ea typeface="Calibri"/>
                <a:cs typeface="Calibri"/>
                <a:sym typeface="Calibri"/>
              </a:rPr>
              <a:t> including</a:t>
            </a:r>
            <a:r>
              <a:rPr b="0" i="0" lang="en-US" sz="1100" u="none" cap="none" strike="noStrike">
                <a:solidFill>
                  <a:srgbClr val="1A2E35"/>
                </a:solidFill>
                <a:latin typeface="Calibri"/>
                <a:ea typeface="Calibri"/>
                <a:cs typeface="Calibri"/>
                <a:sym typeface="Calibri"/>
              </a:rPr>
              <a:t> slides, prompt examples, and </a:t>
            </a:r>
            <a:r>
              <a:rPr lang="en-US" sz="1100">
                <a:solidFill>
                  <a:srgbClr val="1A2E35"/>
                </a:solidFill>
                <a:latin typeface="Calibri"/>
                <a:ea typeface="Calibri"/>
                <a:cs typeface="Calibri"/>
                <a:sym typeface="Calibri"/>
              </a:rPr>
              <a:t>more</a:t>
            </a:r>
            <a:r>
              <a:rPr b="0" i="0" lang="en-US" sz="1100" u="none" cap="none" strike="noStrike">
                <a:solidFill>
                  <a:srgbClr val="1A2E35"/>
                </a:solidFill>
                <a:latin typeface="Calibri"/>
                <a:ea typeface="Calibri"/>
                <a:cs typeface="Calibri"/>
                <a:sym typeface="Calibri"/>
              </a:rPr>
              <a:t> </a:t>
            </a:r>
            <a:r>
              <a:rPr lang="en-US" sz="1100">
                <a:solidFill>
                  <a:srgbClr val="1A2E35"/>
                </a:solidFill>
                <a:latin typeface="Calibri"/>
                <a:ea typeface="Calibri"/>
                <a:cs typeface="Calibri"/>
                <a:sym typeface="Calibri"/>
              </a:rPr>
              <a:t>can be found</a:t>
            </a:r>
            <a:r>
              <a:rPr b="0" i="0" lang="en-US" sz="1100" u="none" cap="none" strike="noStrike">
                <a:solidFill>
                  <a:srgbClr val="1A2E35"/>
                </a:solidFill>
                <a:latin typeface="Calibri"/>
                <a:ea typeface="Calibri"/>
                <a:cs typeface="Calibri"/>
                <a:sym typeface="Calibri"/>
              </a:rPr>
              <a:t> in the shared folder. Bookmark it and revisit when you need fresh ideas or want to go deeper.</a:t>
            </a:r>
            <a:endParaRPr sz="1600"/>
          </a:p>
        </p:txBody>
      </p:sp>
      <p:sp>
        <p:nvSpPr>
          <p:cNvPr id="526" name="Google Shape;526;g3d683ea5a12_1_95"/>
          <p:cNvSpPr/>
          <p:nvPr/>
        </p:nvSpPr>
        <p:spPr>
          <a:xfrm>
            <a:off x="4918047" y="3102900"/>
            <a:ext cx="3816000" cy="3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700" u="none" cap="none" strike="noStrike">
                <a:solidFill>
                  <a:schemeClr val="lt1"/>
                </a:solidFill>
                <a:latin typeface="Calibri"/>
                <a:ea typeface="Calibri"/>
                <a:cs typeface="Calibri"/>
                <a:sym typeface="Calibri"/>
              </a:rPr>
              <a:t>Talking AI with Students</a:t>
            </a:r>
            <a:endParaRPr sz="1800">
              <a:solidFill>
                <a:schemeClr val="lt1"/>
              </a:solidFill>
            </a:endParaRPr>
          </a:p>
        </p:txBody>
      </p:sp>
      <p:sp>
        <p:nvSpPr>
          <p:cNvPr id="527" name="Google Shape;527;g3d683ea5a12_1_95"/>
          <p:cNvSpPr/>
          <p:nvPr/>
        </p:nvSpPr>
        <p:spPr>
          <a:xfrm>
            <a:off x="4858800" y="3516825"/>
            <a:ext cx="3816000" cy="11709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900"/>
              <a:buFont typeface="Arial"/>
              <a:buNone/>
            </a:pPr>
            <a:r>
              <a:rPr b="0" i="0" lang="en-US" sz="1100" u="none" cap="none" strike="noStrike">
                <a:solidFill>
                  <a:srgbClr val="1A2E35"/>
                </a:solidFill>
                <a:latin typeface="Calibri"/>
                <a:ea typeface="Calibri"/>
                <a:cs typeface="Calibri"/>
                <a:sym typeface="Calibri"/>
              </a:rPr>
              <a:t>Not sure how to start the AI conversation with students? Simply model your own journeys with </a:t>
            </a:r>
            <a:r>
              <a:rPr lang="en-US" sz="1100">
                <a:solidFill>
                  <a:srgbClr val="1A2E35"/>
                </a:solidFill>
                <a:latin typeface="Calibri"/>
                <a:ea typeface="Calibri"/>
                <a:cs typeface="Calibri"/>
                <a:sym typeface="Calibri"/>
              </a:rPr>
              <a:t>transparent </a:t>
            </a:r>
            <a:r>
              <a:rPr lang="en-US" sz="1100">
                <a:solidFill>
                  <a:srgbClr val="1A2E35"/>
                </a:solidFill>
                <a:latin typeface="Calibri"/>
                <a:ea typeface="Calibri"/>
                <a:cs typeface="Calibri"/>
                <a:sym typeface="Calibri"/>
              </a:rPr>
              <a:t>and</a:t>
            </a:r>
            <a:r>
              <a:rPr lang="en-US" sz="1100">
                <a:solidFill>
                  <a:srgbClr val="1A2E35"/>
                </a:solidFill>
                <a:latin typeface="Calibri"/>
                <a:ea typeface="Calibri"/>
                <a:cs typeface="Calibri"/>
                <a:sym typeface="Calibri"/>
              </a:rPr>
              <a:t> honest dialog.  </a:t>
            </a:r>
            <a:r>
              <a:rPr b="0" i="0" lang="en-US" sz="1100" u="none" cap="none" strike="noStrike">
                <a:solidFill>
                  <a:srgbClr val="1A2E35"/>
                </a:solidFill>
                <a:latin typeface="Calibri"/>
                <a:ea typeface="Calibri"/>
                <a:cs typeface="Calibri"/>
                <a:sym typeface="Calibri"/>
              </a:rPr>
              <a:t>Michael has </a:t>
            </a:r>
            <a:r>
              <a:rPr lang="en-US" sz="1100">
                <a:solidFill>
                  <a:srgbClr val="1A2E35"/>
                </a:solidFill>
                <a:latin typeface="Calibri"/>
                <a:ea typeface="Calibri"/>
                <a:cs typeface="Calibri"/>
                <a:sym typeface="Calibri"/>
              </a:rPr>
              <a:t>developed</a:t>
            </a:r>
            <a:r>
              <a:rPr b="0" i="0" lang="en-US" sz="1100" u="none" cap="none" strike="noStrike">
                <a:solidFill>
                  <a:srgbClr val="1A2E35"/>
                </a:solidFill>
                <a:latin typeface="Calibri"/>
                <a:ea typeface="Calibri"/>
                <a:cs typeface="Calibri"/>
                <a:sym typeface="Calibri"/>
              </a:rPr>
              <a:t> advisory lessons </a:t>
            </a:r>
            <a:r>
              <a:rPr lang="en-US" sz="1100">
                <a:solidFill>
                  <a:srgbClr val="1A2E35"/>
                </a:solidFill>
                <a:latin typeface="Calibri"/>
                <a:ea typeface="Calibri"/>
                <a:cs typeface="Calibri"/>
                <a:sym typeface="Calibri"/>
              </a:rPr>
              <a:t>around AI Literacy, Bias &amp; Misinformation, Academic Integrity, and Privacy &amp; Responsible Use.</a:t>
            </a:r>
            <a:endParaRPr sz="1600"/>
          </a:p>
        </p:txBody>
      </p:sp>
      <p:sp>
        <p:nvSpPr>
          <p:cNvPr id="528" name="Google Shape;528;g3d683ea5a12_1_95"/>
          <p:cNvSpPr txBox="1"/>
          <p:nvPr>
            <p:ph idx="12" type="sldNum"/>
          </p:nvPr>
        </p:nvSpPr>
        <p:spPr>
          <a:xfrm>
            <a:off x="8321021" y="164601"/>
            <a:ext cx="548700" cy="39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b="1" lang="en-US"/>
              <a:t>‹#›</a:t>
            </a:fld>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2026-04-10T04:37:25Z</dcterms:created>
  <dc:creator>PptxGenJS</dc:creator>
</cp:coreProperties>
</file>